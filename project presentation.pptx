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fntdata" ContentType="application/x-fontdata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3b5856b1b44d55" /><Relationship Type="http://schemas.openxmlformats.org/officeDocument/2006/relationships/extended-properties" Target="/docProps/app.xml" Id="R8676476132d84dec" /><Relationship Type="http://schemas.openxmlformats.org/officeDocument/2006/relationships/officeDocument" Target="/ppt/presentation.xml" Id="Rb4fb06f52ee3472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f9d6ad9303e41c2"/>
  </p:sldMasterIdLst>
  <p:notesMasterIdLst>
    <p:notesMasterId xmlns:r="http://schemas.openxmlformats.org/officeDocument/2006/relationships" r:id="R2c2c35ebea684f88"/>
  </p:notesMasterIdLst>
  <p:sldIdLst>
    <p:sldId xmlns:r="http://schemas.openxmlformats.org/officeDocument/2006/relationships" id="256" r:id="R0cf1463fad7b474f"/>
    <p:sldId xmlns:r="http://schemas.openxmlformats.org/officeDocument/2006/relationships" id="257" r:id="Rdcce33bf30374c61"/>
    <p:sldId xmlns:r="http://schemas.openxmlformats.org/officeDocument/2006/relationships" id="258" r:id="R33d94a8286134cbe"/>
    <p:sldId xmlns:r="http://schemas.openxmlformats.org/officeDocument/2006/relationships" id="259" r:id="R1397b78d890a462b"/>
    <p:sldId xmlns:r="http://schemas.openxmlformats.org/officeDocument/2006/relationships" id="260" r:id="Rcae6c24262aa40c1"/>
    <p:sldId xmlns:r="http://schemas.openxmlformats.org/officeDocument/2006/relationships" id="261" r:id="Rf4e5b62fdd3e4752"/>
    <p:sldId xmlns:r="http://schemas.openxmlformats.org/officeDocument/2006/relationships" id="262" r:id="R36ccf4c806234283"/>
    <p:sldId xmlns:r="http://schemas.openxmlformats.org/officeDocument/2006/relationships" id="263" r:id="R6763610338734906"/>
    <p:sldId xmlns:r="http://schemas.openxmlformats.org/officeDocument/2006/relationships" id="264" r:id="Rc44b5ae44e004e46"/>
    <p:sldId xmlns:r="http://schemas.openxmlformats.org/officeDocument/2006/relationships" id="265" r:id="R06b7d3ce588e449b"/>
    <p:sldId xmlns:r="http://schemas.openxmlformats.org/officeDocument/2006/relationships" id="266" r:id="Ra04af064dbc4426f"/>
    <p:sldId xmlns:r="http://schemas.openxmlformats.org/officeDocument/2006/relationships" id="267" r:id="Ra5888f7d25e9452f"/>
    <p:sldId xmlns:r="http://schemas.openxmlformats.org/officeDocument/2006/relationships" id="268" r:id="R154bfbbc3c4947b2"/>
    <p:sldId xmlns:r="http://schemas.openxmlformats.org/officeDocument/2006/relationships" id="269" r:id="R6516d09b5c414a36"/>
    <p:sldId xmlns:r="http://schemas.openxmlformats.org/officeDocument/2006/relationships" id="270" r:id="R2a4bc0763f414187"/>
    <p:sldId xmlns:r="http://schemas.openxmlformats.org/officeDocument/2006/relationships" id="271" r:id="R4afebb0002054873"/>
    <p:sldId xmlns:r="http://schemas.openxmlformats.org/officeDocument/2006/relationships" id="272" r:id="R029b925de6474fdb"/>
    <p:sldId xmlns:r="http://schemas.openxmlformats.org/officeDocument/2006/relationships" id="273" r:id="Ra13a90814e934ea5"/>
    <p:sldId xmlns:r="http://schemas.openxmlformats.org/officeDocument/2006/relationships" id="274" r:id="R98efd503a4d7482a"/>
    <p:sldId xmlns:r="http://schemas.openxmlformats.org/officeDocument/2006/relationships" id="275" r:id="R48e8d128245d4194"/>
  </p:sldIdLst>
  <p:sldSz cx="15240000" cy="8572500"/>
  <p:notesSz cx="6858000" cy="9144000"/>
  <p:embeddedFontLst>
    <p:embeddedFont>
      <p:font typeface="Chakra Petch" pitchFamily="34" charset="0"/>
      <p:regular xmlns:ns1="http://schemas.openxmlformats.org/officeDocument/2006/relationships" ns1:id="rIdChakraFont1"/>
      <p:bold xmlns:ns2="http://schemas.openxmlformats.org/officeDocument/2006/relationships" ns2:id="rIdChakraFont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8be73100be1467a"/><Relationship Type="http://schemas.openxmlformats.org/officeDocument/2006/relationships/slideMaster" Target="/ppt/slideMasters/slideMaster1.xml" Id="R4f9d6ad9303e41c2"/><Relationship Type="http://schemas.openxmlformats.org/officeDocument/2006/relationships/notesMaster" Target="/ppt/notesMasters/notesMaster1.xml" Id="R2c2c35ebea684f88"/><Relationship Type="http://schemas.openxmlformats.org/officeDocument/2006/relationships/presProps" Target="/ppt/presProps.xml" Id="R4e60520c12f94a71"/><Relationship Type="http://schemas.openxmlformats.org/officeDocument/2006/relationships/tableStyles" Target="/ppt/tableStyles.xml" Id="R88f51db08c3a4417"/><Relationship Type="http://schemas.openxmlformats.org/officeDocument/2006/relationships/slide" Target="/ppt/slides/slide1.xml" Id="R0cf1463fad7b474f"/><Relationship Type="http://schemas.openxmlformats.org/officeDocument/2006/relationships/slide" Target="/ppt/slides/slide2.xml" Id="Rdcce33bf30374c61"/><Relationship Type="http://schemas.openxmlformats.org/officeDocument/2006/relationships/slide" Target="/ppt/slides/slide3.xml" Id="R33d94a8286134cbe"/><Relationship Type="http://schemas.openxmlformats.org/officeDocument/2006/relationships/slide" Target="/ppt/slides/slide4.xml" Id="R1397b78d890a462b"/><Relationship Type="http://schemas.openxmlformats.org/officeDocument/2006/relationships/slide" Target="/ppt/slides/slide5.xml" Id="Rcae6c24262aa40c1"/><Relationship Type="http://schemas.openxmlformats.org/officeDocument/2006/relationships/slide" Target="/ppt/slides/slide6.xml" Id="Rf4e5b62fdd3e4752"/><Relationship Type="http://schemas.openxmlformats.org/officeDocument/2006/relationships/slide" Target="/ppt/slides/slide7.xml" Id="R36ccf4c806234283"/><Relationship Type="http://schemas.openxmlformats.org/officeDocument/2006/relationships/slide" Target="/ppt/slides/slide8.xml" Id="R6763610338734906"/><Relationship Type="http://schemas.openxmlformats.org/officeDocument/2006/relationships/slide" Target="/ppt/slides/slide9.xml" Id="Rc44b5ae44e004e46"/><Relationship Type="http://schemas.openxmlformats.org/officeDocument/2006/relationships/slide" Target="/ppt/slides/slide10.xml" Id="R06b7d3ce588e449b"/><Relationship Type="http://schemas.openxmlformats.org/officeDocument/2006/relationships/slide" Target="/ppt/slides/slide11.xml" Id="Ra04af064dbc4426f"/><Relationship Type="http://schemas.openxmlformats.org/officeDocument/2006/relationships/slide" Target="/ppt/slides/slide12.xml" Id="Ra5888f7d25e9452f"/><Relationship Type="http://schemas.openxmlformats.org/officeDocument/2006/relationships/slide" Target="/ppt/slides/slide13.xml" Id="R154bfbbc3c4947b2"/><Relationship Type="http://schemas.openxmlformats.org/officeDocument/2006/relationships/slide" Target="/ppt/slides/slide14.xml" Id="R6516d09b5c414a36"/><Relationship Type="http://schemas.openxmlformats.org/officeDocument/2006/relationships/slide" Target="/ppt/slides/slide15.xml" Id="R2a4bc0763f414187"/><Relationship Type="http://schemas.openxmlformats.org/officeDocument/2006/relationships/slide" Target="/ppt/slides/slide16.xml" Id="R4afebb0002054873"/><Relationship Type="http://schemas.openxmlformats.org/officeDocument/2006/relationships/slide" Target="/ppt/slides/slide17.xml" Id="R029b925de6474fdb"/><Relationship Type="http://schemas.openxmlformats.org/officeDocument/2006/relationships/slide" Target="/ppt/slides/slide18.xml" Id="Ra13a90814e934ea5"/><Relationship Type="http://schemas.openxmlformats.org/officeDocument/2006/relationships/slide" Target="/ppt/slides/slide19.xml" Id="R98efd503a4d7482a"/><Relationship Type="http://schemas.openxmlformats.org/officeDocument/2006/relationships/slide" Target="/ppt/slides/slide20.xml" Id="R48e8d128245d4194"/><Relationship Id="rIdChakraFont1" Type="http://schemas.openxmlformats.org/officeDocument/2006/relationships/font" Target="fonts/chakra1.fntdata"/><Relationship Id="rIdChakraFont2" Type="http://schemas.openxmlformats.org/officeDocument/2006/relationships/font" Target="fonts/chakra2.fntdata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7e3e7ee82d48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00d6dfbcbb41e2" /><Relationship Type="http://schemas.openxmlformats.org/officeDocument/2006/relationships/notesMaster" Target="/ppt/notesMasters/notesMaster1.xml" Id="R85754e2b1be54d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84d7318d434873" /><Relationship Type="http://schemas.openxmlformats.org/officeDocument/2006/relationships/notesMaster" Target="/ppt/notesMasters/notesMaster1.xml" Id="R80e8f76cc3c1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709269d756421a" /><Relationship Type="http://schemas.openxmlformats.org/officeDocument/2006/relationships/notesMaster" Target="/ppt/notesMasters/notesMaster1.xml" Id="Rbcf8ad9fe76541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b6f7dd3473471d" /><Relationship Type="http://schemas.openxmlformats.org/officeDocument/2006/relationships/notesMaster" Target="/ppt/notesMasters/notesMaster1.xml" Id="R909a1dcf22964c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72630853604316" /><Relationship Type="http://schemas.openxmlformats.org/officeDocument/2006/relationships/notesMaster" Target="/ppt/notesMasters/notesMaster1.xml" Id="R01e954b1ee564e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d81e211e4b426a" /><Relationship Type="http://schemas.openxmlformats.org/officeDocument/2006/relationships/notesMaster" Target="/ppt/notesMasters/notesMaster1.xml" Id="Rd257eb9adb624d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57575c15834b95" /><Relationship Type="http://schemas.openxmlformats.org/officeDocument/2006/relationships/notesMaster" Target="/ppt/notesMasters/notesMaster1.xml" Id="R3c71eec36eb24f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ea53db091149d4" /><Relationship Type="http://schemas.openxmlformats.org/officeDocument/2006/relationships/notesMaster" Target="/ppt/notesMasters/notesMaster1.xml" Id="R87163473073145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905a07959943dc" /><Relationship Type="http://schemas.openxmlformats.org/officeDocument/2006/relationships/notesMaster" Target="/ppt/notesMasters/notesMaster1.xml" Id="R97e13af9383c4b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6a5963e09349e5" /><Relationship Type="http://schemas.openxmlformats.org/officeDocument/2006/relationships/notesMaster" Target="/ppt/notesMasters/notesMaster1.xml" Id="Recbaaa4ba2e048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4a6cd074814584" /><Relationship Type="http://schemas.openxmlformats.org/officeDocument/2006/relationships/notesMaster" Target="/ppt/notesMasters/notesMaster1.xml" Id="R096548dba6d143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465be68f37404f" /><Relationship Type="http://schemas.openxmlformats.org/officeDocument/2006/relationships/notesMaster" Target="/ppt/notesMasters/notesMaster1.xml" Id="R667421e3767840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ad521fef784c93" /><Relationship Type="http://schemas.openxmlformats.org/officeDocument/2006/relationships/notesMaster" Target="/ppt/notesMasters/notesMaster1.xml" Id="Rdcb7659f828e43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972348a2144918" /><Relationship Type="http://schemas.openxmlformats.org/officeDocument/2006/relationships/notesMaster" Target="/ppt/notesMasters/notesMaster1.xml" Id="Re80a7c8c6b1243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0548ffda89404c" /><Relationship Type="http://schemas.openxmlformats.org/officeDocument/2006/relationships/notesMaster" Target="/ppt/notesMasters/notesMaster1.xml" Id="Rb8760a3ffbb146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c2011883e4429f" /><Relationship Type="http://schemas.openxmlformats.org/officeDocument/2006/relationships/notesMaster" Target="/ppt/notesMasters/notesMaster1.xml" Id="R15418a5cfab644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136a74e71d4ec0" /><Relationship Type="http://schemas.openxmlformats.org/officeDocument/2006/relationships/notesMaster" Target="/ppt/notesMasters/notesMaster1.xml" Id="Re136064535fb44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00548cfdf24862" /><Relationship Type="http://schemas.openxmlformats.org/officeDocument/2006/relationships/notesMaster" Target="/ppt/notesMasters/notesMaster1.xml" Id="R19027b32f5674e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9e2723acc024e0c" /><Relationship Type="http://schemas.openxmlformats.org/officeDocument/2006/relationships/notesMaster" Target="/ppt/notesMasters/notesMaster1.xml" Id="Rb981df12143d4a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5830d952544259" /><Relationship Type="http://schemas.openxmlformats.org/officeDocument/2006/relationships/notesMaster" Target="/ppt/notesMasters/notesMaster1.xml" Id="Ra7d41a3f2d364e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1-slaydlar. Foydalanuvchining qo‘shimcha ko‘rsatmalari. Brending manbasi: https://www.figma.com/design/IkNcFHPX29v5JpfrW312xe/AI-hackaton--Copy-?node-id=118-6121. Shrift: Chakra Petch, https://github.com/google/fonts/tree/main/ofl/chakrapetch (SIL Open Font License). Fon: Imagegen yordamida yaratilgan abstrakt brend vizuali.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2, 3-slaydlar.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2-slaydlar.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4-slaydlar.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5, 12-slaydlar.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11-slaydlar.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11-slaydlar.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3, 19-slaydlar.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6, 7-slaydlar.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8-slaydlar.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6, 9-slaydlar. Foydalanuvchining qo‘shimcha ko‘rsatmalari. Brending manbasi: https://www.figma.com/design/IkNcFHPX29v5JpfrW312xe/AI-hackaton--Copy-?node-id=118-6121. Shrift: Chakra Petch, https://github.com/google/fonts/tree/main/ofl/chakrapetch (SIL Open Font License). “2-kun” ikki kunlik loyiha ishlab chiqishning ikkinchi kuni sifatida talqin qilindi.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10-slaydlar.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15-slaydlar.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11-slaydlar.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16-slaydlar.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16, 17, 18-slaydlar.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20, 21-slaydlar.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21-slaydlar. Foydalanuvchining qo‘shimcha ko‘rsatmalari. Brending manbasi: https://www.figma.com/design/IkNcFHPX29v5JpfrW312xe/AI-hackaton--Copy-?node-id=118-6121. Shrift: Chakra Petch, https://github.com/google/fonts/tree/main/ofl/chakrapetch (SIL Open Font License).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xorazm_hackathon_17-20_sentabr (1).pptx, 8-slaydlar. Foydalanuvchining qo‘shimcha ko‘rsatmalari. Brending manbasi: https://www.figma.com/design/IkNcFHPX29v5JpfrW312xe/AI-hackaton--Copy-?node-id=118-6121. Shrift: Chakra Petch, https://github.com/google/fonts/tree/main/ofl/chakrapetch (SIL Open Font License). Ushbu maxsus baholar faqat ustuvor yo‘nalishni tanlagan jamoalarga qo‘llanadi. Biznes mentor: G‘oya va muammoning dolzarbligi +2 ball. Soha mentori: Muammoning dolzarbligi 10/10; Amaliy qo‘llanish 7/10. Qolgan mezonlar 11-slayddagidek.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b4870b29042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17a6268fea448a" /><Relationship Type="http://schemas.openxmlformats.org/officeDocument/2006/relationships/slideLayout" Target="/ppt/slideLayouts/slideLayout1.xml" Id="R98b54c251d4441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b54c251d4441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b203859ae48a3" /><Relationship Type="http://schemas.openxmlformats.org/officeDocument/2006/relationships/image" Target="/ppt/media/image.png" Id="Rfa20714b97a841ea" /><Relationship Type="http://schemas.openxmlformats.org/officeDocument/2006/relationships/notesSlide" Target="/ppt/notesSlides/notesSlide1.xml" Id="R53edc916771f4f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b9fcf6cb74f96" /><Relationship Type="http://schemas.openxmlformats.org/officeDocument/2006/relationships/notesSlide" Target="/ppt/notesSlides/notesSlide2.xml" Id="R779d2f6022a140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75695854b41d3" /><Relationship Type="http://schemas.openxmlformats.org/officeDocument/2006/relationships/notesSlide" Target="/ppt/notesSlides/notesSlide3.xml" Id="R3e734cf9f0814b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88ece28424b2e" /><Relationship Type="http://schemas.openxmlformats.org/officeDocument/2006/relationships/notesSlide" Target="/ppt/notesSlides/notesSlide4.xml" Id="Ra8a47befa1eb49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8c0301f9f492a" /><Relationship Type="http://schemas.openxmlformats.org/officeDocument/2006/relationships/notesSlide" Target="/ppt/notesSlides/notesSlide5.xml" Id="Rd3c6e3481ecd4c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7324bc83d4c89" /><Relationship Type="http://schemas.openxmlformats.org/officeDocument/2006/relationships/notesSlide" Target="/ppt/notesSlides/notesSlide6.xml" Id="R1f966ae5d1e240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2802096394c53" /><Relationship Type="http://schemas.openxmlformats.org/officeDocument/2006/relationships/notesSlide" Target="/ppt/notesSlides/notesSlide7.xml" Id="R6f5a845dd3744d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87d25264e49c1" /><Relationship Type="http://schemas.openxmlformats.org/officeDocument/2006/relationships/notesSlide" Target="/ppt/notesSlides/notesSlide8.xml" Id="Re3b664a4d57b4c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fceda72aa4109" /><Relationship Type="http://schemas.openxmlformats.org/officeDocument/2006/relationships/notesSlide" Target="/ppt/notesSlides/notesSlide9.xml" Id="R96a2a216e3f246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9693b8ba443ec" /><Relationship Type="http://schemas.openxmlformats.org/officeDocument/2006/relationships/notesSlide" Target="/ppt/notesSlides/notesSlide10.xml" Id="R8d4a1d51b65c45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74bcd469c46eb" /><Relationship Type="http://schemas.openxmlformats.org/officeDocument/2006/relationships/notesSlide" Target="/ppt/notesSlides/notesSlide11.xml" Id="R3703565c53b746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ed1123a7a474b" /><Relationship Type="http://schemas.openxmlformats.org/officeDocument/2006/relationships/notesSlide" Target="/ppt/notesSlides/notesSlide12.xml" Id="R74118d8dc87247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8203e72004e3a" /><Relationship Type="http://schemas.openxmlformats.org/officeDocument/2006/relationships/notesSlide" Target="/ppt/notesSlides/notesSlide13.xml" Id="Re90dfc3d1f974e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bd5cb858c4438" /><Relationship Type="http://schemas.openxmlformats.org/officeDocument/2006/relationships/notesSlide" Target="/ppt/notesSlides/notesSlide14.xml" Id="R24cf08c22d1b40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d4b2a330e43d7" /><Relationship Type="http://schemas.openxmlformats.org/officeDocument/2006/relationships/notesSlide" Target="/ppt/notesSlides/notesSlide15.xml" Id="R6f72fba4631f4b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58f347ce24aa4" /><Relationship Type="http://schemas.openxmlformats.org/officeDocument/2006/relationships/notesSlide" Target="/ppt/notesSlides/notesSlide16.xml" Id="Rd8ea9720bc8c40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73c9e7e754bed" /><Relationship Type="http://schemas.openxmlformats.org/officeDocument/2006/relationships/notesSlide" Target="/ppt/notesSlides/notesSlide17.xml" Id="Re8c588d5cb6242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4c9f8331146aa" /><Relationship Type="http://schemas.openxmlformats.org/officeDocument/2006/relationships/notesSlide" Target="/ppt/notesSlides/notesSlide18.xml" Id="R2116b3b7b49740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a5157b44f489e" /><Relationship Type="http://schemas.openxmlformats.org/officeDocument/2006/relationships/notesSlide" Target="/ppt/notesSlides/notesSlide19.xml" Id="Rbb0ea144671f4e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bf99a569f4f1c" /><Relationship Type="http://schemas.openxmlformats.org/officeDocument/2006/relationships/notesSlide" Target="/ppt/notesSlides/notesSlide20.xml" Id="R1cdcec1325a843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82E2D64C-3EF3-46DD-8314-29460D27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0714b97a841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62A1F01-34BD-486B-A80A-47AE43E7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43000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540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Umummilly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540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AI Xakaton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D388130-6986-4BA4-9689-C37648B4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866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82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Xorazm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19FFB30-8359-4009-837F-DCF9E1D2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885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5565448-2507-4229-82FF-9D30C265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3897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7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17–20 sentabr 2026</a:t>
            </a:r>
          </a:p>
        </p:txBody>
      </p:sp>
    </p:spTree>
    <p:extLst>
      <p:ext uri="{BB962C8B-B14F-4D97-AF65-F5344CB8AC3E}">
        <p14:creationId xmlns:p14="http://schemas.microsoft.com/office/powerpoint/2010/main" val="1500652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6">
            <a:extLst xmlns:a="http://schemas.openxmlformats.org/drawingml/2006/main">
              <a:ext uri="{FF2B5EF4-FFF2-40B4-BE49-F238E27FC236}">
                <a16:creationId xmlns:a16="http://schemas.microsoft.com/office/drawing/2014/main" id="{548CD4FD-4B98-4499-A05B-E8ABD88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Xorazm bosqichi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EFEEA822-0DF1-48AD-A9AF-335754AA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B52EB843-DCC7-4820-A378-8B6BB719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68BCDB20-98CB-4C7A-9D89-D743CEC1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304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2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Al-Xorazmiy yurtida sun’iy intellekt</a:t>
            </a:r>
          </a:p>
          <a:p xmlns:a="http://schemas.openxmlformats.org/drawingml/2006/main">
            <a:pPr algn="l">
              <a:defRPr sz="32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2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yordamida amaliy yechimlar yaratish.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77664903-197A-4778-AE60-CB047819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3952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795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8518BD3D-EA45-422C-8A52-7D186625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62575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62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trek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BE98B17D-2103-44EE-9682-C5A30F38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52875"/>
            <a:ext cx="3952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795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F9F711E4-F724-490B-9DB9-2101CF25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62575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62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kun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6F161E3F-093E-44C2-8B06-1B8FDC8F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52875"/>
            <a:ext cx="3952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795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3–5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5986C948-CDD3-4FBB-BB3C-1A6E3235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362575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62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jamoa a’zosi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A5A02-B0A5-4CC5-9B6C-D000BCA7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3890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DF"/>
            </a:solidFill>
          </a:ln>
        </p:spPr>
      </p:sp>
      <p:sp>
        <p:nvSpPr>
          <p:cNvPr id="12" name="text-16">
            <a:extLst xmlns:a="http://schemas.openxmlformats.org/drawingml/2006/main">
              <a:ext uri="{FF2B5EF4-FFF2-40B4-BE49-F238E27FC236}">
                <a16:creationId xmlns:a16="http://schemas.microsoft.com/office/drawing/2014/main" id="{92AE0F80-954A-454E-970A-4157C05F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00850"/>
            <a:ext cx="1323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G‘oyalarni sinash va namoyish qilish. Yetakchi mutaxassislardan mentorlik.</a:t>
            </a:r>
          </a:p>
          <a:p xmlns:a="http://schemas.openxmlformats.org/drawingml/2006/main">
            <a:pPr algn="l">
              <a:defRPr sz="217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Loyihani rivojlantirish va investitsiya jalb qilish imkoniyati.</a:t>
            </a:r>
          </a:p>
        </p:txBody>
      </p:sp>
    </p:spTree>
    <p:extLst>
      <p:ext uri="{BB962C8B-B14F-4D97-AF65-F5344CB8AC3E}">
        <p14:creationId xmlns:p14="http://schemas.microsoft.com/office/powerpoint/2010/main" val="2013136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FAA287DD-7353-44E0-8CEA-1DAD63FA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Umummilly AI Xakaton bosqichlari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7EB8FFC1-F1F6-4AE2-A13C-D90F9998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BF73AC97-C958-4E54-AF9A-F004E27D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E9765E67-5E68-49E0-B183-31E1F61A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95525"/>
            <a:ext cx="615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Oktabr 2025 – yanvar 2026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AAEDEEA6-5FD3-4E7E-A089-3D56C81E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95525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Nukus va Samarqand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D39D0-3169-4091-8998-75A38DAB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414C"/>
            </a:solidFill>
          </a:ln>
        </p:spPr>
      </p:sp>
      <p:sp>
        <p:nvSpPr>
          <p:cNvPr id="7" name="text-22">
            <a:extLst xmlns:a="http://schemas.openxmlformats.org/drawingml/2006/main">
              <a:ext uri="{FF2B5EF4-FFF2-40B4-BE49-F238E27FC236}">
                <a16:creationId xmlns:a16="http://schemas.microsoft.com/office/drawing/2014/main" id="{BDBE1452-7F61-4A63-B67B-771BAB2D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38475"/>
            <a:ext cx="615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Mart – aprel 2026</a:t>
            </a:r>
          </a:p>
        </p:txBody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4E3FF32A-76C9-4BD1-8BBB-C2315FAD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38475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Surxondaryo va Buxoro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A11EA-A6E3-4D43-9740-489154E9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414C"/>
            </a:solidFill>
          </a:ln>
        </p:spPr>
      </p:sp>
      <p:sp>
        <p:nvSpPr>
          <p:cNvPr id="10" name="text-24">
            <a:extLst xmlns:a="http://schemas.openxmlformats.org/drawingml/2006/main">
              <a:ext uri="{FF2B5EF4-FFF2-40B4-BE49-F238E27FC236}">
                <a16:creationId xmlns:a16="http://schemas.microsoft.com/office/drawing/2014/main" id="{FE6CC5F9-DDE3-4683-B865-DD1D2C05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81425"/>
            <a:ext cx="615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20 may – 6 iyun 2026</a:t>
            </a:r>
          </a:p>
        </p:txBody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63FA73FF-BFBC-4B03-945C-CC7212F2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81425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Farg‘ona va Andijon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3BF3C-0A2B-4F5E-9F91-23046EDA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414C"/>
            </a:solidFill>
          </a:ln>
        </p:spPr>
      </p:sp>
      <p:sp>
        <p:nvSpPr>
          <p:cNvPr id="13" name="text-26">
            <a:extLst xmlns:a="http://schemas.openxmlformats.org/drawingml/2006/main">
              <a:ext uri="{FF2B5EF4-FFF2-40B4-BE49-F238E27FC236}">
                <a16:creationId xmlns:a16="http://schemas.microsoft.com/office/drawing/2014/main" id="{4C41AF25-F450-4699-BB3A-576A966B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24375"/>
            <a:ext cx="615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25 iyun – 2 iyul 2026</a:t>
            </a:r>
          </a:p>
        </p:txBody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C2954226-EA80-448C-9D32-38BEE4EE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24375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Guliston va Jizzax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F88D0-4887-46DC-BA65-3018FECD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414C"/>
            </a:solidFill>
          </a:ln>
        </p:spPr>
      </p:sp>
      <p:sp>
        <p:nvSpPr>
          <p:cNvPr id="16" name="text-28">
            <a:extLst xmlns:a="http://schemas.openxmlformats.org/drawingml/2006/main">
              <a:ext uri="{FF2B5EF4-FFF2-40B4-BE49-F238E27FC236}">
                <a16:creationId xmlns:a16="http://schemas.microsoft.com/office/drawing/2014/main" id="{D8C35152-8D8A-411A-98EC-AF8EFE22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67325"/>
            <a:ext cx="615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10–18 avgust 2026</a:t>
            </a:r>
          </a:p>
        </p:txBody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B7CEAC57-89DC-45E5-88A4-3B0D874D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67325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Navoiy va Qarshi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19FBE-D464-4611-95BA-BEF82C1C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414C"/>
            </a:solidFill>
          </a:ln>
        </p:spPr>
      </p:sp>
      <p:sp>
        <p:nvSpPr>
          <p:cNvPr id="19" name="text-30">
            <a:extLst xmlns:a="http://schemas.openxmlformats.org/drawingml/2006/main">
              <a:ext uri="{FF2B5EF4-FFF2-40B4-BE49-F238E27FC236}">
                <a16:creationId xmlns:a16="http://schemas.microsoft.com/office/drawing/2014/main" id="{A1AB0FD4-8F24-47B5-93B4-A81AB6CB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10275"/>
            <a:ext cx="615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17–20 sentabr 2026</a:t>
            </a:r>
          </a:p>
        </p:txBody>
      </p:sp>
      <p:sp>
        <p:nvSpPr>
          <p:cNvPr id="20" name="text-31">
            <a:extLst xmlns:a="http://schemas.openxmlformats.org/drawingml/2006/main">
              <a:ext uri="{FF2B5EF4-FFF2-40B4-BE49-F238E27FC236}">
                <a16:creationId xmlns:a16="http://schemas.microsoft.com/office/drawing/2014/main" id="{B5EE3205-9046-4B53-93C7-97F6952F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010275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Xorazm bosqichi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711DF-C6C6-4589-B276-C8265F90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722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414C"/>
            </a:solidFill>
          </a:ln>
        </p:spPr>
      </p:sp>
      <p:sp>
        <p:nvSpPr>
          <p:cNvPr id="22" name="text-32">
            <a:extLst xmlns:a="http://schemas.openxmlformats.org/drawingml/2006/main">
              <a:ext uri="{FF2B5EF4-FFF2-40B4-BE49-F238E27FC236}">
                <a16:creationId xmlns:a16="http://schemas.microsoft.com/office/drawing/2014/main" id="{9F563E16-F058-47FB-B5B1-EB87E1D8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753225"/>
            <a:ext cx="615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Dekabr 2026</a:t>
            </a:r>
          </a:p>
        </p:txBody>
      </p:sp>
      <p:sp>
        <p:nvSpPr>
          <p:cNvPr id="23" name="text-33">
            <a:extLst xmlns:a="http://schemas.openxmlformats.org/drawingml/2006/main">
              <a:ext uri="{FF2B5EF4-FFF2-40B4-BE49-F238E27FC236}">
                <a16:creationId xmlns:a16="http://schemas.microsoft.com/office/drawing/2014/main" id="{C1CDBDDD-6350-4583-ADE7-E3ACA32A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753225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Katta final, Toshkent</a:t>
            </a:r>
          </a:p>
        </p:txBody>
      </p:sp>
    </p:spTree>
    <p:extLst>
      <p:ext uri="{BB962C8B-B14F-4D97-AF65-F5344CB8AC3E}">
        <p14:creationId xmlns:p14="http://schemas.microsoft.com/office/powerpoint/2010/main" val="2041069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BC26F006-AAD4-414C-B2AD-46049CFD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Uchta asosiy trek</a:t>
            </a:r>
          </a:p>
        </p:txBody>
      </p:sp>
      <p:sp>
        <p:nvSpPr>
          <p:cNvPr id="2" name="text-35">
            <a:extLst xmlns:a="http://schemas.openxmlformats.org/drawingml/2006/main">
              <a:ext uri="{FF2B5EF4-FFF2-40B4-BE49-F238E27FC236}">
                <a16:creationId xmlns:a16="http://schemas.microsoft.com/office/drawing/2014/main" id="{A885DA13-2BD9-4C6B-BC69-B7607FD4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43739B79-2E4C-40C3-B8C2-BB0DB848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04</a:t>
            </a:r>
          </a:p>
        </p:txBody>
      </p:sp>
      <p:sp>
        <p:nvSpPr>
          <p:cNvPr id="4" name="text-37">
            <a:extLst xmlns:a="http://schemas.openxmlformats.org/drawingml/2006/main">
              <a:ext uri="{FF2B5EF4-FFF2-40B4-BE49-F238E27FC236}">
                <a16:creationId xmlns:a16="http://schemas.microsoft.com/office/drawing/2014/main" id="{BF64E71E-0D5D-480D-A436-8AA81E25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01</a:t>
            </a:r>
          </a:p>
        </p:txBody>
      </p:sp>
      <p:sp>
        <p:nvSpPr>
          <p:cNvPr id="5" name="text-38">
            <a:extLst xmlns:a="http://schemas.openxmlformats.org/drawingml/2006/main">
              <a:ext uri="{FF2B5EF4-FFF2-40B4-BE49-F238E27FC236}">
                <a16:creationId xmlns:a16="http://schemas.microsoft.com/office/drawing/2014/main" id="{980CC937-4AA4-487C-B697-F55970DD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7172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487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Tibbiyot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40F86-ACD9-4977-8192-3F40582A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DF"/>
            </a:solidFill>
          </a:ln>
        </p:spPr>
      </p:sp>
      <p:sp>
        <p:nvSpPr>
          <p:cNvPr id="7" name="text-39">
            <a:extLst xmlns:a="http://schemas.openxmlformats.org/drawingml/2006/main">
              <a:ext uri="{FF2B5EF4-FFF2-40B4-BE49-F238E27FC236}">
                <a16:creationId xmlns:a16="http://schemas.microsoft.com/office/drawing/2014/main" id="{4D4F0FBC-3B6F-467A-B87F-4D063059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sp>
        <p:nvSpPr>
          <p:cNvPr id="8" name="text-40">
            <a:extLst xmlns:a="http://schemas.openxmlformats.org/drawingml/2006/main">
              <a:ext uri="{FF2B5EF4-FFF2-40B4-BE49-F238E27FC236}">
                <a16:creationId xmlns:a16="http://schemas.microsoft.com/office/drawing/2014/main" id="{5BAC08B3-B00C-462A-97B6-C5D059EE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7187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487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Tadbirkorlik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2A7C4-7D97-41ED-94A6-3437C8FE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DF"/>
            </a:solidFill>
          </a:ln>
        </p:spPr>
      </p:sp>
      <p:sp>
        <p:nvSpPr>
          <p:cNvPr id="10" name="text-41">
            <a:extLst xmlns:a="http://schemas.openxmlformats.org/drawingml/2006/main">
              <a:ext uri="{FF2B5EF4-FFF2-40B4-BE49-F238E27FC236}">
                <a16:creationId xmlns:a16="http://schemas.microsoft.com/office/drawing/2014/main" id="{6780E89A-33FC-4D52-AD6B-1ADEFC0B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sp>
        <p:nvSpPr>
          <p:cNvPr id="11" name="text-42">
            <a:extLst xmlns:a="http://schemas.openxmlformats.org/drawingml/2006/main">
              <a:ext uri="{FF2B5EF4-FFF2-40B4-BE49-F238E27FC236}">
                <a16:creationId xmlns:a16="http://schemas.microsoft.com/office/drawing/2014/main" id="{85815FEF-F628-423F-8740-AD542EDA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7202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487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Ta’lim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849F0-A8FE-4557-AA74-03AB7CEB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62625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DF"/>
            </a:solidFill>
          </a:ln>
        </p:spPr>
      </p:sp>
      <p:sp>
        <p:nvSpPr>
          <p:cNvPr id="13" name="text-43">
            <a:extLst xmlns:a="http://schemas.openxmlformats.org/drawingml/2006/main">
              <a:ext uri="{FF2B5EF4-FFF2-40B4-BE49-F238E27FC236}">
                <a16:creationId xmlns:a16="http://schemas.microsoft.com/office/drawing/2014/main" id="{726B0979-0DDD-4EEE-9918-29DDFB4E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53200"/>
            <a:ext cx="1314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TREK TANLASH BO‘YICHA MASLAHAT</a:t>
            </a:r>
          </a:p>
        </p:txBody>
      </p:sp>
      <p:sp>
        <p:nvSpPr>
          <p:cNvPr id="14" name="text-44">
            <a:extLst xmlns:a="http://schemas.openxmlformats.org/drawingml/2006/main">
              <a:ext uri="{FF2B5EF4-FFF2-40B4-BE49-F238E27FC236}">
                <a16:creationId xmlns:a16="http://schemas.microsoft.com/office/drawing/2014/main" id="{AA000E16-66BE-4799-8511-B17303B6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34225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47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Bir trekda jamoalar kamroq bo‘lsa, raqobat ham kamroq bo‘ladi.</a:t>
            </a:r>
          </a:p>
        </p:txBody>
      </p:sp>
    </p:spTree>
    <p:extLst>
      <p:ext uri="{BB962C8B-B14F-4D97-AF65-F5344CB8AC3E}">
        <p14:creationId xmlns:p14="http://schemas.microsoft.com/office/powerpoint/2010/main" val="104612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5">
            <a:extLst xmlns:a="http://schemas.openxmlformats.org/drawingml/2006/main">
              <a:ext uri="{FF2B5EF4-FFF2-40B4-BE49-F238E27FC236}">
                <a16:creationId xmlns:a16="http://schemas.microsoft.com/office/drawing/2014/main" id="{287D64F5-F393-485A-B7C2-8EA2A978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Jamoa va qatnashish qoidalari</a:t>
            </a:r>
          </a:p>
        </p:txBody>
      </p:sp>
      <p:sp>
        <p:nvSpPr>
          <p:cNvPr id="2" name="text-46">
            <a:extLst xmlns:a="http://schemas.openxmlformats.org/drawingml/2006/main">
              <a:ext uri="{FF2B5EF4-FFF2-40B4-BE49-F238E27FC236}">
                <a16:creationId xmlns:a16="http://schemas.microsoft.com/office/drawing/2014/main" id="{12B0137C-ED1D-4C97-B8AA-DD4F305D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47">
            <a:extLst xmlns:a="http://schemas.openxmlformats.org/drawingml/2006/main">
              <a:ext uri="{FF2B5EF4-FFF2-40B4-BE49-F238E27FC236}">
                <a16:creationId xmlns:a16="http://schemas.microsoft.com/office/drawing/2014/main" id="{0DBE206B-5EEA-4BAE-9E56-96981E14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05</a:t>
            </a:r>
          </a:p>
        </p:txBody>
      </p:sp>
      <p:sp>
        <p:nvSpPr>
          <p:cNvPr id="4" name="text-48">
            <a:extLst xmlns:a="http://schemas.openxmlformats.org/drawingml/2006/main">
              <a:ext uri="{FF2B5EF4-FFF2-40B4-BE49-F238E27FC236}">
                <a16:creationId xmlns:a16="http://schemas.microsoft.com/office/drawing/2014/main" id="{0125D47D-227A-49E8-B2EB-7A7FBD28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93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3–5</a:t>
            </a:r>
          </a:p>
        </p:txBody>
      </p:sp>
      <p:sp>
        <p:nvSpPr>
          <p:cNvPr id="5" name="text-49">
            <a:extLst xmlns:a="http://schemas.openxmlformats.org/drawingml/2006/main">
              <a:ext uri="{FF2B5EF4-FFF2-40B4-BE49-F238E27FC236}">
                <a16:creationId xmlns:a16="http://schemas.microsoft.com/office/drawing/2014/main" id="{E2C07825-E97F-4BA6-B2E1-9E156FE7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6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ishtirokchi har bir jamoada</a:t>
            </a:r>
          </a:p>
        </p:txBody>
      </p:sp>
      <p:sp>
        <p:nvSpPr>
          <p:cNvPr id="6" name="text-50">
            <a:extLst xmlns:a="http://schemas.openxmlformats.org/drawingml/2006/main">
              <a:ext uri="{FF2B5EF4-FFF2-40B4-BE49-F238E27FC236}">
                <a16:creationId xmlns:a16="http://schemas.microsoft.com/office/drawing/2014/main" id="{FAF562BE-2439-442E-9FAE-351D912C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863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Jamoa tarkibi</a:t>
            </a:r>
          </a:p>
        </p:txBody>
      </p:sp>
      <p:sp>
        <p:nvSpPr>
          <p:cNvPr id="7" name="text-51">
            <a:extLst xmlns:a="http://schemas.openxmlformats.org/drawingml/2006/main">
              <a:ext uri="{FF2B5EF4-FFF2-40B4-BE49-F238E27FC236}">
                <a16:creationId xmlns:a16="http://schemas.microsoft.com/office/drawing/2014/main" id="{86D142DF-05D1-4035-AD73-4BAF52D7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62625"/>
            <a:ext cx="5810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Dasturchilar va AI mutaxassislari</a:t>
            </a:r>
          </a:p>
          <a:p xmlns:a="http://schemas.openxmlformats.org/drawingml/2006/main">
            <a:pPr algn="l">
              <a:def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UI/UX dizaynerlar</a:t>
            </a:r>
          </a:p>
          <a:p xmlns:a="http://schemas.openxmlformats.org/drawingml/2006/main">
            <a:pPr algn="l">
              <a:def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Biznes-analitiklar</a:t>
            </a:r>
          </a:p>
          <a:p xmlns:a="http://schemas.openxmlformats.org/drawingml/2006/main">
            <a:pPr algn="l">
              <a:def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Loyiha menejerlari</a:t>
            </a:r>
          </a:p>
        </p:txBody>
      </p:sp>
      <p:sp>
        <p:nvSpPr>
          <p:cNvPr id="8" name="text-52">
            <a:extLst xmlns:a="http://schemas.openxmlformats.org/drawingml/2006/main">
              <a:ext uri="{FF2B5EF4-FFF2-40B4-BE49-F238E27FC236}">
                <a16:creationId xmlns:a16="http://schemas.microsoft.com/office/drawing/2014/main" id="{2B7FD1EE-AEF9-4663-BB15-FCF54A32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77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Binoda bo‘lish shart</a:t>
            </a:r>
          </a:p>
        </p:txBody>
      </p:sp>
      <p:sp>
        <p:nvSpPr>
          <p:cNvPr id="9" name="text-53">
            <a:extLst xmlns:a="http://schemas.openxmlformats.org/drawingml/2006/main">
              <a:ext uri="{FF2B5EF4-FFF2-40B4-BE49-F238E27FC236}">
                <a16:creationId xmlns:a16="http://schemas.microsoft.com/office/drawing/2014/main" id="{AE046EB8-05B1-48F9-96C2-3EB38591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24225"/>
            <a:ext cx="6524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Xakaton davomida barcha a’zolar</a:t>
            </a:r>
          </a:p>
          <a:p xmlns:a="http://schemas.openxmlformats.org/drawingml/2006/main">
            <a:pPr algn="l">
              <a:defRPr sz="25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jismonan ishtirok etishi kerak.</a:t>
            </a:r>
          </a:p>
        </p:txBody>
      </p:sp>
      <p:sp>
        <p:nvSpPr>
          <p:cNvPr id="10" name="text-54">
            <a:extLst xmlns:a="http://schemas.openxmlformats.org/drawingml/2006/main">
              <a:ext uri="{FF2B5EF4-FFF2-40B4-BE49-F238E27FC236}">
                <a16:creationId xmlns:a16="http://schemas.microsoft.com/office/drawing/2014/main" id="{12811DE0-C225-421E-91A1-ECB9D93C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91050"/>
            <a:ext cx="65246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Koordinatorlar har 2 soatda tekshiradi.</a:t>
            </a:r>
          </a:p>
          <a:p xmlns:a="http://schemas.openxmlformats.org/drawingml/2006/main">
            <a:pPr algn="l">
              <a:def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To‘liq tarkibda bo‘lmagan jamoa</a:t>
            </a:r>
          </a:p>
          <a:p xmlns:a="http://schemas.openxmlformats.org/drawingml/2006/main">
            <a:pPr algn="l">
              <a:def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2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xakatondan chetlatilishi mumkin.</a:t>
            </a:r>
          </a:p>
        </p:txBody>
      </p:sp>
      <p:sp>
        <p:nvSpPr>
          <p:cNvPr id="11" name="text-55">
            <a:extLst xmlns:a="http://schemas.openxmlformats.org/drawingml/2006/main">
              <a:ext uri="{FF2B5EF4-FFF2-40B4-BE49-F238E27FC236}">
                <a16:creationId xmlns:a16="http://schemas.microsoft.com/office/drawing/2014/main" id="{AFE3F582-F374-4034-9AEB-D86D30D5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57950"/>
            <a:ext cx="652462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Qisqa tanaffuslar ish jarayoniga xalaqit</a:t>
            </a:r>
          </a:p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bermasligi kerak. Xorazmning istalgan</a:t>
            </a:r>
          </a:p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hududidan qatnashish mumkin.</a:t>
            </a:r>
          </a:p>
        </p:txBody>
      </p:sp>
    </p:spTree>
    <p:extLst>
      <p:ext uri="{BB962C8B-B14F-4D97-AF65-F5344CB8AC3E}">
        <p14:creationId xmlns:p14="http://schemas.microsoft.com/office/powerpoint/2010/main" val="1480147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56">
            <a:extLst xmlns:a="http://schemas.openxmlformats.org/drawingml/2006/main">
              <a:ext uri="{FF2B5EF4-FFF2-40B4-BE49-F238E27FC236}">
                <a16:creationId xmlns:a16="http://schemas.microsoft.com/office/drawing/2014/main" id="{40DB90B8-C9A8-4586-BEA4-57F39688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Loyihaga qo‘yiladigan talablar</a:t>
            </a:r>
          </a:p>
        </p:txBody>
      </p:sp>
      <p:sp>
        <p:nvSpPr>
          <p:cNvPr id="2" name="text-57">
            <a:extLst xmlns:a="http://schemas.openxmlformats.org/drawingml/2006/main">
              <a:ext uri="{FF2B5EF4-FFF2-40B4-BE49-F238E27FC236}">
                <a16:creationId xmlns:a16="http://schemas.microsoft.com/office/drawing/2014/main" id="{0823452B-C53D-41B0-BC35-6BD47A00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58">
            <a:extLst xmlns:a="http://schemas.openxmlformats.org/drawingml/2006/main">
              <a:ext uri="{FF2B5EF4-FFF2-40B4-BE49-F238E27FC236}">
                <a16:creationId xmlns:a16="http://schemas.microsoft.com/office/drawing/2014/main" id="{D67F008D-9E05-47E4-8A7B-C76DCE60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06</a:t>
            </a:r>
          </a:p>
        </p:txBody>
      </p:sp>
      <p:sp>
        <p:nvSpPr>
          <p:cNvPr id="4" name="text-59">
            <a:extLst xmlns:a="http://schemas.openxmlformats.org/drawingml/2006/main">
              <a:ext uri="{FF2B5EF4-FFF2-40B4-BE49-F238E27FC236}">
                <a16:creationId xmlns:a16="http://schemas.microsoft.com/office/drawing/2014/main" id="{E4F9FBCD-EDA9-455A-83D0-12AF513D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01</a:t>
            </a:r>
          </a:p>
        </p:txBody>
      </p:sp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5764D698-C7B5-4F4D-A16F-67E1BC75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52675"/>
            <a:ext cx="5686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AI komponenti shart</a:t>
            </a:r>
          </a:p>
        </p:txBody>
      </p:sp>
      <p:sp>
        <p:nvSpPr>
          <p:cNvPr id="6" name="text-61">
            <a:extLst xmlns:a="http://schemas.openxmlformats.org/drawingml/2006/main">
              <a:ext uri="{FF2B5EF4-FFF2-40B4-BE49-F238E27FC236}">
                <a16:creationId xmlns:a16="http://schemas.microsoft.com/office/drawing/2014/main" id="{BE359A91-645D-408D-8A09-EC05D1DA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33700"/>
            <a:ext cx="5686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Bu AI xakaton. Loyihangizda sun’iy</a:t>
            </a:r>
          </a:p>
          <a:p xmlns:a="http://schemas.openxmlformats.org/drawingml/2006/main">
            <a:pPr algn="l">
              <a:def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intellekt komponenti bo‘lishi kerak.</a:t>
            </a:r>
          </a:p>
        </p:txBody>
      </p:sp>
      <p:sp>
        <p:nvSpPr>
          <p:cNvPr id="7" name="text-62">
            <a:extLst xmlns:a="http://schemas.openxmlformats.org/drawingml/2006/main">
              <a:ext uri="{FF2B5EF4-FFF2-40B4-BE49-F238E27FC236}">
                <a16:creationId xmlns:a16="http://schemas.microsoft.com/office/drawing/2014/main" id="{4233460E-D70B-4116-B6FB-55C3D300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sp>
        <p:nvSpPr>
          <p:cNvPr id="8" name="text-63">
            <a:extLst xmlns:a="http://schemas.openxmlformats.org/drawingml/2006/main">
              <a:ext uri="{FF2B5EF4-FFF2-40B4-BE49-F238E27FC236}">
                <a16:creationId xmlns:a16="http://schemas.microsoft.com/office/drawing/2014/main" id="{416A8EE6-CC77-46F8-B7FE-B9A23402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52675"/>
            <a:ext cx="554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Loyiha uchun 2 kun</a:t>
            </a:r>
          </a:p>
        </p:txBody>
      </p:sp>
      <p:sp>
        <p:nvSpPr>
          <p:cNvPr id="9" name="text-64">
            <a:extLst xmlns:a="http://schemas.openxmlformats.org/drawingml/2006/main">
              <a:ext uri="{FF2B5EF4-FFF2-40B4-BE49-F238E27FC236}">
                <a16:creationId xmlns:a16="http://schemas.microsoft.com/office/drawing/2014/main" id="{F306FF0F-EBBD-4380-943B-1A2295C6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33700"/>
            <a:ext cx="5543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Loyihani xakatonning ikki ish kuni</a:t>
            </a:r>
          </a:p>
          <a:p xmlns:a="http://schemas.openxmlformats.org/drawingml/2006/main">
            <a:pPr algn="l">
              <a:def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davomida ishlab chiqish kerak.</a:t>
            </a:r>
          </a:p>
        </p:txBody>
      </p:sp>
      <p:sp>
        <p:nvSpPr>
          <p:cNvPr id="10" name="text-65">
            <a:extLst xmlns:a="http://schemas.openxmlformats.org/drawingml/2006/main">
              <a:ext uri="{FF2B5EF4-FFF2-40B4-BE49-F238E27FC236}">
                <a16:creationId xmlns:a16="http://schemas.microsoft.com/office/drawing/2014/main" id="{2803FA5D-D4D0-4E11-B63A-80035E48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sp>
        <p:nvSpPr>
          <p:cNvPr id="11" name="text-66">
            <a:extLst xmlns:a="http://schemas.openxmlformats.org/drawingml/2006/main">
              <a:ext uri="{FF2B5EF4-FFF2-40B4-BE49-F238E27FC236}">
                <a16:creationId xmlns:a16="http://schemas.microsoft.com/office/drawing/2014/main" id="{A7AB5391-BCFF-4BA9-A33F-FA275AF5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05350"/>
            <a:ext cx="5686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Kreativlik muhim</a:t>
            </a:r>
          </a:p>
        </p:txBody>
      </p:sp>
      <p:sp>
        <p:nvSpPr>
          <p:cNvPr id="12" name="text-67">
            <a:extLst xmlns:a="http://schemas.openxmlformats.org/drawingml/2006/main">
              <a:ext uri="{FF2B5EF4-FFF2-40B4-BE49-F238E27FC236}">
                <a16:creationId xmlns:a16="http://schemas.microsoft.com/office/drawing/2014/main" id="{94D86BA4-0B62-4BB1-B0CA-9D77B20F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86375"/>
            <a:ext cx="5686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Kreativ yondashuv loyihangizning</a:t>
            </a:r>
          </a:p>
          <a:p xmlns:a="http://schemas.openxmlformats.org/drawingml/2006/main">
            <a:pPr algn="l">
              <a:def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eng muhim tarkibiy qismlaridan biri.</a:t>
            </a:r>
          </a:p>
        </p:txBody>
      </p:sp>
      <p:sp>
        <p:nvSpPr>
          <p:cNvPr id="13" name="text-68">
            <a:extLst xmlns:a="http://schemas.openxmlformats.org/drawingml/2006/main">
              <a:ext uri="{FF2B5EF4-FFF2-40B4-BE49-F238E27FC236}">
                <a16:creationId xmlns:a16="http://schemas.microsoft.com/office/drawing/2014/main" id="{E505B2AC-0A0B-4971-8F80-5E37178D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339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04</a:t>
            </a:r>
          </a:p>
        </p:txBody>
      </p:sp>
      <p:sp>
        <p:nvSpPr>
          <p:cNvPr id="14" name="text-69">
            <a:extLst xmlns:a="http://schemas.openxmlformats.org/drawingml/2006/main">
              <a:ext uri="{FF2B5EF4-FFF2-40B4-BE49-F238E27FC236}">
                <a16:creationId xmlns:a16="http://schemas.microsoft.com/office/drawing/2014/main" id="{291F031A-B7A9-40CA-B27D-421639E6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05350"/>
            <a:ext cx="554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Ochiq kodli modellar</a:t>
            </a:r>
          </a:p>
        </p:txBody>
      </p:sp>
      <p:sp>
        <p:nvSpPr>
          <p:cNvPr id="15" name="text-70">
            <a:extLst xmlns:a="http://schemas.openxmlformats.org/drawingml/2006/main">
              <a:ext uri="{FF2B5EF4-FFF2-40B4-BE49-F238E27FC236}">
                <a16:creationId xmlns:a16="http://schemas.microsoft.com/office/drawing/2014/main" id="{789ADF43-C08E-4243-8E0C-39BD27A2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86375"/>
            <a:ext cx="5543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Open-source modellardan</a:t>
            </a:r>
          </a:p>
          <a:p xmlns:a="http://schemas.openxmlformats.org/drawingml/2006/main">
            <a:pPr algn="l">
              <a:def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foydalanishingiz mumkin.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55A02-1459-4C53-BC6A-BEC7DCF7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72275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414C"/>
            </a:solidFill>
          </a:ln>
        </p:spPr>
      </p:sp>
      <p:sp>
        <p:nvSpPr>
          <p:cNvPr id="17" name="text-71">
            <a:extLst xmlns:a="http://schemas.openxmlformats.org/drawingml/2006/main">
              <a:ext uri="{FF2B5EF4-FFF2-40B4-BE49-F238E27FC236}">
                <a16:creationId xmlns:a16="http://schemas.microsoft.com/office/drawing/2014/main" id="{570B2DE7-63B7-4A9D-99F2-FCAE36F1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91375"/>
            <a:ext cx="1343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Oldindan tayyor loyihalar qabul qilinmaydi. Biz ishlab chiqish jarayonini tekshiramiz.</a:t>
            </a:r>
          </a:p>
        </p:txBody>
      </p:sp>
    </p:spTree>
    <p:extLst>
      <p:ext uri="{BB962C8B-B14F-4D97-AF65-F5344CB8AC3E}">
        <p14:creationId xmlns:p14="http://schemas.microsoft.com/office/powerpoint/2010/main" val="775982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72">
            <a:extLst xmlns:a="http://schemas.openxmlformats.org/drawingml/2006/main">
              <a:ext uri="{FF2B5EF4-FFF2-40B4-BE49-F238E27FC236}">
                <a16:creationId xmlns:a16="http://schemas.microsoft.com/office/drawing/2014/main" id="{B13851C0-9102-4864-92AB-31D0FC18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Xakaton jadvali: 17–18 sentabr</a:t>
            </a:r>
          </a:p>
        </p:txBody>
      </p:sp>
      <p:sp>
        <p:nvSpPr>
          <p:cNvPr id="2" name="text-73">
            <a:extLst xmlns:a="http://schemas.openxmlformats.org/drawingml/2006/main">
              <a:ext uri="{FF2B5EF4-FFF2-40B4-BE49-F238E27FC236}">
                <a16:creationId xmlns:a16="http://schemas.microsoft.com/office/drawing/2014/main" id="{CADE32CB-63BD-440F-A40C-52E2E4E9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74">
            <a:extLst xmlns:a="http://schemas.openxmlformats.org/drawingml/2006/main">
              <a:ext uri="{FF2B5EF4-FFF2-40B4-BE49-F238E27FC236}">
                <a16:creationId xmlns:a16="http://schemas.microsoft.com/office/drawing/2014/main" id="{289C78D2-9C68-458C-A44D-943A319E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07</a:t>
            </a:r>
          </a:p>
        </p:txBody>
      </p:sp>
      <p:sp>
        <p:nvSpPr>
          <p:cNvPr id="4" name="text-75">
            <a:extLst xmlns:a="http://schemas.openxmlformats.org/drawingml/2006/main">
              <a:ext uri="{FF2B5EF4-FFF2-40B4-BE49-F238E27FC236}">
                <a16:creationId xmlns:a16="http://schemas.microsoft.com/office/drawing/2014/main" id="{A773047F-4DF5-4BC5-A30B-A9FFE84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1-KUN</a:t>
            </a:r>
          </a:p>
        </p:txBody>
      </p:sp>
      <p:sp>
        <p:nvSpPr>
          <p:cNvPr id="5" name="text-76">
            <a:extLst xmlns:a="http://schemas.openxmlformats.org/drawingml/2006/main">
              <a:ext uri="{FF2B5EF4-FFF2-40B4-BE49-F238E27FC236}">
                <a16:creationId xmlns:a16="http://schemas.microsoft.com/office/drawing/2014/main" id="{D823918F-8884-4168-9224-E9EA124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60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17 sentabr</a:t>
            </a:r>
          </a:p>
        </p:txBody>
      </p:sp>
      <p:sp>
        <p:nvSpPr>
          <p:cNvPr id="6" name="text-77">
            <a:extLst xmlns:a="http://schemas.openxmlformats.org/drawingml/2006/main">
              <a:ext uri="{FF2B5EF4-FFF2-40B4-BE49-F238E27FC236}">
                <a16:creationId xmlns:a16="http://schemas.microsoft.com/office/drawing/2014/main" id="{F03ED3A0-CEE5-474F-A4EA-84D96E9B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638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Ochilish va tayyorgarlik</a:t>
            </a:r>
          </a:p>
        </p:txBody>
      </p:sp>
      <p:sp>
        <p:nvSpPr>
          <p:cNvPr id="7" name="text-78">
            <a:extLst xmlns:a="http://schemas.openxmlformats.org/drawingml/2006/main">
              <a:ext uri="{FF2B5EF4-FFF2-40B4-BE49-F238E27FC236}">
                <a16:creationId xmlns:a16="http://schemas.microsoft.com/office/drawing/2014/main" id="{EE7C73E6-6DCE-4BCD-8BC6-5FA3B4B6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10:00–11:00</a:t>
            </a:r>
          </a:p>
        </p:txBody>
      </p:sp>
      <p:sp>
        <p:nvSpPr>
          <p:cNvPr id="8" name="text-79">
            <a:extLst xmlns:a="http://schemas.openxmlformats.org/drawingml/2006/main">
              <a:ext uri="{FF2B5EF4-FFF2-40B4-BE49-F238E27FC236}">
                <a16:creationId xmlns:a16="http://schemas.microsoft.com/office/drawing/2014/main" id="{C7DFF06A-92B8-48FF-A9E2-3785E019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00525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Ro‘yxatdan o‘tish</a:t>
            </a:r>
          </a:p>
        </p:txBody>
      </p:sp>
      <p:sp>
        <p:nvSpPr>
          <p:cNvPr id="9" name="text-80">
            <a:extLst xmlns:a="http://schemas.openxmlformats.org/drawingml/2006/main">
              <a:ext uri="{FF2B5EF4-FFF2-40B4-BE49-F238E27FC236}">
                <a16:creationId xmlns:a16="http://schemas.microsoft.com/office/drawing/2014/main" id="{3289F035-46C7-411F-BEAB-18E2ED9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11:00–11:45</a:t>
            </a:r>
          </a:p>
        </p:txBody>
      </p:sp>
      <p:sp>
        <p:nvSpPr>
          <p:cNvPr id="10" name="text-81">
            <a:extLst xmlns:a="http://schemas.openxmlformats.org/drawingml/2006/main">
              <a:ext uri="{FF2B5EF4-FFF2-40B4-BE49-F238E27FC236}">
                <a16:creationId xmlns:a16="http://schemas.microsoft.com/office/drawing/2014/main" id="{E3D9A993-3EC5-4ECC-B68C-89963F91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667250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Ochilish va mexanika</a:t>
            </a:r>
          </a:p>
        </p:txBody>
      </p:sp>
      <p:sp>
        <p:nvSpPr>
          <p:cNvPr id="11" name="text-82">
            <a:extLst xmlns:a="http://schemas.openxmlformats.org/drawingml/2006/main">
              <a:ext uri="{FF2B5EF4-FFF2-40B4-BE49-F238E27FC236}">
                <a16:creationId xmlns:a16="http://schemas.microsoft.com/office/drawing/2014/main" id="{8DF4B779-C5D4-4191-9C41-9EB21A43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339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11:45–13:00</a:t>
            </a:r>
          </a:p>
        </p:txBody>
      </p:sp>
      <p:sp>
        <p:nvSpPr>
          <p:cNvPr id="12" name="text-83">
            <a:extLst xmlns:a="http://schemas.openxmlformats.org/drawingml/2006/main">
              <a:ext uri="{FF2B5EF4-FFF2-40B4-BE49-F238E27FC236}">
                <a16:creationId xmlns:a16="http://schemas.microsoft.com/office/drawing/2014/main" id="{3BD6683E-8CAB-4C49-A7CD-1AAF2953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133975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Biznes bo‘yicha vorkshop</a:t>
            </a:r>
          </a:p>
        </p:txBody>
      </p:sp>
      <p:sp>
        <p:nvSpPr>
          <p:cNvPr id="13" name="text-84">
            <a:extLst xmlns:a="http://schemas.openxmlformats.org/drawingml/2006/main">
              <a:ext uri="{FF2B5EF4-FFF2-40B4-BE49-F238E27FC236}">
                <a16:creationId xmlns:a16="http://schemas.microsoft.com/office/drawing/2014/main" id="{92F89E68-B077-4EF4-9BC1-DE07A8E0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13:00–14:00</a:t>
            </a:r>
          </a:p>
        </p:txBody>
      </p:sp>
      <p:sp>
        <p:nvSpPr>
          <p:cNvPr id="14" name="text-85">
            <a:extLst xmlns:a="http://schemas.openxmlformats.org/drawingml/2006/main">
              <a:ext uri="{FF2B5EF4-FFF2-40B4-BE49-F238E27FC236}">
                <a16:creationId xmlns:a16="http://schemas.microsoft.com/office/drawing/2014/main" id="{C1150A7E-5F65-4DD6-A3A0-BECD2656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600700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Tushlik</a:t>
            </a:r>
          </a:p>
        </p:txBody>
      </p:sp>
      <p:sp>
        <p:nvSpPr>
          <p:cNvPr id="15" name="text-86">
            <a:extLst xmlns:a="http://schemas.openxmlformats.org/drawingml/2006/main">
              <a:ext uri="{FF2B5EF4-FFF2-40B4-BE49-F238E27FC236}">
                <a16:creationId xmlns:a16="http://schemas.microsoft.com/office/drawing/2014/main" id="{7A2BA70D-86DD-4B7A-90F5-657F4489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674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14:00–15:00</a:t>
            </a:r>
          </a:p>
        </p:txBody>
      </p:sp>
      <p:sp>
        <p:nvSpPr>
          <p:cNvPr id="16" name="text-87">
            <a:extLst xmlns:a="http://schemas.openxmlformats.org/drawingml/2006/main">
              <a:ext uri="{FF2B5EF4-FFF2-40B4-BE49-F238E27FC236}">
                <a16:creationId xmlns:a16="http://schemas.microsoft.com/office/drawing/2014/main" id="{9170680A-A651-4AF7-ABE0-12D85D74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6067425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AI va vaybkoding</a:t>
            </a:r>
          </a:p>
        </p:txBody>
      </p:sp>
      <p:sp>
        <p:nvSpPr>
          <p:cNvPr id="17" name="text-88">
            <a:extLst xmlns:a="http://schemas.openxmlformats.org/drawingml/2006/main">
              <a:ext uri="{FF2B5EF4-FFF2-40B4-BE49-F238E27FC236}">
                <a16:creationId xmlns:a16="http://schemas.microsoft.com/office/drawing/2014/main" id="{832FBD8C-8868-486A-9C15-60A592B9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3415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15:00–17:00</a:t>
            </a:r>
          </a:p>
        </p:txBody>
      </p:sp>
      <p:sp>
        <p:nvSpPr>
          <p:cNvPr id="18" name="text-89">
            <a:extLst xmlns:a="http://schemas.openxmlformats.org/drawingml/2006/main">
              <a:ext uri="{FF2B5EF4-FFF2-40B4-BE49-F238E27FC236}">
                <a16:creationId xmlns:a16="http://schemas.microsoft.com/office/drawing/2014/main" id="{097EA81D-8B56-4C32-A4E6-FDC1D250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6534150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Jamoalar va trek tanlash</a:t>
            </a:r>
          </a:p>
        </p:txBody>
      </p:sp>
      <p:sp>
        <p:nvSpPr>
          <p:cNvPr id="19" name="text-90">
            <a:extLst xmlns:a="http://schemas.openxmlformats.org/drawingml/2006/main">
              <a:ext uri="{FF2B5EF4-FFF2-40B4-BE49-F238E27FC236}">
                <a16:creationId xmlns:a16="http://schemas.microsoft.com/office/drawing/2014/main" id="{6EAE1E57-84A3-47A4-BC0E-D5A472CA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47900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2-KUN</a:t>
            </a:r>
          </a:p>
        </p:txBody>
      </p:sp>
      <p:sp>
        <p:nvSpPr>
          <p:cNvPr id="20" name="text-91">
            <a:extLst xmlns:a="http://schemas.openxmlformats.org/drawingml/2006/main">
              <a:ext uri="{FF2B5EF4-FFF2-40B4-BE49-F238E27FC236}">
                <a16:creationId xmlns:a16="http://schemas.microsoft.com/office/drawing/2014/main" id="{AF2074FF-C751-4C4E-BEBA-08B99D9F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60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18 sentabr</a:t>
            </a:r>
          </a:p>
        </p:txBody>
      </p:sp>
      <p:sp>
        <p:nvSpPr>
          <p:cNvPr id="21" name="text-92">
            <a:extLst xmlns:a="http://schemas.openxmlformats.org/drawingml/2006/main">
              <a:ext uri="{FF2B5EF4-FFF2-40B4-BE49-F238E27FC236}">
                <a16:creationId xmlns:a16="http://schemas.microsoft.com/office/drawing/2014/main" id="{3110CD7B-2434-41A3-825C-38F57A6D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638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Checkpoint 1</a:t>
            </a:r>
          </a:p>
        </p:txBody>
      </p:sp>
      <p:sp>
        <p:nvSpPr>
          <p:cNvPr id="22" name="text-93">
            <a:extLst xmlns:a="http://schemas.openxmlformats.org/drawingml/2006/main">
              <a:ext uri="{FF2B5EF4-FFF2-40B4-BE49-F238E27FC236}">
                <a16:creationId xmlns:a16="http://schemas.microsoft.com/office/drawing/2014/main" id="{E9077383-3E1C-410D-B4ED-8C910447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005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09:00–10:00</a:t>
            </a:r>
          </a:p>
        </p:txBody>
      </p:sp>
      <p:sp>
        <p:nvSpPr>
          <p:cNvPr id="23" name="text-94">
            <a:extLst xmlns:a="http://schemas.openxmlformats.org/drawingml/2006/main">
              <a:ext uri="{FF2B5EF4-FFF2-40B4-BE49-F238E27FC236}">
                <a16:creationId xmlns:a16="http://schemas.microsoft.com/office/drawing/2014/main" id="{9FF59BE4-6834-42BE-9E49-CF329591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200525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Ro‘yxat va erkin ish</a:t>
            </a:r>
          </a:p>
        </p:txBody>
      </p:sp>
      <p:sp>
        <p:nvSpPr>
          <p:cNvPr id="24" name="text-95">
            <a:extLst xmlns:a="http://schemas.openxmlformats.org/drawingml/2006/main">
              <a:ext uri="{FF2B5EF4-FFF2-40B4-BE49-F238E27FC236}">
                <a16:creationId xmlns:a16="http://schemas.microsoft.com/office/drawing/2014/main" id="{9EE556E4-CAC5-405E-BC2F-01821630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10:00–13:00</a:t>
            </a:r>
          </a:p>
        </p:txBody>
      </p:sp>
      <p:sp>
        <p:nvSpPr>
          <p:cNvPr id="25" name="text-96">
            <a:extLst xmlns:a="http://schemas.openxmlformats.org/drawingml/2006/main">
              <a:ext uri="{FF2B5EF4-FFF2-40B4-BE49-F238E27FC236}">
                <a16:creationId xmlns:a16="http://schemas.microsoft.com/office/drawing/2014/main" id="{CC5535B0-594D-4644-A036-6859CDF1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667250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Mentorlar va loyiha ustida ish</a:t>
            </a:r>
          </a:p>
        </p:txBody>
      </p:sp>
      <p:sp>
        <p:nvSpPr>
          <p:cNvPr id="26" name="text-97">
            <a:extLst xmlns:a="http://schemas.openxmlformats.org/drawingml/2006/main">
              <a:ext uri="{FF2B5EF4-FFF2-40B4-BE49-F238E27FC236}">
                <a16:creationId xmlns:a16="http://schemas.microsoft.com/office/drawing/2014/main" id="{395BC5DD-1522-4BA3-B23B-AFEE3E34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339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13:00–14:00</a:t>
            </a:r>
          </a:p>
        </p:txBody>
      </p:sp>
      <p:sp>
        <p:nvSpPr>
          <p:cNvPr id="27" name="text-98">
            <a:extLst xmlns:a="http://schemas.openxmlformats.org/drawingml/2006/main">
              <a:ext uri="{FF2B5EF4-FFF2-40B4-BE49-F238E27FC236}">
                <a16:creationId xmlns:a16="http://schemas.microsoft.com/office/drawing/2014/main" id="{F4F73B6C-C9EC-4D86-9BAD-B87B75C7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133975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Tushlik</a:t>
            </a:r>
          </a:p>
        </p:txBody>
      </p:sp>
      <p:sp>
        <p:nvSpPr>
          <p:cNvPr id="28" name="text-99">
            <a:extLst xmlns:a="http://schemas.openxmlformats.org/drawingml/2006/main">
              <a:ext uri="{FF2B5EF4-FFF2-40B4-BE49-F238E27FC236}">
                <a16:creationId xmlns:a16="http://schemas.microsoft.com/office/drawing/2014/main" id="{EE024AC3-D945-41C4-816E-C31903FC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0070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14:00–18:00</a:t>
            </a:r>
          </a:p>
        </p:txBody>
      </p:sp>
      <p:sp>
        <p:nvSpPr>
          <p:cNvPr id="29" name="text-100">
            <a:extLst xmlns:a="http://schemas.openxmlformats.org/drawingml/2006/main">
              <a:ext uri="{FF2B5EF4-FFF2-40B4-BE49-F238E27FC236}">
                <a16:creationId xmlns:a16="http://schemas.microsoft.com/office/drawing/2014/main" id="{DAA60462-3A75-4064-BEE3-659CE483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600700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Checkpoint 1</a:t>
            </a:r>
          </a:p>
        </p:txBody>
      </p:sp>
      <p:sp>
        <p:nvSpPr>
          <p:cNvPr id="30" name="text-101">
            <a:extLst xmlns:a="http://schemas.openxmlformats.org/drawingml/2006/main">
              <a:ext uri="{FF2B5EF4-FFF2-40B4-BE49-F238E27FC236}">
                <a16:creationId xmlns:a16="http://schemas.microsoft.com/office/drawing/2014/main" id="{156B2C7B-4135-4229-8896-C304B554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0674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18:00–19:00</a:t>
            </a:r>
          </a:p>
        </p:txBody>
      </p:sp>
      <p:sp>
        <p:nvSpPr>
          <p:cNvPr id="31" name="text-102">
            <a:extLst xmlns:a="http://schemas.openxmlformats.org/drawingml/2006/main">
              <a:ext uri="{FF2B5EF4-FFF2-40B4-BE49-F238E27FC236}">
                <a16:creationId xmlns:a16="http://schemas.microsoft.com/office/drawing/2014/main" id="{A4E62D55-4983-4F6B-92AB-A47D59F9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067425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Kechki ovqat</a:t>
            </a:r>
          </a:p>
        </p:txBody>
      </p:sp>
      <p:sp>
        <p:nvSpPr>
          <p:cNvPr id="32" name="text-103">
            <a:extLst xmlns:a="http://schemas.openxmlformats.org/drawingml/2006/main">
              <a:ext uri="{FF2B5EF4-FFF2-40B4-BE49-F238E27FC236}">
                <a16:creationId xmlns:a16="http://schemas.microsoft.com/office/drawing/2014/main" id="{F62B7E1C-B19B-4A9B-BB26-20E60533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53415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19:00–21:00</a:t>
            </a:r>
          </a:p>
        </p:txBody>
      </p:sp>
      <p:sp>
        <p:nvSpPr>
          <p:cNvPr id="33" name="text-104">
            <a:extLst xmlns:a="http://schemas.openxmlformats.org/drawingml/2006/main">
              <a:ext uri="{FF2B5EF4-FFF2-40B4-BE49-F238E27FC236}">
                <a16:creationId xmlns:a16="http://schemas.microsoft.com/office/drawing/2014/main" id="{98E0C8D2-1669-4D40-B90A-94C4C453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534150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Erkin ish</a:t>
            </a:r>
          </a:p>
        </p:txBody>
      </p:sp>
    </p:spTree>
    <p:extLst>
      <p:ext uri="{BB962C8B-B14F-4D97-AF65-F5344CB8AC3E}">
        <p14:creationId xmlns:p14="http://schemas.microsoft.com/office/powerpoint/2010/main" val="15427101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05">
            <a:extLst xmlns:a="http://schemas.openxmlformats.org/drawingml/2006/main">
              <a:ext uri="{FF2B5EF4-FFF2-40B4-BE49-F238E27FC236}">
                <a16:creationId xmlns:a16="http://schemas.microsoft.com/office/drawing/2014/main" id="{C894E098-AC13-46C7-9595-976358A0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Xakaton jadvali: 19–20 sentabr</a:t>
            </a:r>
          </a:p>
        </p:txBody>
      </p:sp>
      <p:sp>
        <p:nvSpPr>
          <p:cNvPr id="2" name="text-106">
            <a:extLst xmlns:a="http://schemas.openxmlformats.org/drawingml/2006/main">
              <a:ext uri="{FF2B5EF4-FFF2-40B4-BE49-F238E27FC236}">
                <a16:creationId xmlns:a16="http://schemas.microsoft.com/office/drawing/2014/main" id="{CA988B7D-BB52-4724-9520-CED427CC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107">
            <a:extLst xmlns:a="http://schemas.openxmlformats.org/drawingml/2006/main">
              <a:ext uri="{FF2B5EF4-FFF2-40B4-BE49-F238E27FC236}">
                <a16:creationId xmlns:a16="http://schemas.microsoft.com/office/drawing/2014/main" id="{6238C6E8-399E-4A86-8F6D-A4881BCA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08</a:t>
            </a:r>
          </a:p>
        </p:txBody>
      </p:sp>
      <p:sp>
        <p:nvSpPr>
          <p:cNvPr id="4" name="text-108">
            <a:extLst xmlns:a="http://schemas.openxmlformats.org/drawingml/2006/main">
              <a:ext uri="{FF2B5EF4-FFF2-40B4-BE49-F238E27FC236}">
                <a16:creationId xmlns:a16="http://schemas.microsoft.com/office/drawing/2014/main" id="{66587A0A-4DCA-4190-9ECA-575DF2D5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3-KUN</a:t>
            </a:r>
          </a:p>
        </p:txBody>
      </p:sp>
      <p:sp>
        <p:nvSpPr>
          <p:cNvPr id="5" name="text-109">
            <a:extLst xmlns:a="http://schemas.openxmlformats.org/drawingml/2006/main">
              <a:ext uri="{FF2B5EF4-FFF2-40B4-BE49-F238E27FC236}">
                <a16:creationId xmlns:a16="http://schemas.microsoft.com/office/drawing/2014/main" id="{D189EAD2-61B5-4A24-ADF4-83E86B2E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360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19 sentabr</a:t>
            </a:r>
          </a:p>
        </p:txBody>
      </p:sp>
      <p:sp>
        <p:nvSpPr>
          <p:cNvPr id="6" name="text-110">
            <a:extLst xmlns:a="http://schemas.openxmlformats.org/drawingml/2006/main">
              <a:ext uri="{FF2B5EF4-FFF2-40B4-BE49-F238E27FC236}">
                <a16:creationId xmlns:a16="http://schemas.microsoft.com/office/drawing/2014/main" id="{03A6BA34-D3A4-48AF-9BFB-1F8E5F2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638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Checkpoint 2</a:t>
            </a:r>
          </a:p>
        </p:txBody>
      </p:sp>
      <p:sp>
        <p:nvSpPr>
          <p:cNvPr id="7" name="text-111">
            <a:extLst xmlns:a="http://schemas.openxmlformats.org/drawingml/2006/main">
              <a:ext uri="{FF2B5EF4-FFF2-40B4-BE49-F238E27FC236}">
                <a16:creationId xmlns:a16="http://schemas.microsoft.com/office/drawing/2014/main" id="{72AB5DA3-8B7F-4242-9AFB-F73D820C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09:00–10:00</a:t>
            </a:r>
          </a:p>
        </p:txBody>
      </p:sp>
      <p:sp>
        <p:nvSpPr>
          <p:cNvPr id="8" name="text-112">
            <a:extLst xmlns:a="http://schemas.openxmlformats.org/drawingml/2006/main">
              <a:ext uri="{FF2B5EF4-FFF2-40B4-BE49-F238E27FC236}">
                <a16:creationId xmlns:a16="http://schemas.microsoft.com/office/drawing/2014/main" id="{400908B8-C647-4D2F-9475-E1632BA8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00525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Ro‘yxat va erkin ish</a:t>
            </a:r>
          </a:p>
        </p:txBody>
      </p:sp>
      <p:sp>
        <p:nvSpPr>
          <p:cNvPr id="9" name="text-113">
            <a:extLst xmlns:a="http://schemas.openxmlformats.org/drawingml/2006/main">
              <a:ext uri="{FF2B5EF4-FFF2-40B4-BE49-F238E27FC236}">
                <a16:creationId xmlns:a16="http://schemas.microsoft.com/office/drawing/2014/main" id="{535480AE-4CA2-48BD-AC78-50EBB92D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10:00–11:00</a:t>
            </a:r>
          </a:p>
        </p:txBody>
      </p:sp>
      <p:sp>
        <p:nvSpPr>
          <p:cNvPr id="10" name="text-114">
            <a:extLst xmlns:a="http://schemas.openxmlformats.org/drawingml/2006/main">
              <a:ext uri="{FF2B5EF4-FFF2-40B4-BE49-F238E27FC236}">
                <a16:creationId xmlns:a16="http://schemas.microsoft.com/office/drawing/2014/main" id="{87EBFDF7-9D37-4189-8CB0-6B1F3D6E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667250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Pitching san’ati</a:t>
            </a:r>
          </a:p>
        </p:txBody>
      </p:sp>
      <p:sp>
        <p:nvSpPr>
          <p:cNvPr id="11" name="text-115">
            <a:extLst xmlns:a="http://schemas.openxmlformats.org/drawingml/2006/main">
              <a:ext uri="{FF2B5EF4-FFF2-40B4-BE49-F238E27FC236}">
                <a16:creationId xmlns:a16="http://schemas.microsoft.com/office/drawing/2014/main" id="{FC335B82-1A9C-4E98-8FA3-37D24917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339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11:00–14:00</a:t>
            </a:r>
          </a:p>
        </p:txBody>
      </p:sp>
      <p:sp>
        <p:nvSpPr>
          <p:cNvPr id="12" name="text-116">
            <a:extLst xmlns:a="http://schemas.openxmlformats.org/drawingml/2006/main">
              <a:ext uri="{FF2B5EF4-FFF2-40B4-BE49-F238E27FC236}">
                <a16:creationId xmlns:a16="http://schemas.microsoft.com/office/drawing/2014/main" id="{7B534B05-F583-405F-9881-9B6E4B9E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133975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Mentorlar va tushlik</a:t>
            </a:r>
          </a:p>
        </p:txBody>
      </p:sp>
      <p:sp>
        <p:nvSpPr>
          <p:cNvPr id="13" name="text-117">
            <a:extLst xmlns:a="http://schemas.openxmlformats.org/drawingml/2006/main">
              <a:ext uri="{FF2B5EF4-FFF2-40B4-BE49-F238E27FC236}">
                <a16:creationId xmlns:a16="http://schemas.microsoft.com/office/drawing/2014/main" id="{5211D2B1-6525-4BFB-9CBA-70DBAFA7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14:00–18:00</a:t>
            </a:r>
          </a:p>
        </p:txBody>
      </p:sp>
      <p:sp>
        <p:nvSpPr>
          <p:cNvPr id="14" name="text-118">
            <a:extLst xmlns:a="http://schemas.openxmlformats.org/drawingml/2006/main">
              <a:ext uri="{FF2B5EF4-FFF2-40B4-BE49-F238E27FC236}">
                <a16:creationId xmlns:a16="http://schemas.microsoft.com/office/drawing/2014/main" id="{DBE80C28-A4C9-4184-8D20-40C418D7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600700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CP2, taqdimot va GitHub</a:t>
            </a:r>
          </a:p>
        </p:txBody>
      </p:sp>
      <p:sp>
        <p:nvSpPr>
          <p:cNvPr id="15" name="text-119">
            <a:extLst xmlns:a="http://schemas.openxmlformats.org/drawingml/2006/main">
              <a:ext uri="{FF2B5EF4-FFF2-40B4-BE49-F238E27FC236}">
                <a16:creationId xmlns:a16="http://schemas.microsoft.com/office/drawing/2014/main" id="{5BCF5D72-41C1-4B1D-8606-E25BBF10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674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18:00–19:00</a:t>
            </a:r>
          </a:p>
        </p:txBody>
      </p:sp>
      <p:sp>
        <p:nvSpPr>
          <p:cNvPr id="16" name="text-120">
            <a:extLst xmlns:a="http://schemas.openxmlformats.org/drawingml/2006/main">
              <a:ext uri="{FF2B5EF4-FFF2-40B4-BE49-F238E27FC236}">
                <a16:creationId xmlns:a16="http://schemas.microsoft.com/office/drawing/2014/main" id="{4063A2A0-647F-4B4A-839A-23698005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6067425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Kechki ovqat</a:t>
            </a:r>
          </a:p>
        </p:txBody>
      </p:sp>
      <p:sp>
        <p:nvSpPr>
          <p:cNvPr id="17" name="text-121">
            <a:extLst xmlns:a="http://schemas.openxmlformats.org/drawingml/2006/main">
              <a:ext uri="{FF2B5EF4-FFF2-40B4-BE49-F238E27FC236}">
                <a16:creationId xmlns:a16="http://schemas.microsoft.com/office/drawing/2014/main" id="{67A74E8C-EB47-4CFA-9833-5179748F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3415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19:00–19:30</a:t>
            </a:r>
          </a:p>
        </p:txBody>
      </p:sp>
      <p:sp>
        <p:nvSpPr>
          <p:cNvPr id="18" name="text-122">
            <a:extLst xmlns:a="http://schemas.openxmlformats.org/drawingml/2006/main">
              <a:ext uri="{FF2B5EF4-FFF2-40B4-BE49-F238E27FC236}">
                <a16:creationId xmlns:a16="http://schemas.microsoft.com/office/drawing/2014/main" id="{75396849-93DF-4604-B310-A5CC5C1D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6534150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Top-15 e’loni</a:t>
            </a:r>
          </a:p>
        </p:txBody>
      </p:sp>
      <p:sp>
        <p:nvSpPr>
          <p:cNvPr id="19" name="text-123">
            <a:extLst xmlns:a="http://schemas.openxmlformats.org/drawingml/2006/main">
              <a:ext uri="{FF2B5EF4-FFF2-40B4-BE49-F238E27FC236}">
                <a16:creationId xmlns:a16="http://schemas.microsoft.com/office/drawing/2014/main" id="{4023346F-7DE9-4F07-B9F0-BAA11512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008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19:30–21:00</a:t>
            </a:r>
          </a:p>
        </p:txBody>
      </p:sp>
      <p:sp>
        <p:nvSpPr>
          <p:cNvPr id="20" name="text-124">
            <a:extLst xmlns:a="http://schemas.openxmlformats.org/drawingml/2006/main">
              <a:ext uri="{FF2B5EF4-FFF2-40B4-BE49-F238E27FC236}">
                <a16:creationId xmlns:a16="http://schemas.microsoft.com/office/drawing/2014/main" id="{A74F2E0C-CA46-42B6-94A3-0EDC766F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7000875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Finalga tayyorgarlik va video</a:t>
            </a:r>
          </a:p>
        </p:txBody>
      </p:sp>
      <p:sp>
        <p:nvSpPr>
          <p:cNvPr id="21" name="text-125">
            <a:extLst xmlns:a="http://schemas.openxmlformats.org/drawingml/2006/main">
              <a:ext uri="{FF2B5EF4-FFF2-40B4-BE49-F238E27FC236}">
                <a16:creationId xmlns:a16="http://schemas.microsoft.com/office/drawing/2014/main" id="{2FB23D34-BB9E-4820-BCDD-2FF87043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47900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4-KUN</a:t>
            </a:r>
          </a:p>
        </p:txBody>
      </p:sp>
      <p:sp>
        <p:nvSpPr>
          <p:cNvPr id="22" name="text-126">
            <a:extLst xmlns:a="http://schemas.openxmlformats.org/drawingml/2006/main">
              <a:ext uri="{FF2B5EF4-FFF2-40B4-BE49-F238E27FC236}">
                <a16:creationId xmlns:a16="http://schemas.microsoft.com/office/drawing/2014/main" id="{720B1A95-52B9-4EB2-BD10-3DB20333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360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20 sentabr</a:t>
            </a:r>
          </a:p>
        </p:txBody>
      </p:sp>
      <p:sp>
        <p:nvSpPr>
          <p:cNvPr id="23" name="text-127">
            <a:extLst xmlns:a="http://schemas.openxmlformats.org/drawingml/2006/main">
              <a:ext uri="{FF2B5EF4-FFF2-40B4-BE49-F238E27FC236}">
                <a16:creationId xmlns:a16="http://schemas.microsoft.com/office/drawing/2014/main" id="{13177C46-B197-408C-A4F1-D39F7B18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638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Final</a:t>
            </a:r>
          </a:p>
        </p:txBody>
      </p:sp>
      <p:sp>
        <p:nvSpPr>
          <p:cNvPr id="24" name="text-128">
            <a:extLst xmlns:a="http://schemas.openxmlformats.org/drawingml/2006/main">
              <a:ext uri="{FF2B5EF4-FFF2-40B4-BE49-F238E27FC236}">
                <a16:creationId xmlns:a16="http://schemas.microsoft.com/office/drawing/2014/main" id="{32731338-B1B4-4BE8-B1B4-05387714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005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09:00–09:30</a:t>
            </a:r>
          </a:p>
        </p:txBody>
      </p:sp>
      <p:sp>
        <p:nvSpPr>
          <p:cNvPr id="25" name="text-129">
            <a:extLst xmlns:a="http://schemas.openxmlformats.org/drawingml/2006/main">
              <a:ext uri="{FF2B5EF4-FFF2-40B4-BE49-F238E27FC236}">
                <a16:creationId xmlns:a16="http://schemas.microsoft.com/office/drawing/2014/main" id="{128618E0-1352-4076-9B1C-8F89E2CB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200525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Ochilish va hakamlar</a:t>
            </a:r>
          </a:p>
        </p:txBody>
      </p:sp>
      <p:sp>
        <p:nvSpPr>
          <p:cNvPr id="26" name="text-130">
            <a:extLst xmlns:a="http://schemas.openxmlformats.org/drawingml/2006/main">
              <a:ext uri="{FF2B5EF4-FFF2-40B4-BE49-F238E27FC236}">
                <a16:creationId xmlns:a16="http://schemas.microsoft.com/office/drawing/2014/main" id="{3ACC9239-0A77-41D3-AF23-74FC05E7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09:30–12:50</a:t>
            </a:r>
          </a:p>
        </p:txBody>
      </p:sp>
      <p:sp>
        <p:nvSpPr>
          <p:cNvPr id="27" name="text-131">
            <a:extLst xmlns:a="http://schemas.openxmlformats.org/drawingml/2006/main">
              <a:ext uri="{FF2B5EF4-FFF2-40B4-BE49-F238E27FC236}">
                <a16:creationId xmlns:a16="http://schemas.microsoft.com/office/drawing/2014/main" id="{CE9F2018-1AD4-45DD-911E-85160DA9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667250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Finalistlar taqdimotlari</a:t>
            </a:r>
          </a:p>
        </p:txBody>
      </p:sp>
      <p:sp>
        <p:nvSpPr>
          <p:cNvPr id="28" name="text-132">
            <a:extLst xmlns:a="http://schemas.openxmlformats.org/drawingml/2006/main">
              <a:ext uri="{FF2B5EF4-FFF2-40B4-BE49-F238E27FC236}">
                <a16:creationId xmlns:a16="http://schemas.microsoft.com/office/drawing/2014/main" id="{D437672F-E3D1-401F-A424-CDBECCEC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339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13:30–14:00</a:t>
            </a:r>
          </a:p>
        </p:txBody>
      </p:sp>
      <p:sp>
        <p:nvSpPr>
          <p:cNvPr id="29" name="text-133">
            <a:extLst xmlns:a="http://schemas.openxmlformats.org/drawingml/2006/main">
              <a:ext uri="{FF2B5EF4-FFF2-40B4-BE49-F238E27FC236}">
                <a16:creationId xmlns:a16="http://schemas.microsoft.com/office/drawing/2014/main" id="{E95B1D0D-5555-4D67-9B88-CD8E370D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133975"/>
            <a:ext cx="4124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195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G‘oliblar e’loni</a:t>
            </a:r>
          </a:p>
        </p:txBody>
      </p:sp>
      <p:sp>
        <p:nvSpPr>
          <p:cNvPr id="30" name="text-134">
            <a:extLst xmlns:a="http://schemas.openxmlformats.org/drawingml/2006/main">
              <a:ext uri="{FF2B5EF4-FFF2-40B4-BE49-F238E27FC236}">
                <a16:creationId xmlns:a16="http://schemas.microsoft.com/office/drawing/2014/main" id="{AF16B451-FC8C-42C3-8CAA-9A27499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21030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57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14623964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35">
            <a:extLst xmlns:a="http://schemas.openxmlformats.org/drawingml/2006/main">
              <a:ext uri="{FF2B5EF4-FFF2-40B4-BE49-F238E27FC236}">
                <a16:creationId xmlns:a16="http://schemas.microsoft.com/office/drawing/2014/main" id="{BCB19180-2FE0-4040-AA96-32E8B650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Mentorlar yordami</a:t>
            </a:r>
          </a:p>
        </p:txBody>
      </p:sp>
      <p:sp>
        <p:nvSpPr>
          <p:cNvPr id="2" name="text-136">
            <a:extLst xmlns:a="http://schemas.openxmlformats.org/drawingml/2006/main">
              <a:ext uri="{FF2B5EF4-FFF2-40B4-BE49-F238E27FC236}">
                <a16:creationId xmlns:a16="http://schemas.microsoft.com/office/drawing/2014/main" id="{317F485C-BF42-4928-ABE3-DF7F5074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137">
            <a:extLst xmlns:a="http://schemas.openxmlformats.org/drawingml/2006/main">
              <a:ext uri="{FF2B5EF4-FFF2-40B4-BE49-F238E27FC236}">
                <a16:creationId xmlns:a16="http://schemas.microsoft.com/office/drawing/2014/main" id="{1A28AE98-1F49-40AC-A31D-A2B54A47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09</a:t>
            </a:r>
          </a:p>
        </p:txBody>
      </p:sp>
      <p:sp>
        <p:nvSpPr>
          <p:cNvPr id="4" name="text-138">
            <a:extLst xmlns:a="http://schemas.openxmlformats.org/drawingml/2006/main">
              <a:ext uri="{FF2B5EF4-FFF2-40B4-BE49-F238E27FC236}">
                <a16:creationId xmlns:a16="http://schemas.microsoft.com/office/drawing/2014/main" id="{BEB55B34-8B2A-4397-ACDB-A06A182D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01</a:t>
            </a:r>
          </a:p>
        </p:txBody>
      </p:sp>
      <p:sp>
        <p:nvSpPr>
          <p:cNvPr id="5" name="text-139">
            <a:extLst xmlns:a="http://schemas.openxmlformats.org/drawingml/2006/main">
              <a:ext uri="{FF2B5EF4-FFF2-40B4-BE49-F238E27FC236}">
                <a16:creationId xmlns:a16="http://schemas.microsoft.com/office/drawing/2014/main" id="{E99187E7-5428-490B-8471-935791B8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90775"/>
            <a:ext cx="1259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Checkpointga tayyorgarlik</a:t>
            </a:r>
          </a:p>
        </p:txBody>
      </p:sp>
      <p:sp>
        <p:nvSpPr>
          <p:cNvPr id="6" name="text-140">
            <a:extLst xmlns:a="http://schemas.openxmlformats.org/drawingml/2006/main">
              <a:ext uri="{FF2B5EF4-FFF2-40B4-BE49-F238E27FC236}">
                <a16:creationId xmlns:a16="http://schemas.microsoft.com/office/drawing/2014/main" id="{7A171BE0-6BD7-475D-B09D-6E080B5B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71800"/>
            <a:ext cx="12592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Har bir checkpointdan oldin mentor bilan</a:t>
            </a:r>
          </a:p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yechimni muhokama qilish imkoniyati.</a:t>
            </a:r>
          </a:p>
        </p:txBody>
      </p:sp>
      <p:sp>
        <p:nvSpPr>
          <p:cNvPr id="7" name="text-141">
            <a:extLst xmlns:a="http://schemas.openxmlformats.org/drawingml/2006/main">
              <a:ext uri="{FF2B5EF4-FFF2-40B4-BE49-F238E27FC236}">
                <a16:creationId xmlns:a16="http://schemas.microsoft.com/office/drawing/2014/main" id="{F6AF4F49-9D5A-471D-AF16-ABC87856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sp>
        <p:nvSpPr>
          <p:cNvPr id="8" name="text-142">
            <a:extLst xmlns:a="http://schemas.openxmlformats.org/drawingml/2006/main">
              <a:ext uri="{FF2B5EF4-FFF2-40B4-BE49-F238E27FC236}">
                <a16:creationId xmlns:a16="http://schemas.microsoft.com/office/drawing/2014/main" id="{EB95A4A7-DBD6-46EA-AAC1-DB8BD9DF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00525"/>
            <a:ext cx="1259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Tahlil va maslahat</a:t>
            </a:r>
          </a:p>
        </p:txBody>
      </p:sp>
      <p:sp>
        <p:nvSpPr>
          <p:cNvPr id="9" name="text-143">
            <a:extLst xmlns:a="http://schemas.openxmlformats.org/drawingml/2006/main">
              <a:ext uri="{FF2B5EF4-FFF2-40B4-BE49-F238E27FC236}">
                <a16:creationId xmlns:a16="http://schemas.microsoft.com/office/drawing/2014/main" id="{4CB6324E-1147-4089-AB7B-B7F1F55C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81550"/>
            <a:ext cx="12592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Mentorlar xatolarni ko‘rsatadi va ularni</a:t>
            </a:r>
          </a:p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tuzatish bo‘yicha amaliy tavsiyalar beradi.</a:t>
            </a:r>
          </a:p>
        </p:txBody>
      </p:sp>
      <p:sp>
        <p:nvSpPr>
          <p:cNvPr id="10" name="text-144">
            <a:extLst xmlns:a="http://schemas.openxmlformats.org/drawingml/2006/main">
              <a:ext uri="{FF2B5EF4-FFF2-40B4-BE49-F238E27FC236}">
                <a16:creationId xmlns:a16="http://schemas.microsoft.com/office/drawing/2014/main" id="{9A49E0FA-C85D-473D-9196-AA2DD8C8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sp>
        <p:nvSpPr>
          <p:cNvPr id="11" name="text-145">
            <a:extLst xmlns:a="http://schemas.openxmlformats.org/drawingml/2006/main">
              <a:ext uri="{FF2B5EF4-FFF2-40B4-BE49-F238E27FC236}">
                <a16:creationId xmlns:a16="http://schemas.microsoft.com/office/drawing/2014/main" id="{FCB0D89A-62B5-4A7B-842A-D04A0B6C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10275"/>
            <a:ext cx="1259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Mahorat darslari va vositalar</a:t>
            </a:r>
          </a:p>
        </p:txBody>
      </p:sp>
      <p:sp>
        <p:nvSpPr>
          <p:cNvPr id="12" name="text-146">
            <a:extLst xmlns:a="http://schemas.openxmlformats.org/drawingml/2006/main">
              <a:ext uri="{FF2B5EF4-FFF2-40B4-BE49-F238E27FC236}">
                <a16:creationId xmlns:a16="http://schemas.microsoft.com/office/drawing/2014/main" id="{6638226B-3CE0-436A-B729-12191F5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591300"/>
            <a:ext cx="12592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Seminarlar, treninglar va texnologiyalardan</a:t>
            </a:r>
          </a:p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samarali foydalanish bo‘yicha ko‘rsatmalar.</a:t>
            </a:r>
          </a:p>
        </p:txBody>
      </p:sp>
    </p:spTree>
    <p:extLst>
      <p:ext uri="{BB962C8B-B14F-4D97-AF65-F5344CB8AC3E}">
        <p14:creationId xmlns:p14="http://schemas.microsoft.com/office/powerpoint/2010/main" val="12012957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47">
            <a:extLst xmlns:a="http://schemas.openxmlformats.org/drawingml/2006/main">
              <a:ext uri="{FF2B5EF4-FFF2-40B4-BE49-F238E27FC236}">
                <a16:creationId xmlns:a16="http://schemas.microsoft.com/office/drawing/2014/main" id="{79BF93B4-3FC2-4459-A1AC-CB8475F1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Checkpoint qanday o‘tadi?</a:t>
            </a:r>
          </a:p>
        </p:txBody>
      </p:sp>
      <p:sp>
        <p:nvSpPr>
          <p:cNvPr id="2" name="text-148">
            <a:extLst xmlns:a="http://schemas.openxmlformats.org/drawingml/2006/main">
              <a:ext uri="{FF2B5EF4-FFF2-40B4-BE49-F238E27FC236}">
                <a16:creationId xmlns:a16="http://schemas.microsoft.com/office/drawing/2014/main" id="{AAEB9DA5-A00F-4D93-A8BC-FF6DF0DD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149">
            <a:extLst xmlns:a="http://schemas.openxmlformats.org/drawingml/2006/main">
              <a:ext uri="{FF2B5EF4-FFF2-40B4-BE49-F238E27FC236}">
                <a16:creationId xmlns:a16="http://schemas.microsoft.com/office/drawing/2014/main" id="{360B7C28-0D58-4B34-A480-58B5DB67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10</a:t>
            </a:r>
          </a:p>
        </p:txBody>
      </p:sp>
      <p:sp>
        <p:nvSpPr>
          <p:cNvPr id="4" name="text-150">
            <a:extLst xmlns:a="http://schemas.openxmlformats.org/drawingml/2006/main">
              <a:ext uri="{FF2B5EF4-FFF2-40B4-BE49-F238E27FC236}">
                <a16:creationId xmlns:a16="http://schemas.microsoft.com/office/drawing/2014/main" id="{D523F2CA-C0BD-4A69-9C1F-51C2D96C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4790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20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30</a:t>
            </a:r>
          </a:p>
        </p:txBody>
      </p:sp>
      <p:sp>
        <p:nvSpPr>
          <p:cNvPr id="5" name="text-151">
            <a:extLst xmlns:a="http://schemas.openxmlformats.org/drawingml/2006/main">
              <a:ext uri="{FF2B5EF4-FFF2-40B4-BE49-F238E27FC236}">
                <a16:creationId xmlns:a16="http://schemas.microsoft.com/office/drawing/2014/main" id="{70418BD0-1B5C-4589-8A55-68BD564B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67200"/>
            <a:ext cx="585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700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daqiqa har bir jamoaga</a:t>
            </a:r>
          </a:p>
        </p:txBody>
      </p:sp>
      <p:sp>
        <p:nvSpPr>
          <p:cNvPr id="6" name="text-152">
            <a:extLst xmlns:a="http://schemas.openxmlformats.org/drawingml/2006/main">
              <a:ext uri="{FF2B5EF4-FFF2-40B4-BE49-F238E27FC236}">
                <a16:creationId xmlns:a16="http://schemas.microsoft.com/office/drawing/2014/main" id="{AB74E324-A50E-4E1D-8150-6AF95024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576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Har bir mentor bilan</a:t>
            </a:r>
          </a:p>
          <a:p xmlns:a="http://schemas.openxmlformats.org/drawingml/2006/main">
            <a:pPr algn="l">
              <a:defRPr sz="24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alohida 10 daqiqalik sessiya.</a:t>
            </a:r>
          </a:p>
        </p:txBody>
      </p:sp>
      <p:sp>
        <p:nvSpPr>
          <p:cNvPr id="7" name="text-153">
            <a:extLst xmlns:a="http://schemas.openxmlformats.org/drawingml/2006/main">
              <a:ext uri="{FF2B5EF4-FFF2-40B4-BE49-F238E27FC236}">
                <a16:creationId xmlns:a16="http://schemas.microsoft.com/office/drawing/2014/main" id="{33E047D4-0F1B-422A-93D5-38ACC927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625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Texnik mentor</a:t>
            </a:r>
          </a:p>
        </p:txBody>
      </p:sp>
      <p:sp>
        <p:nvSpPr>
          <p:cNvPr id="8" name="text-154">
            <a:extLst xmlns:a="http://schemas.openxmlformats.org/drawingml/2006/main">
              <a:ext uri="{FF2B5EF4-FFF2-40B4-BE49-F238E27FC236}">
                <a16:creationId xmlns:a16="http://schemas.microsoft.com/office/drawing/2014/main" id="{217C3B1C-9BEF-4A27-AC6E-65AD0840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3847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Texnik yechim va kod tayyorligi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04666-F34C-4003-A9D8-9B21283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86175"/>
            <a:ext cx="684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414C"/>
            </a:solidFill>
          </a:ln>
        </p:spPr>
      </p:sp>
      <p:sp>
        <p:nvSpPr>
          <p:cNvPr id="10" name="text-155">
            <a:extLst xmlns:a="http://schemas.openxmlformats.org/drawingml/2006/main">
              <a:ext uri="{FF2B5EF4-FFF2-40B4-BE49-F238E27FC236}">
                <a16:creationId xmlns:a16="http://schemas.microsoft.com/office/drawing/2014/main" id="{F6E7CEA4-BA16-4AF1-917A-480A3F32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243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625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Biznes mentor</a:t>
            </a:r>
          </a:p>
        </p:txBody>
      </p:sp>
      <p:sp>
        <p:nvSpPr>
          <p:cNvPr id="11" name="text-156">
            <a:extLst xmlns:a="http://schemas.openxmlformats.org/drawingml/2006/main">
              <a:ext uri="{FF2B5EF4-FFF2-40B4-BE49-F238E27FC236}">
                <a16:creationId xmlns:a16="http://schemas.microsoft.com/office/drawing/2014/main" id="{849C05A9-867E-4175-A7C8-A4C4732D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33900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Biznes modeli va bozor salohiyati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84E28-4429-4719-AEA8-D5D282BC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81600"/>
            <a:ext cx="684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414C"/>
            </a:solidFill>
          </a:ln>
        </p:spPr>
      </p:sp>
      <p:sp>
        <p:nvSpPr>
          <p:cNvPr id="13" name="text-157">
            <a:extLst xmlns:a="http://schemas.openxmlformats.org/drawingml/2006/main">
              <a:ext uri="{FF2B5EF4-FFF2-40B4-BE49-F238E27FC236}">
                <a16:creationId xmlns:a16="http://schemas.microsoft.com/office/drawing/2014/main" id="{982365B1-F765-44D1-AD71-C7CACB76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419725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625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Soha mentori</a:t>
            </a:r>
          </a:p>
        </p:txBody>
      </p:sp>
      <p:sp>
        <p:nvSpPr>
          <p:cNvPr id="14" name="text-158">
            <a:extLst xmlns:a="http://schemas.openxmlformats.org/drawingml/2006/main">
              <a:ext uri="{FF2B5EF4-FFF2-40B4-BE49-F238E27FC236}">
                <a16:creationId xmlns:a16="http://schemas.microsoft.com/office/drawing/2014/main" id="{C2C054D0-C28E-44A1-9CDD-DDB4F3BA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02932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Yo‘nalishga moslik va amaliy foyda</a:t>
            </a:r>
          </a:p>
        </p:txBody>
      </p:sp>
      <p:sp>
        <p:nvSpPr>
          <p:cNvPr id="15" name="text-159">
            <a:extLst xmlns:a="http://schemas.openxmlformats.org/drawingml/2006/main">
              <a:ext uri="{FF2B5EF4-FFF2-40B4-BE49-F238E27FC236}">
                <a16:creationId xmlns:a16="http://schemas.microsoft.com/office/drawing/2014/main" id="{BD349EB2-857B-4C4C-8D94-9E8A039B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19950"/>
            <a:ext cx="1349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Jamoa uchala mentor huzuriga navbat bilan boradi. Mentorlar birgalikda tinglamaydi.</a:t>
            </a:r>
          </a:p>
        </p:txBody>
      </p:sp>
    </p:spTree>
    <p:extLst>
      <p:ext uri="{BB962C8B-B14F-4D97-AF65-F5344CB8AC3E}">
        <p14:creationId xmlns:p14="http://schemas.microsoft.com/office/powerpoint/2010/main" val="18332769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60">
            <a:extLst xmlns:a="http://schemas.openxmlformats.org/drawingml/2006/main">
              <a:ext uri="{FF2B5EF4-FFF2-40B4-BE49-F238E27FC236}">
                <a16:creationId xmlns:a16="http://schemas.microsoft.com/office/drawing/2014/main" id="{44CE7BF4-5B97-4B8C-BE6E-A83CB35B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Baholash mezonlari</a:t>
            </a:r>
          </a:p>
        </p:txBody>
      </p:sp>
      <p:sp>
        <p:nvSpPr>
          <p:cNvPr id="2" name="text-161">
            <a:extLst xmlns:a="http://schemas.openxmlformats.org/drawingml/2006/main">
              <a:ext uri="{FF2B5EF4-FFF2-40B4-BE49-F238E27FC236}">
                <a16:creationId xmlns:a16="http://schemas.microsoft.com/office/drawing/2014/main" id="{30DA3802-C046-4960-BF7F-FA14264A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162">
            <a:extLst xmlns:a="http://schemas.openxmlformats.org/drawingml/2006/main">
              <a:ext uri="{FF2B5EF4-FFF2-40B4-BE49-F238E27FC236}">
                <a16:creationId xmlns:a16="http://schemas.microsoft.com/office/drawing/2014/main" id="{9BE195C7-7784-4031-BF48-8A0F340B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11</a:t>
            </a:r>
          </a:p>
        </p:txBody>
      </p:sp>
      <p:sp>
        <p:nvSpPr>
          <p:cNvPr id="4" name="text-163">
            <a:extLst xmlns:a="http://schemas.openxmlformats.org/drawingml/2006/main">
              <a:ext uri="{FF2B5EF4-FFF2-40B4-BE49-F238E27FC236}">
                <a16:creationId xmlns:a16="http://schemas.microsoft.com/office/drawing/2014/main" id="{040BCCE3-0ADF-4B38-957F-07C819B0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71675"/>
            <a:ext cx="1343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HAR BIR MEZON: 1–10 BALL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19150" y="2705100"/>
          <a:ext xmlns:a="http://schemas.openxmlformats.org/drawingml/2006/main" cx="1356360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524375"/>
                <a:gridCol w="4524375"/>
                <a:gridCol w="4514850"/>
              </a:tblGrid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Texnik mentor</a:t>
                      </a:r>
                    </a:p>
                  </a:txBody>
                  <a:tcPr marL="91440" marR="91440" marT="45720" marB="45720" anchor="ctr">
                    <a:solidFill>
                      <a:srgbClr val="1017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Biznes mentor</a:t>
                      </a:r>
                    </a:p>
                  </a:txBody>
                  <a:tcPr marL="91440" marR="91440" marT="45720" marB="45720" anchor="ctr">
                    <a:solidFill>
                      <a:srgbClr val="1017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Soha mentori</a:t>
                      </a:r>
                    </a:p>
                  </a:txBody>
                  <a:tcPr marL="91440" marR="91440" marT="45720" marB="45720" anchor="ctr">
                    <a:solidFill>
                      <a:srgbClr val="101720"/>
                    </a:solidFill>
                  </a:tcPr>
                </a:tc>
              </a:tr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Texnik amalga oshirish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G‘oya va muammoning dolzarbligi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Muammoning dolzarbligi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</a:tr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Kod tayyorligi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Biznes modeli va monetizatsiya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Sohani chuqur tushunish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</a:tr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Yechimning innovatsionligi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Raqobatdagi ustunlik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Amaliy qo‘llanish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</a:tr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Jamoaning bilim darajasi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Moliyaviy barqarorlik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Qonunchilikka muvofiqlik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</a:tr>
              <a:tr h="673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Texnologiyalar to‘plami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O‘sish imkoniyati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Ta’sir ko‘lami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</a:tr>
            </a:tbl>
          </a:graphicData>
        </a:graphic>
      </p:graphicFrame>
      <p:sp>
        <p:nvSpPr>
          <p:cNvPr id="6" name="text-164">
            <a:extLst xmlns:a="http://schemas.openxmlformats.org/drawingml/2006/main">
              <a:ext uri="{FF2B5EF4-FFF2-40B4-BE49-F238E27FC236}">
                <a16:creationId xmlns:a16="http://schemas.microsoft.com/office/drawing/2014/main" id="{1EA9EA19-8312-4DFE-9870-3C311997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258050"/>
            <a:ext cx="1343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Har bir mentorning bali = 5 ta mezon ballari yig‘indisi ÷ 5</a:t>
            </a:r>
          </a:p>
        </p:txBody>
      </p:sp>
    </p:spTree>
    <p:extLst>
      <p:ext uri="{BB962C8B-B14F-4D97-AF65-F5344CB8AC3E}">
        <p14:creationId xmlns:p14="http://schemas.microsoft.com/office/powerpoint/2010/main" val="1875960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65">
            <a:extLst xmlns:a="http://schemas.openxmlformats.org/drawingml/2006/main">
              <a:ext uri="{FF2B5EF4-FFF2-40B4-BE49-F238E27FC236}">
                <a16:creationId xmlns:a16="http://schemas.microsoft.com/office/drawing/2014/main" id="{43977814-064C-4F3E-89F0-7C07CC65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Yakuniy reyting</a:t>
            </a:r>
          </a:p>
        </p:txBody>
      </p:sp>
      <p:sp>
        <p:nvSpPr>
          <p:cNvPr id="2" name="text-166">
            <a:extLst xmlns:a="http://schemas.openxmlformats.org/drawingml/2006/main">
              <a:ext uri="{FF2B5EF4-FFF2-40B4-BE49-F238E27FC236}">
                <a16:creationId xmlns:a16="http://schemas.microsoft.com/office/drawing/2014/main" id="{2790FF3D-EE27-4B79-9218-2FF97846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167">
            <a:extLst xmlns:a="http://schemas.openxmlformats.org/drawingml/2006/main">
              <a:ext uri="{FF2B5EF4-FFF2-40B4-BE49-F238E27FC236}">
                <a16:creationId xmlns:a16="http://schemas.microsoft.com/office/drawing/2014/main" id="{EF8A22A2-BDCA-4E4A-99E6-DAFD43E1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12</a:t>
            </a:r>
          </a:p>
        </p:txBody>
      </p:sp>
      <p:sp>
        <p:nvSpPr>
          <p:cNvPr id="4" name="text-168">
            <a:extLst xmlns:a="http://schemas.openxmlformats.org/drawingml/2006/main">
              <a:ext uri="{FF2B5EF4-FFF2-40B4-BE49-F238E27FC236}">
                <a16:creationId xmlns:a16="http://schemas.microsoft.com/office/drawing/2014/main" id="{61054688-E0FB-4791-B0C1-5CBFF76A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356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75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5775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0,4 × CP1 + 0,6 × CP2</a:t>
            </a:r>
          </a:p>
        </p:txBody>
      </p:sp>
      <p:sp>
        <p:nvSpPr>
          <p:cNvPr id="5" name="text-169">
            <a:extLst xmlns:a="http://schemas.openxmlformats.org/drawingml/2006/main">
              <a:ext uri="{FF2B5EF4-FFF2-40B4-BE49-F238E27FC236}">
                <a16:creationId xmlns:a16="http://schemas.microsoft.com/office/drawing/2014/main" id="{CA177C3B-3E3F-4D3E-85D5-6F56F247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7195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40%  BIRINCHI CHECKPOINT</a:t>
            </a:r>
          </a:p>
        </p:txBody>
      </p:sp>
      <p:sp>
        <p:nvSpPr>
          <p:cNvPr id="6" name="text-170">
            <a:extLst xmlns:a="http://schemas.openxmlformats.org/drawingml/2006/main">
              <a:ext uri="{FF2B5EF4-FFF2-40B4-BE49-F238E27FC236}">
                <a16:creationId xmlns:a16="http://schemas.microsoft.com/office/drawing/2014/main" id="{4631276A-17A9-4C41-AFAC-1EDA7CA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62500"/>
            <a:ext cx="6400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25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Boshlang‘ich holatni baholaydi</a:t>
            </a:r>
          </a:p>
          <a:p xmlns:a="http://schemas.openxmlformats.org/drawingml/2006/main">
            <a:pPr algn="l">
              <a:defRPr sz="225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25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va tasodifiy omillar ta’sirini kamaytiradi.</a:t>
            </a:r>
          </a:p>
        </p:txBody>
      </p:sp>
      <p:sp>
        <p:nvSpPr>
          <p:cNvPr id="7" name="text-171">
            <a:extLst xmlns:a="http://schemas.openxmlformats.org/drawingml/2006/main">
              <a:ext uri="{FF2B5EF4-FFF2-40B4-BE49-F238E27FC236}">
                <a16:creationId xmlns:a16="http://schemas.microsoft.com/office/drawing/2014/main" id="{F55CB658-A01F-47D3-9992-9F6517E7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60%  IKKINCHI CHECKPOINT</a:t>
            </a:r>
          </a:p>
        </p:txBody>
      </p:sp>
      <p:sp>
        <p:nvSpPr>
          <p:cNvPr id="8" name="text-172">
            <a:extLst xmlns:a="http://schemas.openxmlformats.org/drawingml/2006/main">
              <a:ext uri="{FF2B5EF4-FFF2-40B4-BE49-F238E27FC236}">
                <a16:creationId xmlns:a16="http://schemas.microsoft.com/office/drawing/2014/main" id="{EDFFFDCB-84BB-49B1-BC86-EB70DEE4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6286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25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Jamoaning o‘sishi va mentor</a:t>
            </a:r>
          </a:p>
          <a:p xmlns:a="http://schemas.openxmlformats.org/drawingml/2006/main">
            <a:pPr algn="l">
              <a:defRPr sz="225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25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tavsiyalarini qo‘llashini aks ettiradi.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C404C-0EEB-483C-9DAD-0DA65BE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414C"/>
            </a:solidFill>
          </a:ln>
        </p:spPr>
      </p:sp>
      <p:sp>
        <p:nvSpPr>
          <p:cNvPr id="10" name="text-173">
            <a:extLst xmlns:a="http://schemas.openxmlformats.org/drawingml/2006/main">
              <a:ext uri="{FF2B5EF4-FFF2-40B4-BE49-F238E27FC236}">
                <a16:creationId xmlns:a16="http://schemas.microsoft.com/office/drawing/2014/main" id="{3AF2FB7C-4AA1-49E7-B86E-F99DB070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515100"/>
            <a:ext cx="1343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CP bali = (texnik + biznes + soha bali) ÷ 3</a:t>
            </a:r>
          </a:p>
        </p:txBody>
      </p:sp>
      <p:sp>
        <p:nvSpPr>
          <p:cNvPr id="11" name="text-174">
            <a:extLst xmlns:a="http://schemas.openxmlformats.org/drawingml/2006/main">
              <a:ext uri="{FF2B5EF4-FFF2-40B4-BE49-F238E27FC236}">
                <a16:creationId xmlns:a16="http://schemas.microsoft.com/office/drawing/2014/main" id="{6C743A41-70FE-4D2A-AA4B-D2A04AA9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239000"/>
            <a:ext cx="1343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Checkpointlarda to‘plangan ballar 2-ish kuni oxirida umumlashtirilib beriladi.</a:t>
            </a:r>
          </a:p>
        </p:txBody>
      </p:sp>
    </p:spTree>
    <p:extLst>
      <p:ext uri="{BB962C8B-B14F-4D97-AF65-F5344CB8AC3E}">
        <p14:creationId xmlns:p14="http://schemas.microsoft.com/office/powerpoint/2010/main" val="2307240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75">
            <a:extLst xmlns:a="http://schemas.openxmlformats.org/drawingml/2006/main">
              <a:ext uri="{FF2B5EF4-FFF2-40B4-BE49-F238E27FC236}">
                <a16:creationId xmlns:a16="http://schemas.microsoft.com/office/drawing/2014/main" id="{BFE9E662-4E12-46C0-980D-BE842C3F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Hisoblash namunasi: AlfaTex</a:t>
            </a:r>
          </a:p>
        </p:txBody>
      </p:sp>
      <p:sp>
        <p:nvSpPr>
          <p:cNvPr id="2" name="text-176">
            <a:extLst xmlns:a="http://schemas.openxmlformats.org/drawingml/2006/main">
              <a:ext uri="{FF2B5EF4-FFF2-40B4-BE49-F238E27FC236}">
                <a16:creationId xmlns:a16="http://schemas.microsoft.com/office/drawing/2014/main" id="{FA2A6231-68DD-4FF4-8232-DB2F6468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177">
            <a:extLst xmlns:a="http://schemas.openxmlformats.org/drawingml/2006/main">
              <a:ext uri="{FF2B5EF4-FFF2-40B4-BE49-F238E27FC236}">
                <a16:creationId xmlns:a16="http://schemas.microsoft.com/office/drawing/2014/main" id="{4D85AD44-A9C8-4996-81A7-EAA67154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19150" y="2438400"/>
          <a:ext xmlns:a="http://schemas.openxmlformats.org/drawingml/2006/main" cx="9201150" cy="4333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000500"/>
                <a:gridCol w="2600325"/>
                <a:gridCol w="2600325"/>
              </a:tblGrid>
              <a:tr h="866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Baholash</a:t>
                      </a:r>
                    </a:p>
                  </a:txBody>
                  <a:tcPr marL="91440" marR="91440" marT="45720" marB="45720" anchor="ctr">
                    <a:solidFill>
                      <a:srgbClr val="1017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CP1, 18-sentabr</a:t>
                      </a:r>
                    </a:p>
                  </a:txBody>
                  <a:tcPr marL="91440" marR="91440" marT="45720" marB="45720" anchor="ctr">
                    <a:solidFill>
                      <a:srgbClr val="1017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CP2, 19-sentabr</a:t>
                      </a:r>
                    </a:p>
                  </a:txBody>
                  <a:tcPr marL="91440" marR="91440" marT="45720" marB="45720" anchor="ctr">
                    <a:solidFill>
                      <a:srgbClr val="101720"/>
                    </a:solidFill>
                  </a:tcPr>
                </a:tc>
              </a:tr>
              <a:tr h="866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Texnik mentor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7,6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8,6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</a:tr>
              <a:tr h="866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Biznes mentor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7,2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8,2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</a:tr>
              <a:tr h="866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Soha mentori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8,2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8,6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</a:tr>
              <a:tr h="866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O‘rtacha ball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7,67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8,47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</a:tr>
            </a:tbl>
          </a:graphicData>
        </a:graphic>
      </p:graphicFrame>
      <p:sp>
        <p:nvSpPr>
          <p:cNvPr id="5" name="text-178">
            <a:extLst xmlns:a="http://schemas.openxmlformats.org/drawingml/2006/main">
              <a:ext uri="{FF2B5EF4-FFF2-40B4-BE49-F238E27FC236}">
                <a16:creationId xmlns:a16="http://schemas.microsoft.com/office/drawing/2014/main" id="{CFA5A233-D69E-42EF-8AFA-AC2CF4E7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29000"/>
            <a:ext cx="39433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2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802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8,15</a:t>
            </a:r>
          </a:p>
        </p:txBody>
      </p:sp>
      <p:sp>
        <p:nvSpPr>
          <p:cNvPr id="6" name="text-179">
            <a:extLst xmlns:a="http://schemas.openxmlformats.org/drawingml/2006/main">
              <a:ext uri="{FF2B5EF4-FFF2-40B4-BE49-F238E27FC236}">
                <a16:creationId xmlns:a16="http://schemas.microsoft.com/office/drawing/2014/main" id="{85C7D34B-0EF3-4D6E-969B-43B11A9C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0673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yakuniy reyting</a:t>
            </a:r>
          </a:p>
        </p:txBody>
      </p:sp>
      <p:sp>
        <p:nvSpPr>
          <p:cNvPr id="7" name="text-180">
            <a:extLst xmlns:a="http://schemas.openxmlformats.org/drawingml/2006/main">
              <a:ext uri="{FF2B5EF4-FFF2-40B4-BE49-F238E27FC236}">
                <a16:creationId xmlns:a16="http://schemas.microsoft.com/office/drawing/2014/main" id="{7B3B62D0-267F-4154-B050-0E84751B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26757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0,4 × 7,67 + 0,6 × 8,47 = 8,15</a:t>
            </a:r>
          </a:p>
        </p:txBody>
      </p:sp>
    </p:spTree>
    <p:extLst>
      <p:ext uri="{BB962C8B-B14F-4D97-AF65-F5344CB8AC3E}">
        <p14:creationId xmlns:p14="http://schemas.microsoft.com/office/powerpoint/2010/main" val="20913039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81">
            <a:extLst xmlns:a="http://schemas.openxmlformats.org/drawingml/2006/main">
              <a:ext uri="{FF2B5EF4-FFF2-40B4-BE49-F238E27FC236}">
                <a16:creationId xmlns:a16="http://schemas.microsoft.com/office/drawing/2014/main" id="{FDA4E064-4DA3-4352-87E9-5C564919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Ballar teng bo‘lsa</a:t>
            </a:r>
          </a:p>
        </p:txBody>
      </p:sp>
      <p:sp>
        <p:nvSpPr>
          <p:cNvPr id="2" name="text-182">
            <a:extLst xmlns:a="http://schemas.openxmlformats.org/drawingml/2006/main">
              <a:ext uri="{FF2B5EF4-FFF2-40B4-BE49-F238E27FC236}">
                <a16:creationId xmlns:a16="http://schemas.microsoft.com/office/drawing/2014/main" id="{5C0A10F9-B67F-4691-B6DA-0085327C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183">
            <a:extLst xmlns:a="http://schemas.openxmlformats.org/drawingml/2006/main">
              <a:ext uri="{FF2B5EF4-FFF2-40B4-BE49-F238E27FC236}">
                <a16:creationId xmlns:a16="http://schemas.microsoft.com/office/drawing/2014/main" id="{72BAD965-35E1-4B5A-ABA2-42ED606F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14</a:t>
            </a:r>
          </a:p>
        </p:txBody>
      </p:sp>
      <p:sp>
        <p:nvSpPr>
          <p:cNvPr id="4" name="text-184">
            <a:extLst xmlns:a="http://schemas.openxmlformats.org/drawingml/2006/main">
              <a:ext uri="{FF2B5EF4-FFF2-40B4-BE49-F238E27FC236}">
                <a16:creationId xmlns:a16="http://schemas.microsoft.com/office/drawing/2014/main" id="{7D903CC5-C02B-44DF-81BC-C44F8E31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1343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Ustunlik quyidagi ketma-ketlikda aniqlanadi.</a:t>
            </a:r>
          </a:p>
        </p:txBody>
      </p:sp>
      <p:sp>
        <p:nvSpPr>
          <p:cNvPr id="5" name="text-185">
            <a:extLst xmlns:a="http://schemas.openxmlformats.org/drawingml/2006/main">
              <a:ext uri="{FF2B5EF4-FFF2-40B4-BE49-F238E27FC236}">
                <a16:creationId xmlns:a16="http://schemas.microsoft.com/office/drawing/2014/main" id="{F14A94A0-F8F4-4DDA-8787-D3A5A4C1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01</a:t>
            </a:r>
          </a:p>
        </p:txBody>
      </p:sp>
      <p:sp>
        <p:nvSpPr>
          <p:cNvPr id="6" name="text-186">
            <a:extLst xmlns:a="http://schemas.openxmlformats.org/drawingml/2006/main">
              <a:ext uri="{FF2B5EF4-FFF2-40B4-BE49-F238E27FC236}">
                <a16:creationId xmlns:a16="http://schemas.microsoft.com/office/drawing/2014/main" id="{3125BC9E-F9AC-4A4C-8FCB-AD70CC8E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714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8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2-checkpoint bali</a:t>
            </a:r>
          </a:p>
        </p:txBody>
      </p:sp>
      <p:sp>
        <p:nvSpPr>
          <p:cNvPr id="7" name="text-187">
            <a:extLst xmlns:a="http://schemas.openxmlformats.org/drawingml/2006/main">
              <a:ext uri="{FF2B5EF4-FFF2-40B4-BE49-F238E27FC236}">
                <a16:creationId xmlns:a16="http://schemas.microsoft.com/office/drawing/2014/main" id="{B8D8C5EB-FE82-4545-A1E6-7CD4EB5D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908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202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Eng so‘nggi natija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1824C-7C67-46CF-B6C8-8B121D4F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DF"/>
            </a:solidFill>
          </a:ln>
        </p:spPr>
      </p:sp>
      <p:sp>
        <p:nvSpPr>
          <p:cNvPr id="9" name="text-188">
            <a:extLst xmlns:a="http://schemas.openxmlformats.org/drawingml/2006/main">
              <a:ext uri="{FF2B5EF4-FFF2-40B4-BE49-F238E27FC236}">
                <a16:creationId xmlns:a16="http://schemas.microsoft.com/office/drawing/2014/main" id="{82E25E70-0151-4EE9-8C41-95949F49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5767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sp>
        <p:nvSpPr>
          <p:cNvPr id="10" name="text-189">
            <a:extLst xmlns:a="http://schemas.openxmlformats.org/drawingml/2006/main">
              <a:ext uri="{FF2B5EF4-FFF2-40B4-BE49-F238E27FC236}">
                <a16:creationId xmlns:a16="http://schemas.microsoft.com/office/drawing/2014/main" id="{AEA05F60-099B-444D-AEC2-B15E222B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19575"/>
            <a:ext cx="714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8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Soha mentori bali</a:t>
            </a:r>
          </a:p>
        </p:txBody>
      </p:sp>
      <p:sp>
        <p:nvSpPr>
          <p:cNvPr id="11" name="text-190">
            <a:extLst xmlns:a="http://schemas.openxmlformats.org/drawingml/2006/main">
              <a:ext uri="{FF2B5EF4-FFF2-40B4-BE49-F238E27FC236}">
                <a16:creationId xmlns:a16="http://schemas.microsoft.com/office/drawing/2014/main" id="{3DE96155-4C78-4AE5-A131-BD0B1573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672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202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Yo‘nalishga moslik va dolzarblik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16466-01D0-4AD3-BC61-37E5805C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DF"/>
            </a:solidFill>
          </a:ln>
        </p:spPr>
      </p:sp>
      <p:sp>
        <p:nvSpPr>
          <p:cNvPr id="13" name="text-191">
            <a:extLst xmlns:a="http://schemas.openxmlformats.org/drawingml/2006/main">
              <a:ext uri="{FF2B5EF4-FFF2-40B4-BE49-F238E27FC236}">
                <a16:creationId xmlns:a16="http://schemas.microsoft.com/office/drawing/2014/main" id="{7086AF17-B7CD-4407-A0F8-B2CCE093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sp>
        <p:nvSpPr>
          <p:cNvPr id="14" name="text-192">
            <a:extLst xmlns:a="http://schemas.openxmlformats.org/drawingml/2006/main">
              <a:ext uri="{FF2B5EF4-FFF2-40B4-BE49-F238E27FC236}">
                <a16:creationId xmlns:a16="http://schemas.microsoft.com/office/drawing/2014/main" id="{443C7056-3C46-4557-B0DC-92EFF2FE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95900"/>
            <a:ext cx="714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8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Texnik mentor bali</a:t>
            </a:r>
          </a:p>
        </p:txBody>
      </p:sp>
      <p:sp>
        <p:nvSpPr>
          <p:cNvPr id="15" name="text-193">
            <a:extLst xmlns:a="http://schemas.openxmlformats.org/drawingml/2006/main">
              <a:ext uri="{FF2B5EF4-FFF2-40B4-BE49-F238E27FC236}">
                <a16:creationId xmlns:a16="http://schemas.microsoft.com/office/drawing/2014/main" id="{198E5A9E-8365-49B2-B1B7-0E70C415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435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202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Amalga oshirish sifati va kod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155EB-0EFE-486F-A09B-E1588E99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DF"/>
            </a:solidFill>
          </a:ln>
        </p:spPr>
      </p:sp>
      <p:sp>
        <p:nvSpPr>
          <p:cNvPr id="17" name="text-194">
            <a:extLst xmlns:a="http://schemas.openxmlformats.org/drawingml/2006/main">
              <a:ext uri="{FF2B5EF4-FFF2-40B4-BE49-F238E27FC236}">
                <a16:creationId xmlns:a16="http://schemas.microsoft.com/office/drawing/2014/main" id="{CAFADBE7-DBE1-4AEB-B3AE-FBA200CA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103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04</a:t>
            </a:r>
          </a:p>
        </p:txBody>
      </p:sp>
      <p:sp>
        <p:nvSpPr>
          <p:cNvPr id="18" name="text-195">
            <a:extLst xmlns:a="http://schemas.openxmlformats.org/drawingml/2006/main">
              <a:ext uri="{FF2B5EF4-FFF2-40B4-BE49-F238E27FC236}">
                <a16:creationId xmlns:a16="http://schemas.microsoft.com/office/drawing/2014/main" id="{0A067A71-FE98-4E56-AE4D-B2160501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372225"/>
            <a:ext cx="714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8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Bosh koordinator qarori</a:t>
            </a:r>
          </a:p>
        </p:txBody>
      </p:sp>
      <p:sp>
        <p:nvSpPr>
          <p:cNvPr id="19" name="text-196">
            <a:extLst xmlns:a="http://schemas.openxmlformats.org/drawingml/2006/main">
              <a:ext uri="{FF2B5EF4-FFF2-40B4-BE49-F238E27FC236}">
                <a16:creationId xmlns:a16="http://schemas.microsoft.com/office/drawing/2014/main" id="{65D32D40-268D-4F13-AF62-777798DD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198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202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Barcha yuqoridagi mezonlar teng bo‘lsa</a:t>
            </a:r>
          </a:p>
        </p:txBody>
      </p:sp>
    </p:spTree>
    <p:extLst>
      <p:ext uri="{BB962C8B-B14F-4D97-AF65-F5344CB8AC3E}">
        <p14:creationId xmlns:p14="http://schemas.microsoft.com/office/powerpoint/2010/main" val="14203185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97">
            <a:extLst xmlns:a="http://schemas.openxmlformats.org/drawingml/2006/main">
              <a:ext uri="{FF2B5EF4-FFF2-40B4-BE49-F238E27FC236}">
                <a16:creationId xmlns:a16="http://schemas.microsoft.com/office/drawing/2014/main" id="{7D106E3E-A04B-40B2-9595-9E55B0CA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Taqdimot va topshirish muddati</a:t>
            </a:r>
          </a:p>
        </p:txBody>
      </p:sp>
      <p:sp>
        <p:nvSpPr>
          <p:cNvPr id="2" name="text-198">
            <a:extLst xmlns:a="http://schemas.openxmlformats.org/drawingml/2006/main">
              <a:ext uri="{FF2B5EF4-FFF2-40B4-BE49-F238E27FC236}">
                <a16:creationId xmlns:a16="http://schemas.microsoft.com/office/drawing/2014/main" id="{0AF9E641-40EF-4E51-B940-A5AA71D9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199">
            <a:extLst xmlns:a="http://schemas.openxmlformats.org/drawingml/2006/main">
              <a:ext uri="{FF2B5EF4-FFF2-40B4-BE49-F238E27FC236}">
                <a16:creationId xmlns:a16="http://schemas.microsoft.com/office/drawing/2014/main" id="{35037476-F8C1-48D1-880B-B373B1E6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15</a:t>
            </a:r>
          </a:p>
        </p:txBody>
      </p:sp>
      <p:sp>
        <p:nvSpPr>
          <p:cNvPr id="4" name="text-200">
            <a:extLst xmlns:a="http://schemas.openxmlformats.org/drawingml/2006/main">
              <a:ext uri="{FF2B5EF4-FFF2-40B4-BE49-F238E27FC236}">
                <a16:creationId xmlns:a16="http://schemas.microsoft.com/office/drawing/2014/main" id="{5D25ABEA-94F0-44AA-BBD8-8E9D58B6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86000"/>
            <a:ext cx="1304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2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592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Muddatlar qat’iy</a:t>
            </a:r>
          </a:p>
        </p:txBody>
      </p:sp>
      <p:sp>
        <p:nvSpPr>
          <p:cNvPr id="5" name="text-201">
            <a:extLst xmlns:a="http://schemas.openxmlformats.org/drawingml/2006/main">
              <a:ext uri="{FF2B5EF4-FFF2-40B4-BE49-F238E27FC236}">
                <a16:creationId xmlns:a16="http://schemas.microsoft.com/office/drawing/2014/main" id="{B3CAD092-C4F8-4127-BF95-6A242E6B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81425"/>
            <a:ext cx="13430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3825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Belgilangan muddatdan keyin</a:t>
            </a:r>
          </a:p>
          <a:p xmlns:a="http://schemas.openxmlformats.org/drawingml/2006/main">
            <a:pPr algn="l">
              <a:defRPr sz="3825" b="0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3825" b="0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hech qanday ish qabul qilinmaydi.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C764B-9519-442F-8EAD-D50004E8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414C"/>
            </a:solidFill>
          </a:ln>
        </p:spPr>
      </p:sp>
      <p:sp>
        <p:nvSpPr>
          <p:cNvPr id="7" name="text-202">
            <a:extLst xmlns:a="http://schemas.openxmlformats.org/drawingml/2006/main">
              <a:ext uri="{FF2B5EF4-FFF2-40B4-BE49-F238E27FC236}">
                <a16:creationId xmlns:a16="http://schemas.microsoft.com/office/drawing/2014/main" id="{0125FE54-38CD-48C0-9E17-A6E94C1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276975"/>
            <a:ext cx="1352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Taqdimot har bir checkpoint boshlanguncha tayyor bo‘lishi kerak.</a:t>
            </a:r>
          </a:p>
          <a:p xmlns:a="http://schemas.openxmlformats.org/drawingml/2006/main">
            <a:pPr algn="l">
              <a:defRPr sz="24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2-checkpoint uchun taqdimot va GitHub havolasini tayyorlang.</a:t>
            </a:r>
          </a:p>
        </p:txBody>
      </p:sp>
    </p:spTree>
    <p:extLst>
      <p:ext uri="{BB962C8B-B14F-4D97-AF65-F5344CB8AC3E}">
        <p14:creationId xmlns:p14="http://schemas.microsoft.com/office/powerpoint/2010/main" val="13250357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03">
            <a:extLst xmlns:a="http://schemas.openxmlformats.org/drawingml/2006/main">
              <a:ext uri="{FF2B5EF4-FFF2-40B4-BE49-F238E27FC236}">
                <a16:creationId xmlns:a16="http://schemas.microsoft.com/office/drawing/2014/main" id="{CEEDA4A6-CBFD-4F34-9097-B49266EB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Final: 20 sentabr</a:t>
            </a:r>
          </a:p>
        </p:txBody>
      </p:sp>
      <p:sp>
        <p:nvSpPr>
          <p:cNvPr id="2" name="text-204">
            <a:extLst xmlns:a="http://schemas.openxmlformats.org/drawingml/2006/main">
              <a:ext uri="{FF2B5EF4-FFF2-40B4-BE49-F238E27FC236}">
                <a16:creationId xmlns:a16="http://schemas.microsoft.com/office/drawing/2014/main" id="{6300B079-807D-425D-8AF4-8CBE0D70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205">
            <a:extLst xmlns:a="http://schemas.openxmlformats.org/drawingml/2006/main">
              <a:ext uri="{FF2B5EF4-FFF2-40B4-BE49-F238E27FC236}">
                <a16:creationId xmlns:a16="http://schemas.microsoft.com/office/drawing/2014/main" id="{3723BCCB-2AD2-41AF-94FC-19053266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16</a:t>
            </a:r>
          </a:p>
        </p:txBody>
      </p:sp>
      <p:sp>
        <p:nvSpPr>
          <p:cNvPr id="4" name="text-206">
            <a:extLst xmlns:a="http://schemas.openxmlformats.org/drawingml/2006/main">
              <a:ext uri="{FF2B5EF4-FFF2-40B4-BE49-F238E27FC236}">
                <a16:creationId xmlns:a16="http://schemas.microsoft.com/office/drawing/2014/main" id="{DD821893-9177-4A43-9567-F8EE0642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35540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47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Top-15 jamoa, har bir trekdan 5 tadan, hakamlar oldida loyihasini himoya qiladi.</a:t>
            </a:r>
          </a:p>
        </p:txBody>
      </p:sp>
      <p:sp>
        <p:nvSpPr>
          <p:cNvPr id="5" name="text-207">
            <a:extLst xmlns:a="http://schemas.openxmlformats.org/drawingml/2006/main">
              <a:ext uri="{FF2B5EF4-FFF2-40B4-BE49-F238E27FC236}">
                <a16:creationId xmlns:a16="http://schemas.microsoft.com/office/drawing/2014/main" id="{BECD566A-170B-46EA-B072-536A70AA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4095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90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sp>
        <p:nvSpPr>
          <p:cNvPr id="6" name="text-208">
            <a:extLst xmlns:a="http://schemas.openxmlformats.org/drawingml/2006/main">
              <a:ext uri="{FF2B5EF4-FFF2-40B4-BE49-F238E27FC236}">
                <a16:creationId xmlns:a16="http://schemas.microsoft.com/office/drawing/2014/main" id="{51526DCA-CCC6-44B5-A630-49E30DCD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daqiqa</a:t>
            </a:r>
          </a:p>
        </p:txBody>
      </p:sp>
      <p:sp>
        <p:nvSpPr>
          <p:cNvPr id="7" name="text-209">
            <a:extLst xmlns:a="http://schemas.openxmlformats.org/drawingml/2006/main">
              <a:ext uri="{FF2B5EF4-FFF2-40B4-BE49-F238E27FC236}">
                <a16:creationId xmlns:a16="http://schemas.microsoft.com/office/drawing/2014/main" id="{9D90300B-3523-4718-95FE-D9B6138B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435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1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Taqdimot</a:t>
            </a:r>
          </a:p>
        </p:txBody>
      </p:sp>
      <p:sp>
        <p:nvSpPr>
          <p:cNvPr id="8" name="text-210">
            <a:extLst xmlns:a="http://schemas.openxmlformats.org/drawingml/2006/main">
              <a:ext uri="{FF2B5EF4-FFF2-40B4-BE49-F238E27FC236}">
                <a16:creationId xmlns:a16="http://schemas.microsoft.com/office/drawing/2014/main" id="{9BD6AF43-91C6-4A4C-9B3A-DCEF459F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15100"/>
            <a:ext cx="418147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G‘oya, yechim va</a:t>
            </a:r>
          </a:p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biznes modeli</a:t>
            </a:r>
          </a:p>
        </p:txBody>
      </p:sp>
      <p:sp>
        <p:nvSpPr>
          <p:cNvPr id="9" name="text-211">
            <a:extLst xmlns:a="http://schemas.openxmlformats.org/drawingml/2006/main">
              <a:ext uri="{FF2B5EF4-FFF2-40B4-BE49-F238E27FC236}">
                <a16:creationId xmlns:a16="http://schemas.microsoft.com/office/drawing/2014/main" id="{79943612-BB8A-4520-B2DE-864AE9BC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486150"/>
            <a:ext cx="4095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90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sp>
        <p:nvSpPr>
          <p:cNvPr id="10" name="text-212">
            <a:extLst xmlns:a="http://schemas.openxmlformats.org/drawingml/2006/main">
              <a:ext uri="{FF2B5EF4-FFF2-40B4-BE49-F238E27FC236}">
                <a16:creationId xmlns:a16="http://schemas.microsoft.com/office/drawing/2014/main" id="{08921B3D-8EBC-46BA-A612-05D2C4CA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9720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daqiqa</a:t>
            </a:r>
          </a:p>
        </p:txBody>
      </p:sp>
      <p:sp>
        <p:nvSpPr>
          <p:cNvPr id="11" name="text-213">
            <a:extLst xmlns:a="http://schemas.openxmlformats.org/drawingml/2006/main">
              <a:ext uri="{FF2B5EF4-FFF2-40B4-BE49-F238E27FC236}">
                <a16:creationId xmlns:a16="http://schemas.microsoft.com/office/drawing/2014/main" id="{513F9188-CEEC-4296-9ACC-5BDED826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435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1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Demo</a:t>
            </a:r>
          </a:p>
        </p:txBody>
      </p:sp>
      <p:sp>
        <p:nvSpPr>
          <p:cNvPr id="12" name="text-214">
            <a:extLst xmlns:a="http://schemas.openxmlformats.org/drawingml/2006/main">
              <a:ext uri="{FF2B5EF4-FFF2-40B4-BE49-F238E27FC236}">
                <a16:creationId xmlns:a16="http://schemas.microsoft.com/office/drawing/2014/main" id="{2AD8C7F8-F9A9-41DB-AA25-62998F31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515100"/>
            <a:ext cx="418147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Ishlaydigan mahsulot</a:t>
            </a:r>
          </a:p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yoki MVP</a:t>
            </a:r>
          </a:p>
        </p:txBody>
      </p:sp>
      <p:sp>
        <p:nvSpPr>
          <p:cNvPr id="13" name="text-215">
            <a:extLst xmlns:a="http://schemas.openxmlformats.org/drawingml/2006/main">
              <a:ext uri="{FF2B5EF4-FFF2-40B4-BE49-F238E27FC236}">
                <a16:creationId xmlns:a16="http://schemas.microsoft.com/office/drawing/2014/main" id="{35A0431A-F6C6-4785-B310-B72F5863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86150"/>
            <a:ext cx="4095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907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sp>
        <p:nvSpPr>
          <p:cNvPr id="14" name="text-216">
            <a:extLst xmlns:a="http://schemas.openxmlformats.org/drawingml/2006/main">
              <a:ext uri="{FF2B5EF4-FFF2-40B4-BE49-F238E27FC236}">
                <a16:creationId xmlns:a16="http://schemas.microsoft.com/office/drawing/2014/main" id="{2DC305EC-EABB-4F8E-86A8-8F3AC79E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720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daqiqa</a:t>
            </a:r>
          </a:p>
        </p:txBody>
      </p:sp>
      <p:sp>
        <p:nvSpPr>
          <p:cNvPr id="15" name="text-217">
            <a:extLst xmlns:a="http://schemas.openxmlformats.org/drawingml/2006/main">
              <a:ext uri="{FF2B5EF4-FFF2-40B4-BE49-F238E27FC236}">
                <a16:creationId xmlns:a16="http://schemas.microsoft.com/office/drawing/2014/main" id="{74D9BF60-DA6D-4C3B-B15A-A22FE3C3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7435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1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Savol-javob</a:t>
            </a:r>
          </a:p>
        </p:txBody>
      </p:sp>
      <p:sp>
        <p:nvSpPr>
          <p:cNvPr id="16" name="text-218">
            <a:extLst xmlns:a="http://schemas.openxmlformats.org/drawingml/2006/main">
              <a:ext uri="{FF2B5EF4-FFF2-40B4-BE49-F238E27FC236}">
                <a16:creationId xmlns:a16="http://schemas.microsoft.com/office/drawing/2014/main" id="{354C54B3-647A-4863-872B-0D810DB6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515100"/>
            <a:ext cx="418147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Hakamlar savollariga</a:t>
            </a:r>
          </a:p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aniq javoblar</a:t>
            </a:r>
          </a:p>
        </p:txBody>
      </p:sp>
      <p:sp>
        <p:nvSpPr>
          <p:cNvPr id="17" name="text-219">
            <a:extLst xmlns:a="http://schemas.openxmlformats.org/drawingml/2006/main">
              <a:ext uri="{FF2B5EF4-FFF2-40B4-BE49-F238E27FC236}">
                <a16:creationId xmlns:a16="http://schemas.microsoft.com/office/drawing/2014/main" id="{A642051F-C3A0-44BB-AB96-40A7F755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20025"/>
            <a:ext cx="1247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8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Jami 7 daqiqa / jamoa</a:t>
            </a:r>
          </a:p>
        </p:txBody>
      </p:sp>
    </p:spTree>
    <p:extLst>
      <p:ext uri="{BB962C8B-B14F-4D97-AF65-F5344CB8AC3E}">
        <p14:creationId xmlns:p14="http://schemas.microsoft.com/office/powerpoint/2010/main" val="5392562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220">
            <a:extLst xmlns:a="http://schemas.openxmlformats.org/drawingml/2006/main">
              <a:ext uri="{FF2B5EF4-FFF2-40B4-BE49-F238E27FC236}">
                <a16:creationId xmlns:a16="http://schemas.microsoft.com/office/drawing/2014/main" id="{08B0F140-A4EB-4212-A4FC-FACA59E9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Xorazmdan Toshkent finaliga</a:t>
            </a:r>
          </a:p>
        </p:txBody>
      </p:sp>
      <p:sp>
        <p:nvSpPr>
          <p:cNvPr id="2" name="text-221">
            <a:extLst xmlns:a="http://schemas.openxmlformats.org/drawingml/2006/main">
              <a:ext uri="{FF2B5EF4-FFF2-40B4-BE49-F238E27FC236}">
                <a16:creationId xmlns:a16="http://schemas.microsoft.com/office/drawing/2014/main" id="{8C7CFE82-51C5-4B61-AA35-B2C6F8F4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222">
            <a:extLst xmlns:a="http://schemas.openxmlformats.org/drawingml/2006/main">
              <a:ext uri="{FF2B5EF4-FFF2-40B4-BE49-F238E27FC236}">
                <a16:creationId xmlns:a16="http://schemas.microsoft.com/office/drawing/2014/main" id="{116576C5-62CB-489C-90D3-6DD52725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17</a:t>
            </a:r>
          </a:p>
        </p:txBody>
      </p:sp>
      <p:sp>
        <p:nvSpPr>
          <p:cNvPr id="4" name="text-223">
            <a:extLst xmlns:a="http://schemas.openxmlformats.org/drawingml/2006/main">
              <a:ext uri="{FF2B5EF4-FFF2-40B4-BE49-F238E27FC236}">
                <a16:creationId xmlns:a16="http://schemas.microsoft.com/office/drawing/2014/main" id="{0E39E20A-1480-443C-9FB3-E3EFD0CE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71700"/>
            <a:ext cx="53816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2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5825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5" name="text-224">
            <a:extLst xmlns:a="http://schemas.openxmlformats.org/drawingml/2006/main">
              <a:ext uri="{FF2B5EF4-FFF2-40B4-BE49-F238E27FC236}">
                <a16:creationId xmlns:a16="http://schemas.microsoft.com/office/drawing/2014/main" id="{23B6E507-D3E4-4476-B566-DFA80A56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5981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360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g‘olib jamoa</a:t>
            </a:r>
          </a:p>
        </p:txBody>
      </p:sp>
      <p:sp>
        <p:nvSpPr>
          <p:cNvPr id="6" name="text-225">
            <a:extLst xmlns:a="http://schemas.openxmlformats.org/drawingml/2006/main">
              <a:ext uri="{FF2B5EF4-FFF2-40B4-BE49-F238E27FC236}">
                <a16:creationId xmlns:a16="http://schemas.microsoft.com/office/drawing/2014/main" id="{5E7451A9-D4FD-4E62-9CEB-047F8F85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Har bir trekdan bittadan</a:t>
            </a:r>
          </a:p>
        </p:txBody>
      </p:sp>
      <p:sp>
        <p:nvSpPr>
          <p:cNvPr id="7" name="text-226">
            <a:extLst xmlns:a="http://schemas.openxmlformats.org/drawingml/2006/main">
              <a:ext uri="{FF2B5EF4-FFF2-40B4-BE49-F238E27FC236}">
                <a16:creationId xmlns:a16="http://schemas.microsoft.com/office/drawing/2014/main" id="{A74461C7-7CD0-4845-B9F3-5D628468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543175"/>
            <a:ext cx="676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Qimmatbaho sovg‘alar</a:t>
            </a:r>
          </a:p>
        </p:txBody>
      </p:sp>
      <p:sp>
        <p:nvSpPr>
          <p:cNvPr id="8" name="text-227">
            <a:extLst xmlns:a="http://schemas.openxmlformats.org/drawingml/2006/main">
              <a:ext uri="{FF2B5EF4-FFF2-40B4-BE49-F238E27FC236}">
                <a16:creationId xmlns:a16="http://schemas.microsoft.com/office/drawing/2014/main" id="{217E8583-7850-4E0E-B0C9-B2A4E763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62300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Xorazm bosqichi g‘oliblari uchun</a:t>
            </a:r>
          </a:p>
        </p:txBody>
      </p:sp>
      <p:sp>
        <p:nvSpPr>
          <p:cNvPr id="9" name="text-228">
            <a:extLst xmlns:a="http://schemas.openxmlformats.org/drawingml/2006/main">
              <a:ext uri="{FF2B5EF4-FFF2-40B4-BE49-F238E27FC236}">
                <a16:creationId xmlns:a16="http://schemas.microsoft.com/office/drawing/2014/main" id="{C68CFDF7-FD15-40A7-97F8-8B66289E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019550"/>
            <a:ext cx="676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Investitsiya imkoniyati</a:t>
            </a:r>
          </a:p>
        </p:txBody>
      </p:sp>
      <p:sp>
        <p:nvSpPr>
          <p:cNvPr id="10" name="text-229">
            <a:extLst xmlns:a="http://schemas.openxmlformats.org/drawingml/2006/main">
              <a:ext uri="{FF2B5EF4-FFF2-40B4-BE49-F238E27FC236}">
                <a16:creationId xmlns:a16="http://schemas.microsoft.com/office/drawing/2014/main" id="{10A90522-E44C-4F0D-971D-534F4946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63867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Loyihani rivojlantirish uchun</a:t>
            </a:r>
          </a:p>
        </p:txBody>
      </p:sp>
      <p:sp>
        <p:nvSpPr>
          <p:cNvPr id="11" name="text-230">
            <a:extLst xmlns:a="http://schemas.openxmlformats.org/drawingml/2006/main">
              <a:ext uri="{FF2B5EF4-FFF2-40B4-BE49-F238E27FC236}">
                <a16:creationId xmlns:a16="http://schemas.microsoft.com/office/drawing/2014/main" id="{CD1446DE-8031-4874-80C7-D2C7DABD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495925"/>
            <a:ext cx="676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FFFFFF"/>
                </a:solidFill>
                <a:latin typeface="Chakra Petch"/>
                <a:ea typeface="Chakra Petch"/>
                <a:cs typeface="Chakra Petch"/>
              </a:rPr>
              <a:t>Toshkent finaliga yo‘llanma</a:t>
            </a:r>
          </a:p>
        </p:txBody>
      </p:sp>
      <p:sp>
        <p:nvSpPr>
          <p:cNvPr id="12" name="text-231">
            <a:extLst xmlns:a="http://schemas.openxmlformats.org/drawingml/2006/main">
              <a:ext uri="{FF2B5EF4-FFF2-40B4-BE49-F238E27FC236}">
                <a16:creationId xmlns:a16="http://schemas.microsoft.com/office/drawing/2014/main" id="{FA6A9055-3F3C-4255-9065-18FFF35D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6115050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17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Dekabr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7D531-9805-4D98-BB9F-0AEC6296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48475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414C"/>
            </a:solidFill>
          </a:ln>
        </p:spPr>
      </p:sp>
      <p:sp>
        <p:nvSpPr>
          <p:cNvPr id="14" name="text-232">
            <a:extLst xmlns:a="http://schemas.openxmlformats.org/drawingml/2006/main">
              <a:ext uri="{FF2B5EF4-FFF2-40B4-BE49-F238E27FC236}">
                <a16:creationId xmlns:a16="http://schemas.microsoft.com/office/drawing/2014/main" id="{F169FFA2-9131-4EF2-B34D-6935568A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200900"/>
            <a:ext cx="13230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02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Respublikaning kuchli jamoalari va xalqaro ekspertlar bilan uchrashuv.</a:t>
            </a:r>
          </a:p>
          <a:p xmlns:a="http://schemas.openxmlformats.org/drawingml/2006/main">
            <a:pPr algn="l">
              <a:defRPr sz="202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defRPr>
            </a:pPr>
            <a:r>
              <a:rPr sz="2025" b="0">
                <a:solidFill>
                  <a:srgbClr val="BEC7CE"/>
                </a:solidFill>
                <a:latin typeface="Chakra Petch"/>
                <a:ea typeface="Chakra Petch"/>
                <a:cs typeface="Chakra Petch"/>
              </a:rPr>
              <a:t>Startapni kengaytirish va IT sohasida faoliyat boshlash imkoniyati.</a:t>
            </a:r>
          </a:p>
        </p:txBody>
      </p:sp>
    </p:spTree>
    <p:extLst>
      <p:ext uri="{BB962C8B-B14F-4D97-AF65-F5344CB8AC3E}">
        <p14:creationId xmlns:p14="http://schemas.microsoft.com/office/powerpoint/2010/main" val="7124709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233">
            <a:extLst xmlns:a="http://schemas.openxmlformats.org/drawingml/2006/main">
              <a:ext uri="{FF2B5EF4-FFF2-40B4-BE49-F238E27FC236}">
                <a16:creationId xmlns:a16="http://schemas.microsoft.com/office/drawing/2014/main" id="{5A4D393D-57F6-42F8-A7A8-22A4C546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Tayyorgarlik ro‘yxati</a:t>
            </a:r>
          </a:p>
        </p:txBody>
      </p:sp>
      <p:sp>
        <p:nvSpPr>
          <p:cNvPr id="2" name="text-234">
            <a:extLst xmlns:a="http://schemas.openxmlformats.org/drawingml/2006/main">
              <a:ext uri="{FF2B5EF4-FFF2-40B4-BE49-F238E27FC236}">
                <a16:creationId xmlns:a16="http://schemas.microsoft.com/office/drawing/2014/main" id="{FB48F826-2802-4C14-8062-A2173549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235">
            <a:extLst xmlns:a="http://schemas.openxmlformats.org/drawingml/2006/main">
              <a:ext uri="{FF2B5EF4-FFF2-40B4-BE49-F238E27FC236}">
                <a16:creationId xmlns:a16="http://schemas.microsoft.com/office/drawing/2014/main" id="{8B2487FE-E1AE-4E61-838E-48B0298F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18</a:t>
            </a:r>
          </a:p>
        </p:txBody>
      </p:sp>
      <p:sp>
        <p:nvSpPr>
          <p:cNvPr id="4" name="text-236">
            <a:extLst xmlns:a="http://schemas.openxmlformats.org/drawingml/2006/main">
              <a:ext uri="{FF2B5EF4-FFF2-40B4-BE49-F238E27FC236}">
                <a16:creationId xmlns:a16="http://schemas.microsoft.com/office/drawing/2014/main" id="{311B8E9F-FCCF-48A0-B779-BCDB1995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6572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77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Texnik tayyorgarlik</a:t>
            </a:r>
          </a:p>
        </p:txBody>
      </p:sp>
      <p:sp>
        <p:nvSpPr>
          <p:cNvPr id="5" name="text-237">
            <a:extLst xmlns:a="http://schemas.openxmlformats.org/drawingml/2006/main">
              <a:ext uri="{FF2B5EF4-FFF2-40B4-BE49-F238E27FC236}">
                <a16:creationId xmlns:a16="http://schemas.microsoft.com/office/drawing/2014/main" id="{023FB767-D9D5-4D96-9845-66727148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09950"/>
            <a:ext cx="6562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Noutbuk va zaryadlovchi</a:t>
            </a:r>
          </a:p>
        </p:txBody>
      </p:sp>
      <p:sp>
        <p:nvSpPr>
          <p:cNvPr id="6" name="text-238">
            <a:extLst xmlns:a="http://schemas.openxmlformats.org/drawingml/2006/main">
              <a:ext uri="{FF2B5EF4-FFF2-40B4-BE49-F238E27FC236}">
                <a16:creationId xmlns:a16="http://schemas.microsoft.com/office/drawing/2014/main" id="{B2448165-3DCF-44A0-994F-D153CDF0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90975"/>
            <a:ext cx="6562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Uzaytirgich, sichqoncha, zarur qurilmalar</a:t>
            </a:r>
          </a:p>
        </p:txBody>
      </p:sp>
      <p:sp>
        <p:nvSpPr>
          <p:cNvPr id="7" name="text-239">
            <a:extLst xmlns:a="http://schemas.openxmlformats.org/drawingml/2006/main">
              <a:ext uri="{FF2B5EF4-FFF2-40B4-BE49-F238E27FC236}">
                <a16:creationId xmlns:a16="http://schemas.microsoft.com/office/drawing/2014/main" id="{70CDCE44-14A0-4C67-BCA6-F2E892A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72000"/>
            <a:ext cx="6562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IDE, kutubxona va freymvorklar</a:t>
            </a:r>
          </a:p>
        </p:txBody>
      </p:sp>
      <p:sp>
        <p:nvSpPr>
          <p:cNvPr id="8" name="text-240">
            <a:extLst xmlns:a="http://schemas.openxmlformats.org/drawingml/2006/main">
              <a:ext uri="{FF2B5EF4-FFF2-40B4-BE49-F238E27FC236}">
                <a16:creationId xmlns:a16="http://schemas.microsoft.com/office/drawing/2014/main" id="{2601B5DE-1493-4DFA-AAF6-E1FA4DEA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53025"/>
            <a:ext cx="6562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Oflayn hujjatlar</a:t>
            </a:r>
          </a:p>
        </p:txBody>
      </p:sp>
      <p:sp>
        <p:nvSpPr>
          <p:cNvPr id="9" name="text-241">
            <a:extLst xmlns:a="http://schemas.openxmlformats.org/drawingml/2006/main">
              <a:ext uri="{FF2B5EF4-FFF2-40B4-BE49-F238E27FC236}">
                <a16:creationId xmlns:a16="http://schemas.microsoft.com/office/drawing/2014/main" id="{1AA35839-9237-46D3-B54F-2BFD8A4B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34050"/>
            <a:ext cx="6562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Zaxira internet yoki hotspot</a:t>
            </a:r>
          </a:p>
        </p:txBody>
      </p:sp>
      <p:sp>
        <p:nvSpPr>
          <p:cNvPr id="10" name="text-242">
            <a:extLst xmlns:a="http://schemas.openxmlformats.org/drawingml/2006/main">
              <a:ext uri="{FF2B5EF4-FFF2-40B4-BE49-F238E27FC236}">
                <a16:creationId xmlns:a16="http://schemas.microsoft.com/office/drawing/2014/main" id="{D0BBAE84-71D2-4B5D-8608-B0D48B3D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81250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775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Jamoaviy tayyorgarlik</a:t>
            </a:r>
          </a:p>
        </p:txBody>
      </p:sp>
      <p:sp>
        <p:nvSpPr>
          <p:cNvPr id="11" name="text-243">
            <a:extLst xmlns:a="http://schemas.openxmlformats.org/drawingml/2006/main">
              <a:ext uri="{FF2B5EF4-FFF2-40B4-BE49-F238E27FC236}">
                <a16:creationId xmlns:a16="http://schemas.microsoft.com/office/drawing/2014/main" id="{6CC234AA-4D61-4382-A68D-9878D235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9950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Muammo va g‘oyani aniqlashtirish</a:t>
            </a:r>
          </a:p>
        </p:txBody>
      </p:sp>
      <p:sp>
        <p:nvSpPr>
          <p:cNvPr id="12" name="text-244">
            <a:extLst xmlns:a="http://schemas.openxmlformats.org/drawingml/2006/main">
              <a:ext uri="{FF2B5EF4-FFF2-40B4-BE49-F238E27FC236}">
                <a16:creationId xmlns:a16="http://schemas.microsoft.com/office/drawing/2014/main" id="{2104238E-837B-4D65-93E5-6357485E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Vazifalarni taqsimlash</a:t>
            </a:r>
          </a:p>
        </p:txBody>
      </p:sp>
      <p:sp>
        <p:nvSpPr>
          <p:cNvPr id="13" name="text-245">
            <a:extLst xmlns:a="http://schemas.openxmlformats.org/drawingml/2006/main">
              <a:ext uri="{FF2B5EF4-FFF2-40B4-BE49-F238E27FC236}">
                <a16:creationId xmlns:a16="http://schemas.microsoft.com/office/drawing/2014/main" id="{5AF05D61-A531-4BE0-A399-A4E368C3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0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Taqdimot shablonini tayyorlash</a:t>
            </a:r>
          </a:p>
        </p:txBody>
      </p:sp>
      <p:sp>
        <p:nvSpPr>
          <p:cNvPr id="14" name="text-246">
            <a:extLst xmlns:a="http://schemas.openxmlformats.org/drawingml/2006/main">
              <a:ext uri="{FF2B5EF4-FFF2-40B4-BE49-F238E27FC236}">
                <a16:creationId xmlns:a16="http://schemas.microsoft.com/office/drawing/2014/main" id="{1ADC6AB7-F39A-4201-9632-E5169BF5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530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325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Kim taqdim etishini belgilash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5F818-1BE5-4F50-BFF0-05FD7E47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9610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DF"/>
            </a:solidFill>
          </a:ln>
        </p:spPr>
      </p:sp>
      <p:sp>
        <p:nvSpPr>
          <p:cNvPr id="16" name="text-247">
            <a:extLst xmlns:a="http://schemas.openxmlformats.org/drawingml/2006/main">
              <a:ext uri="{FF2B5EF4-FFF2-40B4-BE49-F238E27FC236}">
                <a16:creationId xmlns:a16="http://schemas.microsoft.com/office/drawing/2014/main" id="{CB2D910C-A90B-4052-B1C8-17F5D648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15200"/>
            <a:ext cx="1343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Tashkilotchilar Wi-Fi taqdim etadi. Dasturiy muhitni oldindan sozlab kelish vaqtni tejaydi.</a:t>
            </a:r>
          </a:p>
        </p:txBody>
      </p:sp>
    </p:spTree>
    <p:extLst>
      <p:ext uri="{BB962C8B-B14F-4D97-AF65-F5344CB8AC3E}">
        <p14:creationId xmlns:p14="http://schemas.microsoft.com/office/powerpoint/2010/main" val="13408861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48">
            <a:extLst xmlns:a="http://schemas.openxmlformats.org/drawingml/2006/main">
              <a:ext uri="{FF2B5EF4-FFF2-40B4-BE49-F238E27FC236}">
                <a16:creationId xmlns:a16="http://schemas.microsoft.com/office/drawing/2014/main" id="{14A1CE1D-9B4E-4981-BBA3-F3EF79DE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Ish muhiti va xavfsizlik</a:t>
            </a:r>
          </a:p>
        </p:txBody>
      </p:sp>
      <p:sp>
        <p:nvSpPr>
          <p:cNvPr id="2" name="text-249">
            <a:extLst xmlns:a="http://schemas.openxmlformats.org/drawingml/2006/main">
              <a:ext uri="{FF2B5EF4-FFF2-40B4-BE49-F238E27FC236}">
                <a16:creationId xmlns:a16="http://schemas.microsoft.com/office/drawing/2014/main" id="{8002E6A3-8FE3-4F56-9C25-6085FB28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250">
            <a:extLst xmlns:a="http://schemas.openxmlformats.org/drawingml/2006/main">
              <a:ext uri="{FF2B5EF4-FFF2-40B4-BE49-F238E27FC236}">
                <a16:creationId xmlns:a16="http://schemas.microsoft.com/office/drawing/2014/main" id="{B27C60DE-A1DE-4DF6-95A5-C332A827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19</a:t>
            </a:r>
          </a:p>
        </p:txBody>
      </p:sp>
      <p:sp>
        <p:nvSpPr>
          <p:cNvPr id="4" name="text-251">
            <a:extLst xmlns:a="http://schemas.openxmlformats.org/drawingml/2006/main">
              <a:ext uri="{FF2B5EF4-FFF2-40B4-BE49-F238E27FC236}">
                <a16:creationId xmlns:a16="http://schemas.microsoft.com/office/drawing/2014/main" id="{B2F0A565-27BB-4BEA-9BED-5B93CB38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01</a:t>
            </a:r>
          </a:p>
        </p:txBody>
      </p:sp>
      <p:sp>
        <p:nvSpPr>
          <p:cNvPr id="5" name="text-252">
            <a:extLst xmlns:a="http://schemas.openxmlformats.org/drawingml/2006/main">
              <a:ext uri="{FF2B5EF4-FFF2-40B4-BE49-F238E27FC236}">
                <a16:creationId xmlns:a16="http://schemas.microsoft.com/office/drawing/2014/main" id="{89FCD5C0-002B-4B56-B7DE-83E3E229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1254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Sog‘liq va dam olish</a:t>
            </a:r>
          </a:p>
        </p:txBody>
      </p:sp>
      <p:sp>
        <p:nvSpPr>
          <p:cNvPr id="6" name="text-253">
            <a:extLst xmlns:a="http://schemas.openxmlformats.org/drawingml/2006/main">
              <a:ext uri="{FF2B5EF4-FFF2-40B4-BE49-F238E27FC236}">
                <a16:creationId xmlns:a16="http://schemas.microsoft.com/office/drawing/2014/main" id="{5A969067-72EA-453A-88EF-C8E77304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9900"/>
            <a:ext cx="12544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Uyqu va ovqatlanish tartibiga rioya qiling.</a:t>
            </a:r>
          </a:p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Qisqa tanaffuslar uchun vaqt ajrating.</a:t>
            </a:r>
          </a:p>
        </p:txBody>
      </p:sp>
      <p:sp>
        <p:nvSpPr>
          <p:cNvPr id="7" name="text-254">
            <a:extLst xmlns:a="http://schemas.openxmlformats.org/drawingml/2006/main">
              <a:ext uri="{FF2B5EF4-FFF2-40B4-BE49-F238E27FC236}">
                <a16:creationId xmlns:a16="http://schemas.microsoft.com/office/drawing/2014/main" id="{B78715B5-57D1-412A-A6C1-79D41B5A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sp>
        <p:nvSpPr>
          <p:cNvPr id="8" name="text-255">
            <a:extLst xmlns:a="http://schemas.openxmlformats.org/drawingml/2006/main">
              <a:ext uri="{FF2B5EF4-FFF2-40B4-BE49-F238E27FC236}">
                <a16:creationId xmlns:a16="http://schemas.microsoft.com/office/drawing/2014/main" id="{D38C495F-B510-47ED-9A57-5CC1E784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76725"/>
            <a:ext cx="1254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O‘zaro hurmat</a:t>
            </a:r>
          </a:p>
        </p:txBody>
      </p:sp>
      <p:sp>
        <p:nvSpPr>
          <p:cNvPr id="9" name="text-256">
            <a:extLst xmlns:a="http://schemas.openxmlformats.org/drawingml/2006/main">
              <a:ext uri="{FF2B5EF4-FFF2-40B4-BE49-F238E27FC236}">
                <a16:creationId xmlns:a16="http://schemas.microsoft.com/office/drawing/2014/main" id="{607102A9-8A5F-4339-8F26-C110EF43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57750"/>
            <a:ext cx="12544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Boshqa jamoalar, mentorlar va tashkilotchilarga</a:t>
            </a:r>
          </a:p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hurmat bilan munosabatda bo‘ling.</a:t>
            </a:r>
          </a:p>
        </p:txBody>
      </p:sp>
      <p:sp>
        <p:nvSpPr>
          <p:cNvPr id="10" name="text-257">
            <a:extLst xmlns:a="http://schemas.openxmlformats.org/drawingml/2006/main">
              <a:ext uri="{FF2B5EF4-FFF2-40B4-BE49-F238E27FC236}">
                <a16:creationId xmlns:a16="http://schemas.microsoft.com/office/drawing/2014/main" id="{9899676B-D41C-445A-BE43-A28F127C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531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sp>
        <p:nvSpPr>
          <p:cNvPr id="11" name="text-258">
            <a:extLst xmlns:a="http://schemas.openxmlformats.org/drawingml/2006/main">
              <a:ext uri="{FF2B5EF4-FFF2-40B4-BE49-F238E27FC236}">
                <a16:creationId xmlns:a16="http://schemas.microsoft.com/office/drawing/2014/main" id="{7D2E19CC-6F3D-484A-B639-7940E5AD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124575"/>
            <a:ext cx="1254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5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Xavfsizlik qoidalari</a:t>
            </a:r>
          </a:p>
        </p:txBody>
      </p:sp>
      <p:sp>
        <p:nvSpPr>
          <p:cNvPr id="12" name="text-259">
            <a:extLst xmlns:a="http://schemas.openxmlformats.org/drawingml/2006/main">
              <a:ext uri="{FF2B5EF4-FFF2-40B4-BE49-F238E27FC236}">
                <a16:creationId xmlns:a16="http://schemas.microsoft.com/office/drawing/2014/main" id="{E793F815-2D34-4285-83E5-DF694939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705600"/>
            <a:ext cx="12544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Xavfsizlik qoidalariga rioya qilish</a:t>
            </a:r>
          </a:p>
          <a:p xmlns:a="http://schemas.openxmlformats.org/drawingml/2006/main">
            <a:pPr algn="l">
              <a:def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1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barcha ishtirokchilar uchun majburiy.</a:t>
            </a:r>
          </a:p>
        </p:txBody>
      </p:sp>
    </p:spTree>
    <p:extLst>
      <p:ext uri="{BB962C8B-B14F-4D97-AF65-F5344CB8AC3E}">
        <p14:creationId xmlns:p14="http://schemas.microsoft.com/office/powerpoint/2010/main" val="13418071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60">
            <a:extLst xmlns:a="http://schemas.openxmlformats.org/drawingml/2006/main">
              <a:ext uri="{FF2B5EF4-FFF2-40B4-BE49-F238E27FC236}">
                <a16:creationId xmlns:a16="http://schemas.microsoft.com/office/drawing/2014/main" id="{91A3E95C-5271-47E7-AA7E-1AF1CF1A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3750" b="1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Ustuvor yo‘nalishlar uchun ballar</a:t>
            </a:r>
          </a:p>
        </p:txBody>
      </p:sp>
      <p:sp>
        <p:nvSpPr>
          <p:cNvPr id="2" name="text-261">
            <a:extLst xmlns:a="http://schemas.openxmlformats.org/drawingml/2006/main">
              <a:ext uri="{FF2B5EF4-FFF2-40B4-BE49-F238E27FC236}">
                <a16:creationId xmlns:a16="http://schemas.microsoft.com/office/drawing/2014/main" id="{CF4E1442-C6D9-49F9-969C-752CC40A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695325"/>
            <a:ext cx="119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39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}}</a:t>
            </a:r>
          </a:p>
        </p:txBody>
      </p:sp>
      <p:sp>
        <p:nvSpPr>
          <p:cNvPr id="3" name="text-262">
            <a:extLst xmlns:a="http://schemas.openxmlformats.org/drawingml/2006/main">
              <a:ext uri="{FF2B5EF4-FFF2-40B4-BE49-F238E27FC236}">
                <a16:creationId xmlns:a16="http://schemas.microsoft.com/office/drawing/2014/main" id="{67802A02-B68A-4956-9ACA-E8763305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877175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defRPr>
            </a:pPr>
            <a:r>
              <a:rPr sz="1575" b="0">
                <a:solidFill>
                  <a:srgbClr val="65727E"/>
                </a:solidFill>
                <a:latin typeface="Chakra Petch"/>
                <a:ea typeface="Chakra Petch"/>
                <a:cs typeface="Chakra Petch"/>
              </a:rPr>
              <a:t>20</a:t>
            </a:r>
          </a:p>
        </p:txBody>
      </p:sp>
      <p:sp>
        <p:nvSpPr>
          <p:cNvPr id="4" name="text-263">
            <a:extLst xmlns:a="http://schemas.openxmlformats.org/drawingml/2006/main">
              <a:ext uri="{FF2B5EF4-FFF2-40B4-BE49-F238E27FC236}">
                <a16:creationId xmlns:a16="http://schemas.microsoft.com/office/drawing/2014/main" id="{5CD6DFF2-F386-40A4-B459-27269411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14525"/>
            <a:ext cx="1356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defRPr>
            </a:pPr>
            <a:r>
              <a:rPr sz="2400" b="0">
                <a:solidFill>
                  <a:srgbClr val="141C25"/>
                </a:solidFill>
                <a:latin typeface="Chakra Petch"/>
                <a:ea typeface="Chakra Petch"/>
                <a:cs typeface="Chakra Petch"/>
              </a:rPr>
              <a:t>Ustuvor yo‘nalishni tanlasangiz, quyidagi uchta mezon bo‘yicha: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19150" y="2686050"/>
          <a:ext xmlns:a="http://schemas.openxmlformats.org/drawingml/2006/main" cx="13563600" cy="4743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524375"/>
                <a:gridCol w="4524375"/>
                <a:gridCol w="45148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Texnik mentor</a:t>
                      </a:r>
                    </a:p>
                  </a:txBody>
                  <a:tcPr marL="91440" marR="91440" marT="45720" marB="45720" anchor="ctr">
                    <a:solidFill>
                      <a:srgbClr val="1017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Biznes mentor</a:t>
                      </a:r>
                    </a:p>
                  </a:txBody>
                  <a:tcPr marL="91440" marR="91440" marT="45720" marB="45720" anchor="ctr">
                    <a:solidFill>
                      <a:srgbClr val="1017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Soha mentori</a:t>
                      </a:r>
                    </a:p>
                  </a:txBody>
                  <a:tcPr marL="91440" marR="91440" marT="45720" marB="45720" anchor="ctr">
                    <a:solidFill>
                      <a:srgbClr val="101720"/>
                    </a:solidFill>
                  </a:tcPr>
                </a:tc>
              </a:tr>
              <a:tr h="1181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Texnik amalga oshirish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G‘oya va muammoning dolzarbligi</a:t>
                      </a:r>
                    </a:p>
                    <a:p>
                      <a:r>
                        <a:rPr sz="2175" b="1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+2 ball</a:t>
                      </a:r>
                    </a:p>
                  </a:txBody>
                  <a:tcPr marL="91440" marR="91440" marT="45720" marB="45720" anchor="ctr">
                    <a:solidFill>
                      <a:srgbClr val="FADBD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Muammoning dolzarbligi</a:t>
                      </a:r>
                    </a:p>
                    <a:p>
                      <a:r>
                        <a:rPr sz="2175" b="1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10/10</a:t>
                      </a:r>
                    </a:p>
                  </a:txBody>
                  <a:tcPr marL="91440" marR="91440" marT="45720" marB="45720" anchor="ctr">
                    <a:solidFill>
                      <a:srgbClr val="FADBDD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Kod tayyorligi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Biznes modeli va monetizatsiya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Sohani chuqur tushunish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Yechimning innovatsionligi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Raqobatdagi ustunlik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Amaliy qo‘llanish</a:t>
                      </a:r>
                    </a:p>
                    <a:p>
                      <a:r>
                        <a:rPr sz="2175" b="1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7/10</a:t>
                      </a:r>
                    </a:p>
                  </a:txBody>
                  <a:tcPr marL="91440" marR="91440" marT="45720" marB="45720" anchor="ctr">
                    <a:solidFill>
                      <a:srgbClr val="FADBDD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Jamoaning bilim darajasi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Moliyaviy barqarorlik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Qonunchilikka muvofiqlik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Texnologiyalar to‘plami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O‘sish imkoniyati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1C25"/>
                          </a:solidFill>
                          <a:latin typeface="Chakra Petch"/>
                          <a:ea typeface="Chakra Petch"/>
                          <a:cs typeface="Chakra Petch"/>
                        </a:rPr>
                        <a:t>Ta’sir ko‘lami</a:t>
                      </a:r>
                    </a:p>
                  </a:txBody>
                  <a:tcPr marL="91440" marR="91440" marT="45720" marB="45720" anchor="ctr">
                    <a:solidFill>
                      <a:srgbClr val="F6F6F3"/>
                    </a:solidFill>
                  </a:tcPr>
                </a:tc>
              </a:tr>
            </a:tbl>
          </a:graphicData>
        </a:graphic>
      </p:graphicFrame>
      <p:sp>
        <p:nvSpPr>
          <p:cNvPr id="6" name="text-264">
            <a:extLst xmlns:a="http://schemas.openxmlformats.org/drawingml/2006/main">
              <a:ext uri="{FF2B5EF4-FFF2-40B4-BE49-F238E27FC236}">
                <a16:creationId xmlns:a16="http://schemas.microsoft.com/office/drawing/2014/main" id="{621336CF-B59C-4476-8E16-F75FE645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24775"/>
            <a:ext cx="1257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defRPr>
            </a:pPr>
            <a:r>
              <a:rPr sz="1800" b="1">
                <a:solidFill>
                  <a:srgbClr val="EF686B"/>
                </a:solidFill>
                <a:latin typeface="Chakra Petch"/>
                <a:ea typeface="Chakra Petch"/>
                <a:cs typeface="Chakra Petch"/>
              </a:rPr>
              <a:t>+2 BALL — QO‘SHIMCHA BALL     •     10/10 VA 7/10 — MEZON BAHOSI</a:t>
            </a:r>
          </a:p>
        </p:txBody>
      </p:sp>
    </p:spTree>
    <p:extLst>
      <p:ext uri="{BB962C8B-B14F-4D97-AF65-F5344CB8AC3E}">
        <p14:creationId xmlns:p14="http://schemas.microsoft.com/office/powerpoint/2010/main" val="737354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2026-09-17T06:40:49.7050000Z</dcterms:created>
  <dcterms:modified xsi:type="dcterms:W3CDTF">2026-09-17T06:40:49.7050000Z</dcterms:modified>
</coreProperties>
</file>