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Salom. Biz Nigoh AI: homilador ayol har kuni 2 daqiqalik so‘rovnoma to‘ldiradi, xususiy klinika esa xavfli belgini bir necha soniyada ko‘radi. Bugun sizning 5 ta mezoningiz bo‘yicha birma-bir javob beramiz.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Avval mahsulot uch qadamda, keyin har bir mezon uchun bitta slayd. Oxirida jonli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O‘zbekistonda ayollarning deyarli hammasi homiladorlik ko‘rigidan o‘tadi. Lekin ko‘riklar orasida 2–4 hafta o‘tadi, preeklampsiya va homila harakati kamayishi esa kunlar ichida rivojlanadi. Shu oraliqda klinika hech narsani ko‘rmaydi.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Biz bemor ma’lumotini sotmaymiz. Klinika parvarishni boshqarish vositasi uchun to‘laydi: 9 oy davomida bemorni ushlab qoladi, xavfni erta ko‘radi va xizmat sifatini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DMED sog‘liqni saqlashni raqamlashtiradi, biz uni almashtirmaymiz, to‘ldiramiz. Xorijiy homiladorlik trekerlari esa faqat ona uchun: klinika bilan bog‘lanmagan va o‘zbek tilida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Xarajat tuzilmasi yengil: AI arzon model, ilova do‘konlari komissiyasi yo‘q, bitta server yetarli. Narx hozircha gipoteza, uni pilotda 1–2 klinika bilan tekshiramiz.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Xususiy tibbiyot bozori tez o‘smoqda. Biz homiladorlikdan boshlaymiz, lekin xuddi shu halqa tug‘ruqdan keyingi davr va bola salomatligiga ham cho‘ziladi: o‘sha klinikalar, o‘sha oilalar.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Endi 2 daqiqalik jonli demo: telefonda so‘rovnoma, qon ketishi belgisi, klinika panelida qizil ogohlantirish va AI xulosasi. Keyin savollaringizga javob beramiz.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CHECKPOINT 2  ·  BIZNES MENTOR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>
                <a:solidFill>
                  <a:srgbClr val="FFFFFF"/>
                </a:solidFill>
                <a:latin typeface="Arial"/>
              </a:rPr>
              <a:t>Nigoh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CFE3E6"/>
                </a:solidFill>
                <a:latin typeface="Arial"/>
              </a:rPr>
              <a:t>Xususiy klinikalar uchun homiladorlikni masofadan kuzatish xizmati. Ona uchun bepul, klinika uchun obuna.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E8846B"/>
                </a:solidFill>
                <a:latin typeface="Arial"/>
              </a:rPr>
              <a:t>Qoida qaror qiladi. </a:t>
            </a:r>
            <a:r>
              <a:rPr sz="2000" b="1">
                <a:solidFill>
                  <a:srgbClr val="FFFFFF"/>
                </a:solidFill>
                <a:latin typeface="Arial"/>
              </a:rPr>
              <a:t>AI tushuntiradi.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9DB7BB"/>
                </a:solidFill>
                <a:latin typeface="Arial"/>
              </a:rPr>
              <a:t>Anicenna jamoasi  ·  Tibbiyot treki  ·  19-sentabr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16168" y="1298448"/>
            <a:ext cx="5724144" cy="3184000"/>
          </a:xfrm>
          <a:prstGeom prst="roundRect">
            <a:avLst>
              <a:gd name="adj" fmla="val 3000"/>
            </a:avLst>
          </a:prstGeom>
          <a:solidFill>
            <a:srgbClr val="E3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71600"/>
            <a:ext cx="5577840" cy="30376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46177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DB7BB"/>
                </a:solidFill>
                <a:latin typeface="Arial"/>
              </a:rPr>
              <a:t>Ishlayotgan mahsulot: chapda ona telefoni, o‘ngda klinika paneli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10 DAQIQALIK REJA  ·  BIZNES MENTOR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E2A2E"/>
                </a:solidFill>
                <a:latin typeface="Arial"/>
              </a:rPr>
              <a:t>5 mezon, 5 ta aniq javob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5B6B71"/>
                </a:solidFill>
                <a:latin typeface="Arial"/>
              </a:rPr>
              <a:t>MAHSULOT QANDAY ISHLAYDI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23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2A2E"/>
                </a:solidFill>
                <a:latin typeface="Arial"/>
              </a:rPr>
              <a:t>Ona 2 daqiqada javob beradi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89503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8–10 ta savol, o‘zbek tilida, katta tugmalar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0332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66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2A2E"/>
                </a:solidFill>
                <a:latin typeface="Arial"/>
              </a:rPr>
              <a:t>Qoidalar xavfni aniqlaydi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325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23 ta qoida: yashil / sariq / qizil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4632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09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E2A2E"/>
                </a:solidFill>
                <a:latin typeface="Arial"/>
              </a:rPr>
              <a:t>Klinika 3 soniyada ko‘radi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1755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Ogohlantirish, grafiklar, AI xulosasi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1883664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88366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288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G‘oya va muammoning dolzarbligi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76272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Ayollar ko‘rikka keladi, lekin tashriflar orasida klinika hech narsani ko‘rmaydi</a:t>
            </a:r>
          </a:p>
        </p:txBody>
      </p:sp>
      <p:sp>
        <p:nvSpPr>
          <p:cNvPr id="22" name="Oval 21"/>
          <p:cNvSpPr/>
          <p:nvPr/>
        </p:nvSpPr>
        <p:spPr>
          <a:xfrm>
            <a:off x="5257800" y="2743200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743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8833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Biznes modeli va monetizatsiya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03580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B2B2C: klinika obuna to‘laydi, ona bepul foydalanadi</a:t>
            </a:r>
          </a:p>
        </p:txBody>
      </p:sp>
      <p:sp>
        <p:nvSpPr>
          <p:cNvPr id="26" name="Oval 25"/>
          <p:cNvSpPr/>
          <p:nvPr/>
        </p:nvSpPr>
        <p:spPr>
          <a:xfrm>
            <a:off x="5257800" y="3602736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36027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54787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Raqobatdagi ustunlik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895344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Yagona mahsulot: ona ilovasi + klinika paneli + xavf qoidalari, o‘zbek tilida</a:t>
            </a:r>
          </a:p>
        </p:txBody>
      </p:sp>
      <p:sp>
        <p:nvSpPr>
          <p:cNvPr id="30" name="Oval 29"/>
          <p:cNvSpPr/>
          <p:nvPr/>
        </p:nvSpPr>
        <p:spPr>
          <a:xfrm>
            <a:off x="5257800" y="4462272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46227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4074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Moliyaviy barqarorlik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7548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Past xarajat: AI bemor boshiga oyiga ≈ 1–2 ming so‘m, do‘kon komissiyasi yo‘q</a:t>
            </a:r>
          </a:p>
        </p:txBody>
      </p:sp>
      <p:sp>
        <p:nvSpPr>
          <p:cNvPr id="34" name="Oval 33"/>
          <p:cNvSpPr/>
          <p:nvPr/>
        </p:nvSpPr>
        <p:spPr>
          <a:xfrm>
            <a:off x="5257800" y="5321807"/>
            <a:ext cx="566928" cy="566928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5321807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26694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E2A2E"/>
                </a:solidFill>
                <a:latin typeface="Arial"/>
              </a:rPr>
              <a:t>O‘sish imkoniyati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614416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B71"/>
                </a:solidFill>
                <a:latin typeface="Arial"/>
              </a:rPr>
              <a:t>8 700 xususiy klinika; homiladorlikdan bola salomatligigacha kengayish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Biznes mentor  ·  19-sentabr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1 / 5  ·  G‘OYA VA MUAMMONING DOLZARBLIGI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Muammo tibbiyotga kirishda emas, tashriflar orasidagi bo‘shliqda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Biznes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98,8%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kamida 1 marta ko‘rikdan o‘tgan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FE3E6"/>
                </a:solidFill>
                <a:latin typeface="Arial"/>
              </a:rPr>
              <a:t>yaqinda tug‘gan ayollar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89,5%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4 va undan ko‘p ko‘rik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tizimga kirish muammo 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53,5%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8 va undan ko‘p ko‘rik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JSST tavsiyasiga yarmi yetadi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E2A2E"/>
                </a:solidFill>
                <a:latin typeface="Arial"/>
              </a:rPr>
              <a:t>2–4 hafta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ko‘riklar orasidagi ko‘r hudud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xavfli belgilar kunlarda rivojlanadi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13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Manba: O‘zbekiston MICS 2021–2022 (IPUMS Microdata Center)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60520"/>
            <a:ext cx="3489960" cy="19202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325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Ona uchun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736592"/>
            <a:ext cx="30876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«Bu normalmi? Qachon va kimga murojaat qilaman?» degan savolga tez javob yo‘q. Qishloqdagi ayol klinikadan uzoqda.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8640" y="4160520"/>
            <a:ext cx="3489960" cy="19202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9808" y="4325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Klinika uchun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9808" y="4736592"/>
            <a:ext cx="30876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Bemor uyda nima bo‘layotganini bilmaydi. Xavfli holatni faqat keyingi tashrifda yoki tez yordamda ko‘radi.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7199" y="4160520"/>
            <a:ext cx="3489960" cy="19202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8367" y="4325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Bizning g‘oya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8367" y="4736592"/>
            <a:ext cx="30876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Har kuni 2 daqiqalik so‘rovnoma. Xavfli belgi klinikaga 3 soniyada yetadi. AI tushuntiradi, shifokor qaror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2 / 5  ·  BIZNES MODELI VA MONETIZATSIYA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B2B2C: ona bepul foydalanadi, klinika obuna to‘laydi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Biznes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89960" cy="21488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1. SaaS obuna (asosiy)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2"/>
            <a:ext cx="308762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Klinika har bir faol homilador uchun oylik to‘lov to‘laydi: panel, ogohlantirishlar, AI xulosalar, xabarlashuv, QR bilan ulash.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874519"/>
            <a:ext cx="3489960" cy="21488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9808" y="2039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2. Homiladorlik paketlari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808" y="2450592"/>
            <a:ext cx="308762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Klinika + Nigoh AI: 9 oylik raqamli va klinik paket. Klinika paketni qimmatroq sotadi, biz platforma to‘lovini olamiz.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199" y="1874519"/>
            <a:ext cx="3489960" cy="21488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8367" y="2039112"/>
            <a:ext cx="3087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A4F59"/>
                </a:solidFill>
                <a:latin typeface="Arial"/>
              </a:rPr>
              <a:t>3. Kelajak: B2B va davlat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367" y="2450592"/>
            <a:ext cx="308762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A2E"/>
                </a:solidFill>
                <a:latin typeface="Arial"/>
              </a:rPr>
              <a:t>Sug‘urta va ish beruvchilar uchun homiladorlik dasturlari; davlat uchun onalik salomatligi monitoringi shartnomalari.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A4F59"/>
                </a:solidFill>
                <a:latin typeface="Arial"/>
              </a:rPr>
              <a:t>Klinika nega to‘laydi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791456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709160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Bemorni 9 oy ushlab qoladi, bir martalik qabul emas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517550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09320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Xavfli holatni erta ko‘radi: obro‘ va xavfsizlik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5559552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477256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Shifokor vaqtini tejaydi: kimga e’tibor kerakligi tayyor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9768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1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Biz shaxsiy tibbiy ma’lumotni sotmaymiz.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1500" b="0">
                <a:solidFill>
                  <a:srgbClr val="9DB7BB"/>
                </a:solidFill>
                <a:latin typeface="Arial"/>
              </a:rPr>
              <a:t>Daromad parvarishni muvofiqlashtirishdan keladi, bemor ma’lumotidan 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3 / 5  ·  RAQOBATDAGI USTUNLIK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Infratuzilma bilan raqobat emas: tashriflar orasidagi qatlam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Biznes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27080" cy="457200"/>
          </a:xfrm>
          <a:prstGeom prst="roundRect">
            <a:avLst>
              <a:gd name="adj" fmla="val 15000"/>
            </a:avLst>
          </a:prstGeom>
          <a:solidFill>
            <a:srgbClr val="15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4688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1828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DMED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Xorijiy homiladorlik trekerlari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828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Nigoh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95728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A4F59"/>
                </a:solidFill>
                <a:latin typeface="Arial"/>
              </a:rPr>
              <a:t>Asosiy vazifa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39572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Umumiy tibbiy infratuzilma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9572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Ona uchun kalendar va maqolalar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39572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2A2E"/>
                </a:solidFill>
                <a:latin typeface="Arial"/>
              </a:rPr>
              <a:t>Tashriflar orasida kuzatuv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99232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A4F59"/>
                </a:solidFill>
                <a:latin typeface="Arial"/>
              </a:rPr>
              <a:t>Kunlik xavf so‘rovnomasi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299923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Yo‘q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99923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Qisman, klinikaga yetmaydi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999232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2A2E"/>
                </a:solidFill>
                <a:latin typeface="Arial"/>
              </a:rPr>
              <a:t>Bor: 23 ta qoida, 3 daraja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02736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02736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A4F59"/>
                </a:solidFill>
                <a:latin typeface="Arial"/>
              </a:rPr>
              <a:t>Klinikaga jonli ogohlantirish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360273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Yo‘q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6027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Yo‘q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60273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2A2E"/>
                </a:solidFill>
                <a:latin typeface="Arial"/>
              </a:rPr>
              <a:t>Bor: ≤ 3 soniya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06240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A4F59"/>
                </a:solidFill>
                <a:latin typeface="Arial"/>
              </a:rPr>
              <a:t>Shifokor uchun AI xulosa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39" y="42062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Umumiy AI vositalari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20624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Yo‘q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20624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2A2E"/>
                </a:solidFill>
                <a:latin typeface="Arial"/>
              </a:rPr>
              <a:t>Bor: 14 kunlik trend va choralar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09744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09744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A4F59"/>
                </a:solidFill>
                <a:latin typeface="Arial"/>
              </a:rPr>
              <a:t>O‘zbek tili, o‘rnatishsiz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39" y="480974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O‘zbek tilida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809744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Yo‘q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809744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2A2E"/>
                </a:solidFill>
                <a:latin typeface="Arial"/>
              </a:rPr>
              <a:t>Bor: QR orqali brauzerda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13248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A4F59"/>
                </a:solidFill>
                <a:latin typeface="Arial"/>
              </a:rPr>
              <a:t>Mijoz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39" y="541324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Davlat va muassasalar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541324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B71"/>
                </a:solidFill>
                <a:latin typeface="Arial"/>
              </a:rPr>
              <a:t>Iste’molchi (B2C)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41324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E2A2E"/>
                </a:solidFill>
                <a:latin typeface="Arial"/>
              </a:rPr>
              <a:t>Xususiy klinikalar (B2B2C)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4 / 5  ·  MOLIYAVIY BARQARORLIK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Past o‘zgaruvchan xarajat, obunaga asoslangan daromad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Biznes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≈ 1–2 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so‘m: AI xarajati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FE3E6"/>
                </a:solidFill>
                <a:latin typeface="Arial"/>
              </a:rPr>
              <a:t>bemor boshiga oyiga, gpt-5-mini (taxminiy hisob)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do‘kon komissiyasi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PWA: App Store va Google Play kerak 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E2A2E"/>
                </a:solidFill>
                <a:latin typeface="Arial"/>
              </a:rPr>
              <a:t>1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yuzlab bemor uchun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Python + SQLite, keyin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1E2A2E"/>
                </a:solidFill>
                <a:latin typeface="Arial"/>
              </a:rPr>
              <a:t>4 kishi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jamoa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dasturchi, loyiha rahbari, biznes, tibbiyot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40480"/>
            <a:ext cx="10927080" cy="224028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5B6B71"/>
                </a:solidFill>
                <a:latin typeface="Arial"/>
              </a:rPr>
              <a:t>BIRLIK IQTISODIYOTI  ·  GIPOTEZA, PILOTDA TEKSHIRILADI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A4F59"/>
                </a:solidFill>
                <a:latin typeface="Arial"/>
              </a:rPr>
              <a:t>Oylik daromad = klinikalar soni × faol homiladorlar × bemor boshiga oylik narx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E2A2E"/>
                </a:solidFill>
                <a:latin typeface="Arial"/>
              </a:rPr>
              <a:t>Misol: 1 klinika × 200 homilador × 20 000 so‘m = 4 mln so‘m / oy.  25 klinika = 100 mln so‘m / oy.</a:t>
            </a:r>
          </a:p>
          <a:p>
            <a:pPr algn="l">
              <a:lnSpc>
                <a:spcPct val="108000"/>
              </a:lnSpc>
              <a:spcBef>
                <a:spcPts val="540"/>
              </a:spcBef>
            </a:pPr>
            <a:r>
              <a:rPr sz="1350" b="0">
                <a:solidFill>
                  <a:srgbClr val="1E2A2E"/>
                </a:solidFill>
                <a:latin typeface="Arial"/>
              </a:rPr>
              <a:t>AI va server xarajati daromadning 10% idan kam bo‘lishi kutiladi. Asosiy xarajat: jamoa va klinikalarni ulash (sotuv).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713232" cy="713232"/>
          </a:xfrm>
          <a:prstGeom prst="ellipse">
            <a:avLst/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E6B78"/>
                </a:solidFill>
                <a:latin typeface="Arial"/>
              </a:rPr>
              <a:t>MEZON 5 / 5  ·  O‘SISH IMKONIYATI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E2A2E"/>
                </a:solidFill>
                <a:latin typeface="Arial"/>
              </a:rPr>
              <a:t>O‘sayotgan xususiy tibbiyot bozori va kengayadigan mahsulot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Nigoh AI  ·  Checkpoint 2  ·  Biznes mentor  ·  19-sentabr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19,9 trln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so‘m: tibbiy xizmatlar,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FE3E6"/>
                </a:solidFill>
                <a:latin typeface="Arial"/>
              </a:rPr>
              <a:t>+14,2% yiliga (Milliy statistika qo‘mitasi)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~30%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xususiy sektor ulushi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2025-yil (President.uz)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E2A2E"/>
                </a:solidFill>
                <a:latin typeface="Arial"/>
              </a:rPr>
              <a:t>3 200 → 8 700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xususiy klinikalar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2016 → 2026 oxiri, kutilmoqda (President.uz)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7451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7" y="198424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E2A2E"/>
                </a:solidFill>
                <a:latin typeface="Arial"/>
              </a:rP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A2E"/>
                </a:solidFill>
                <a:latin typeface="Arial"/>
              </a:rPr>
              <a:t>davlat maqsadi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3218687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1"/>
                </a:solidFill>
                <a:latin typeface="Arial"/>
              </a:rPr>
              <a:t>xususiy klinikalarni davlat buyurtmasiga jalb qilish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A4F59"/>
                </a:solidFill>
                <a:latin typeface="Arial"/>
              </a:rPr>
              <a:t>Kengayish yo‘li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434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0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CFE3E6"/>
                </a:solidFill>
                <a:latin typeface="Arial"/>
              </a:rPr>
              <a:t>1-bosqich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Pilot: 1–2 klinika, Xorazm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70048" y="4846320"/>
            <a:ext cx="182880" cy="201168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62072" y="43434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9232" y="44348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B71"/>
                </a:solidFill>
                <a:latin typeface="Arial"/>
              </a:rPr>
              <a:t>2-bosqich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475488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E2A2E"/>
                </a:solidFill>
                <a:latin typeface="Arial"/>
              </a:rPr>
              <a:t>Viloyat klinikalari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92040" y="4846320"/>
            <a:ext cx="182880" cy="201168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84064" y="43434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21224" y="44348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B71"/>
                </a:solidFill>
                <a:latin typeface="Arial"/>
              </a:rPr>
              <a:t>3-bosqich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1224" y="475488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E2A2E"/>
                </a:solidFill>
                <a:latin typeface="Arial"/>
              </a:rPr>
              <a:t>Respublika + DMED integratsiyasi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114032" y="4846320"/>
            <a:ext cx="182880" cy="201168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06056" y="43434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6" y="44348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B71"/>
                </a:solidFill>
                <a:latin typeface="Arial"/>
              </a:rPr>
              <a:t>4-bosqich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475488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E2A2E"/>
                </a:solidFill>
                <a:latin typeface="Arial"/>
              </a:rPr>
              <a:t>Tug‘ruqdan keyin va chaqaloq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336024" y="4846320"/>
            <a:ext cx="182880" cy="201168"/>
          </a:xfrm>
          <a:prstGeom prst="rightArrow">
            <a:avLst/>
          </a:prstGeom>
          <a:solidFill>
            <a:srgbClr val="5B6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28048" y="43434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3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44348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B6B71"/>
                </a:solidFill>
                <a:latin typeface="Arial"/>
              </a:rPr>
              <a:t>5-bosqich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5208" y="475488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E2A2E"/>
                </a:solidFill>
                <a:latin typeface="Arial"/>
              </a:rPr>
              <a:t>Bola salomatligi, Markaziy Osiyo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B6B71"/>
                </a:solidFill>
                <a:latin typeface="Arial"/>
              </a:rPr>
              <a:t>Pilotda o‘lchanadi: ogohlantirishga javob vaqti, so‘rovnoma to‘ldirish ulushi, klinikaning to‘lashga tayyorligi.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E8846B"/>
                </a:solidFill>
                <a:latin typeface="Arial"/>
              </a:rPr>
              <a:t>JONLI DEMO  ·  2 DAQIQA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Gapirib bermaymiz, ko‘rsatamiz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74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Klinika: yangi bemor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2199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Ro‘yxatga olish, QR kod. Ona telefonida skanerlaydi, o‘rnatish shart emas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072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Telefon: so‘rovnoma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5468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«Qon ketishi» belgilanadi, izoh yoziladi. Qizil natija va qo‘ng‘iroq tugmasi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85616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8561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3989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Klinika: ≤ 3 soniya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8736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Qizil ogohlantirish izoh bilan; qabul qilish va onaga javob yozish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18304"/>
            <a:ext cx="548640" cy="548640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1830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7258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AI xulosasi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02005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9DB7BB"/>
                </a:solidFill>
                <a:latin typeface="Arial"/>
              </a:rPr>
              <a:t>Gulnora: bosim 125/79 → 152/98, preeklampsiya xavfi, tavsiya etilgan choralar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658368"/>
            <a:ext cx="5221224" cy="2910110"/>
          </a:xfrm>
          <a:prstGeom prst="roundRect">
            <a:avLst>
              <a:gd name="adj" fmla="val 3000"/>
            </a:avLst>
          </a:prstGeom>
          <a:solidFill>
            <a:srgbClr val="E3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ati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731520"/>
            <a:ext cx="5074920" cy="276380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379476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E8846B"/>
                </a:solidFill>
                <a:latin typeface="Arial"/>
              </a:rPr>
              <a:t>KEYINGI QADAMLAR</a:t>
            </a:r>
          </a:p>
        </p:txBody>
      </p:sp>
      <p:sp>
        <p:nvSpPr>
          <p:cNvPr id="23" name="Oval 22"/>
          <p:cNvSpPr/>
          <p:nvPr/>
        </p:nvSpPr>
        <p:spPr>
          <a:xfrm>
            <a:off x="6373368" y="430682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42245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1–2 xususiy klinika bilan pilot va narxni tekshirish</a:t>
            </a:r>
          </a:p>
        </p:txBody>
      </p:sp>
      <p:sp>
        <p:nvSpPr>
          <p:cNvPr id="25" name="Oval 24"/>
          <p:cNvSpPr/>
          <p:nvPr/>
        </p:nvSpPr>
        <p:spPr>
          <a:xfrm>
            <a:off x="6373368" y="471830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63600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Telegram eslatmalar: so‘rovnoma to‘ldirish ulushini oshirish</a:t>
            </a:r>
          </a:p>
        </p:txBody>
      </p:sp>
      <p:sp>
        <p:nvSpPr>
          <p:cNvPr id="27" name="Oval 26"/>
          <p:cNvSpPr/>
          <p:nvPr/>
        </p:nvSpPr>
        <p:spPr>
          <a:xfrm>
            <a:off x="6373368" y="512978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04748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Klinika uchun tahlil sahifasi: javob vaqti, faollik</a:t>
            </a:r>
          </a:p>
        </p:txBody>
      </p:sp>
      <p:sp>
        <p:nvSpPr>
          <p:cNvPr id="29" name="Oval 28"/>
          <p:cNvSpPr/>
          <p:nvPr/>
        </p:nvSpPr>
        <p:spPr>
          <a:xfrm>
            <a:off x="6373368" y="5541264"/>
            <a:ext cx="118872" cy="118872"/>
          </a:xfrm>
          <a:prstGeom prst="ellipse">
            <a:avLst/>
          </a:prstGeom>
          <a:solidFill>
            <a:srgbClr val="E88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54589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DMED va klinika tizimlari bilan integratsiya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9DB7BB"/>
                </a:solidFill>
                <a:latin typeface="Arial"/>
              </a:rPr>
              <a:t>Anicenna jamoasi  ·  github.com/doniyorbek-boltayev/Ona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