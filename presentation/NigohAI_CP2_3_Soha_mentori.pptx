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Salom. Biz Nigoh AI: homilador ayol har kuni 2 daqiqalik so‘rovnoma to‘ldiradi, xususiy klinika esa xavfli belgini bir necha soniyada ko‘radi. Bugun sizning 5 ta mezoningiz bo‘yicha birma-bir javob beramiz.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Avval mahsulot uch qadamda, keyin har bir mezon uchun bitta slayd. Oxirida jonli 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JSST ma’lumotiga ko‘ra qon ketishi va gipertenziv buzilishlar onalar o‘limining yetakchi sabablaridan. Ikkalasi ham erta belgilar beradi, lekin ayol ularni klinikaga yetkazmasa, hech kim bilmaydi.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Klinik asos sahifasida 23 ta qoidaning hammasi bor: qaysi shartda ishlaydi va qaysi manbaga tayanadi. To‘rtta qoida bizning evristikamiz, buni ham ochiq yozganmiz. Chegaralarni mahalliy akusher-ginekologlar bilan tasdiqlash keyingi qadam.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Hamshira bemorni ro‘yxatga oladi va QR kod beradi. Ona hech narsa o‘rnatmaydi. Shifokor ertalab kimga e’tibor kerakligini ko‘radi, bemor sahifasida esa tayyor xulosa, grafiklar va ayolning o‘z so‘zlari bor.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Tizim qaror qabul qilishga yordam beradi, tashxis qo‘ymaydi va dori tavsiya qilmaydi. Shaxsga doir ma’lumotlar to‘g‘risidagi qonun talablarini hisobga oldik. Pilotdan oldin yurist va Sog‘liqni saqlash vazirligi talablari bo‘yicha tekshiruv o‘tkazamiz.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Ta’sir uch darajada: ona xavfli belgini erta biladi, klinika kimga e’tibor kerakligini ko‘radi, tizim esa og‘ir holatlarni kamaytiradi. Xuddi shu yondashuv tug‘ruqdan keyingi davr va chaqaloq parvarishiga ham o‘tadi.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2 daqiqalik jonli demo: telefonda so‘rovnoma, qon ketishi belgisi, klinika panelida qizil ogohlantirish va AI xulosasi. Keyin savollaringizga javob beramiz.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62A"/>
        </a:solidFill>
        <a:effectLst/>
      </p:bgPr>
    </p:bg>
    <p:spTree>
      <p:nvGrpSpPr>
        <p:cNvPr id="1" name=""/>
        <p:cNvGrpSpPr/>
        <p:nvPr/>
      </p:nvGrpSpPr>
      <p:grpSpPr/>
      <p:sp>
        <p:nvSpPr>
          <p:cNvPr id="2" name="Rounded Rectangle 1"/>
          <p:cNvSpPr/>
          <p:nvPr/>
        </p:nvSpPr>
        <p:spPr>
          <a:xfrm>
            <a:off x="640080" y="640080"/>
            <a:ext cx="3657600" cy="420624"/>
          </a:xfrm>
          <a:prstGeom prst="roundRect">
            <a:avLst>
              <a:gd name="adj" fmla="val 50000"/>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3657600" cy="420624"/>
          </a:xfrm>
          <a:prstGeom prst="rect">
            <a:avLst/>
          </a:prstGeom>
          <a:noFill/>
        </p:spPr>
        <p:txBody>
          <a:bodyPr wrap="square" lIns="0" rIns="0" tIns="0" bIns="0" anchor="ctr">
            <a:spAutoFit/>
          </a:bodyPr>
          <a:lstStyle/>
          <a:p>
            <a:pPr algn="ctr">
              <a:lnSpc>
                <a:spcPct val="108000"/>
              </a:lnSpc>
            </a:pPr>
            <a:r>
              <a:rPr sz="1200" b="1">
                <a:solidFill>
                  <a:srgbClr val="FFFFFF"/>
                </a:solidFill>
                <a:latin typeface="Arial"/>
              </a:rPr>
              <a:t>CHECKPOINT 2  ·  SOHA MENTORI</a:t>
            </a:r>
          </a:p>
        </p:txBody>
      </p:sp>
      <p:sp>
        <p:nvSpPr>
          <p:cNvPr id="4" name="TextBox 3"/>
          <p:cNvSpPr txBox="1"/>
          <p:nvPr/>
        </p:nvSpPr>
        <p:spPr>
          <a:xfrm>
            <a:off x="640080" y="1463040"/>
            <a:ext cx="5120640" cy="1097280"/>
          </a:xfrm>
          <a:prstGeom prst="rect">
            <a:avLst/>
          </a:prstGeom>
          <a:noFill/>
        </p:spPr>
        <p:txBody>
          <a:bodyPr wrap="square" lIns="0" rIns="0" tIns="0" bIns="0" anchor="t">
            <a:spAutoFit/>
          </a:bodyPr>
          <a:lstStyle/>
          <a:p>
            <a:pPr algn="l">
              <a:lnSpc>
                <a:spcPct val="90000"/>
              </a:lnSpc>
            </a:pPr>
            <a:r>
              <a:rPr sz="7200" b="1">
                <a:solidFill>
                  <a:srgbClr val="FFFFFF"/>
                </a:solidFill>
                <a:latin typeface="Arial"/>
              </a:rPr>
              <a:t>Nigoh AI</a:t>
            </a:r>
          </a:p>
        </p:txBody>
      </p:sp>
      <p:sp>
        <p:nvSpPr>
          <p:cNvPr id="5" name="TextBox 4"/>
          <p:cNvSpPr txBox="1"/>
          <p:nvPr/>
        </p:nvSpPr>
        <p:spPr>
          <a:xfrm>
            <a:off x="640080" y="2743200"/>
            <a:ext cx="4846320" cy="1371600"/>
          </a:xfrm>
          <a:prstGeom prst="rect">
            <a:avLst/>
          </a:prstGeom>
          <a:noFill/>
        </p:spPr>
        <p:txBody>
          <a:bodyPr wrap="square" lIns="0" rIns="0" tIns="0" bIns="0" anchor="t">
            <a:spAutoFit/>
          </a:bodyPr>
          <a:lstStyle/>
          <a:p>
            <a:pPr algn="l">
              <a:lnSpc>
                <a:spcPct val="115000"/>
              </a:lnSpc>
            </a:pPr>
            <a:r>
              <a:rPr sz="2100" b="0">
                <a:solidFill>
                  <a:srgbClr val="CFE3E6"/>
                </a:solidFill>
                <a:latin typeface="Arial"/>
              </a:rPr>
              <a:t>Tashriflar orasida homilador ayolni kuzatish: xavf belgisi klinikaga bir necha soniyada yetadi.</a:t>
            </a:r>
          </a:p>
        </p:txBody>
      </p:sp>
      <p:sp>
        <p:nvSpPr>
          <p:cNvPr id="6" name="TextBox 5"/>
          <p:cNvSpPr txBox="1"/>
          <p:nvPr/>
        </p:nvSpPr>
        <p:spPr>
          <a:xfrm>
            <a:off x="640080" y="4434840"/>
            <a:ext cx="4846320" cy="548640"/>
          </a:xfrm>
          <a:prstGeom prst="rect">
            <a:avLst/>
          </a:prstGeom>
          <a:noFill/>
        </p:spPr>
        <p:txBody>
          <a:bodyPr wrap="square" lIns="0" rIns="0" tIns="0" bIns="0" anchor="t">
            <a:spAutoFit/>
          </a:bodyPr>
          <a:lstStyle/>
          <a:p>
            <a:pPr algn="l">
              <a:lnSpc>
                <a:spcPct val="108000"/>
              </a:lnSpc>
            </a:pPr>
            <a:r>
              <a:rPr sz="2000" b="1">
                <a:solidFill>
                  <a:srgbClr val="E8846B"/>
                </a:solidFill>
                <a:latin typeface="Arial"/>
              </a:rPr>
              <a:t>Qoida qaror qiladi. </a:t>
            </a:r>
            <a:r>
              <a:rPr sz="2000" b="1">
                <a:solidFill>
                  <a:srgbClr val="FFFFFF"/>
                </a:solidFill>
                <a:latin typeface="Arial"/>
              </a:rPr>
              <a:t>AI tushuntiradi.</a:t>
            </a:r>
          </a:p>
        </p:txBody>
      </p:sp>
      <p:sp>
        <p:nvSpPr>
          <p:cNvPr id="7" name="TextBox 6"/>
          <p:cNvSpPr txBox="1"/>
          <p:nvPr/>
        </p:nvSpPr>
        <p:spPr>
          <a:xfrm>
            <a:off x="640080" y="5989320"/>
            <a:ext cx="5486400" cy="365760"/>
          </a:xfrm>
          <a:prstGeom prst="rect">
            <a:avLst/>
          </a:prstGeom>
          <a:noFill/>
        </p:spPr>
        <p:txBody>
          <a:bodyPr wrap="square" lIns="0" rIns="0" tIns="0" bIns="0" anchor="t">
            <a:spAutoFit/>
          </a:bodyPr>
          <a:lstStyle/>
          <a:p>
            <a:pPr algn="l">
              <a:lnSpc>
                <a:spcPct val="108000"/>
              </a:lnSpc>
            </a:pPr>
            <a:r>
              <a:rPr sz="1300" b="0">
                <a:solidFill>
                  <a:srgbClr val="9DB7BB"/>
                </a:solidFill>
                <a:latin typeface="Arial"/>
              </a:rPr>
              <a:t>Anicenna jamoasi  ·  Tibbiyot treki  ·  19-sentabr 2026</a:t>
            </a:r>
          </a:p>
        </p:txBody>
      </p:sp>
      <p:sp>
        <p:nvSpPr>
          <p:cNvPr id="8" name="Rounded Rectangle 7"/>
          <p:cNvSpPr/>
          <p:nvPr/>
        </p:nvSpPr>
        <p:spPr>
          <a:xfrm>
            <a:off x="5916168" y="1298448"/>
            <a:ext cx="5724144" cy="3184000"/>
          </a:xfrm>
          <a:prstGeom prst="roundRect">
            <a:avLst>
              <a:gd name="adj" fmla="val 3000"/>
            </a:avLst>
          </a:prstGeom>
          <a:solidFill>
            <a:srgbClr val="E3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age.jpg"/>
          <p:cNvPicPr>
            <a:picLocks noChangeAspect="1"/>
          </p:cNvPicPr>
          <p:nvPr/>
        </p:nvPicPr>
        <p:blipFill>
          <a:blip r:embed="rId3"/>
          <a:stretch>
            <a:fillRect/>
          </a:stretch>
        </p:blipFill>
        <p:spPr>
          <a:xfrm>
            <a:off x="5989320" y="1371600"/>
            <a:ext cx="5577840" cy="3037697"/>
          </a:xfrm>
          <a:prstGeom prst="rect">
            <a:avLst/>
          </a:prstGeom>
        </p:spPr>
      </p:pic>
      <p:sp>
        <p:nvSpPr>
          <p:cNvPr id="10" name="TextBox 9"/>
          <p:cNvSpPr txBox="1"/>
          <p:nvPr/>
        </p:nvSpPr>
        <p:spPr>
          <a:xfrm>
            <a:off x="5897880" y="4617720"/>
            <a:ext cx="5760720" cy="365760"/>
          </a:xfrm>
          <a:prstGeom prst="rect">
            <a:avLst/>
          </a:prstGeom>
          <a:noFill/>
        </p:spPr>
        <p:txBody>
          <a:bodyPr wrap="square" lIns="0" rIns="0" tIns="0" bIns="0" anchor="t">
            <a:spAutoFit/>
          </a:bodyPr>
          <a:lstStyle/>
          <a:p>
            <a:pPr algn="ctr">
              <a:lnSpc>
                <a:spcPct val="108000"/>
              </a:lnSpc>
            </a:pPr>
            <a:r>
              <a:rPr sz="1200" b="0">
                <a:solidFill>
                  <a:srgbClr val="9DB7BB"/>
                </a:solidFill>
                <a:latin typeface="Arial"/>
              </a:rPr>
              <a:t>Ishlayotgan mahsulot: chapda ona telefoni, o‘ngda klinika paneli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72800" cy="365760"/>
          </a:xfrm>
          <a:prstGeom prst="rect">
            <a:avLst/>
          </a:prstGeom>
          <a:noFill/>
        </p:spPr>
        <p:txBody>
          <a:bodyPr wrap="square" lIns="0" rIns="0" tIns="0" bIns="0" anchor="t">
            <a:spAutoFit/>
          </a:bodyPr>
          <a:lstStyle/>
          <a:p>
            <a:pPr algn="l">
              <a:lnSpc>
                <a:spcPct val="108000"/>
              </a:lnSpc>
            </a:pPr>
            <a:r>
              <a:rPr sz="1300" b="1">
                <a:solidFill>
                  <a:srgbClr val="0E6B78"/>
                </a:solidFill>
                <a:latin typeface="Arial"/>
              </a:rPr>
              <a:t>10 DAQIQALIK REJA  ·  SOHA MENTORI</a:t>
            </a:r>
          </a:p>
        </p:txBody>
      </p:sp>
      <p:sp>
        <p:nvSpPr>
          <p:cNvPr id="3" name="TextBox 2"/>
          <p:cNvSpPr txBox="1"/>
          <p:nvPr/>
        </p:nvSpPr>
        <p:spPr>
          <a:xfrm>
            <a:off x="640080" y="822960"/>
            <a:ext cx="10972800" cy="731520"/>
          </a:xfrm>
          <a:prstGeom prst="rect">
            <a:avLst/>
          </a:prstGeom>
          <a:noFill/>
        </p:spPr>
        <p:txBody>
          <a:bodyPr wrap="square" lIns="0" rIns="0" tIns="0" bIns="0" anchor="t">
            <a:spAutoFit/>
          </a:bodyPr>
          <a:lstStyle/>
          <a:p>
            <a:pPr algn="l">
              <a:lnSpc>
                <a:spcPct val="108000"/>
              </a:lnSpc>
            </a:pPr>
            <a:r>
              <a:rPr sz="3400" b="1">
                <a:solidFill>
                  <a:srgbClr val="1E2A2E"/>
                </a:solidFill>
                <a:latin typeface="Arial"/>
              </a:rPr>
              <a:t>5 mezon, 5 ta aniq javob</a:t>
            </a:r>
          </a:p>
        </p:txBody>
      </p:sp>
      <p:sp>
        <p:nvSpPr>
          <p:cNvPr id="4" name="Rounded Rectangle 3"/>
          <p:cNvSpPr/>
          <p:nvPr/>
        </p:nvSpPr>
        <p:spPr>
          <a:xfrm>
            <a:off x="640080" y="1828800"/>
            <a:ext cx="4206240" cy="4206240"/>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3657600" cy="365760"/>
          </a:xfrm>
          <a:prstGeom prst="rect">
            <a:avLst/>
          </a:prstGeom>
          <a:noFill/>
        </p:spPr>
        <p:txBody>
          <a:bodyPr wrap="square" lIns="0" rIns="0" tIns="0" bIns="0" anchor="t">
            <a:spAutoFit/>
          </a:bodyPr>
          <a:lstStyle/>
          <a:p>
            <a:pPr algn="l">
              <a:lnSpc>
                <a:spcPct val="108000"/>
              </a:lnSpc>
            </a:pPr>
            <a:r>
              <a:rPr sz="1200" b="1">
                <a:solidFill>
                  <a:srgbClr val="5B6B71"/>
                </a:solidFill>
                <a:latin typeface="Arial"/>
              </a:rPr>
              <a:t>MAHSULOT QANDAY ISHLAYDI</a:t>
            </a:r>
          </a:p>
        </p:txBody>
      </p:sp>
      <p:sp>
        <p:nvSpPr>
          <p:cNvPr id="6" name="Oval 5"/>
          <p:cNvSpPr/>
          <p:nvPr/>
        </p:nvSpPr>
        <p:spPr>
          <a:xfrm>
            <a:off x="914400" y="2560320"/>
            <a:ext cx="548640" cy="548640"/>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548640" cy="548640"/>
          </a:xfrm>
          <a:prstGeom prst="rect">
            <a:avLst/>
          </a:prstGeom>
          <a:noFill/>
        </p:spPr>
        <p:txBody>
          <a:bodyPr wrap="square" lIns="0" rIns="0" tIns="0" bIns="0" anchor="ctr">
            <a:spAutoFit/>
          </a:bodyPr>
          <a:lstStyle/>
          <a:p>
            <a:pPr algn="ctr">
              <a:lnSpc>
                <a:spcPct val="108000"/>
              </a:lnSpc>
            </a:pPr>
            <a:r>
              <a:rPr sz="1800" b="1">
                <a:solidFill>
                  <a:srgbClr val="FFFFFF"/>
                </a:solidFill>
                <a:latin typeface="Arial"/>
              </a:rPr>
              <a:t>1</a:t>
            </a:r>
          </a:p>
        </p:txBody>
      </p:sp>
      <p:sp>
        <p:nvSpPr>
          <p:cNvPr id="8" name="TextBox 7"/>
          <p:cNvSpPr txBox="1"/>
          <p:nvPr/>
        </p:nvSpPr>
        <p:spPr>
          <a:xfrm>
            <a:off x="1645920" y="2523744"/>
            <a:ext cx="3108960" cy="365760"/>
          </a:xfrm>
          <a:prstGeom prst="rect">
            <a:avLst/>
          </a:prstGeom>
          <a:noFill/>
        </p:spPr>
        <p:txBody>
          <a:bodyPr wrap="square" lIns="0" rIns="0" tIns="0" bIns="0" anchor="t">
            <a:spAutoFit/>
          </a:bodyPr>
          <a:lstStyle/>
          <a:p>
            <a:pPr algn="l">
              <a:lnSpc>
                <a:spcPct val="108000"/>
              </a:lnSpc>
            </a:pPr>
            <a:r>
              <a:rPr sz="1500" b="1">
                <a:solidFill>
                  <a:srgbClr val="1E2A2E"/>
                </a:solidFill>
                <a:latin typeface="Arial"/>
              </a:rPr>
              <a:t>Ona 2 daqiqada javob beradi</a:t>
            </a:r>
          </a:p>
        </p:txBody>
      </p:sp>
      <p:sp>
        <p:nvSpPr>
          <p:cNvPr id="9" name="TextBox 8"/>
          <p:cNvSpPr txBox="1"/>
          <p:nvPr/>
        </p:nvSpPr>
        <p:spPr>
          <a:xfrm>
            <a:off x="1645920" y="2889503"/>
            <a:ext cx="3017520" cy="548640"/>
          </a:xfrm>
          <a:prstGeom prst="rect">
            <a:avLst/>
          </a:prstGeom>
          <a:noFill/>
        </p:spPr>
        <p:txBody>
          <a:bodyPr wrap="square" lIns="0" rIns="0" tIns="0" bIns="0" anchor="t">
            <a:spAutoFit/>
          </a:bodyPr>
          <a:lstStyle/>
          <a:p>
            <a:pPr algn="l">
              <a:lnSpc>
                <a:spcPct val="108000"/>
              </a:lnSpc>
            </a:pPr>
            <a:r>
              <a:rPr sz="1300" b="0">
                <a:solidFill>
                  <a:srgbClr val="5B6B71"/>
                </a:solidFill>
                <a:latin typeface="Arial"/>
              </a:rPr>
              <a:t>8–10 ta savol, o‘zbek tilida, katta tugmalar</a:t>
            </a:r>
          </a:p>
        </p:txBody>
      </p:sp>
      <p:sp>
        <p:nvSpPr>
          <p:cNvPr id="10" name="Oval 9"/>
          <p:cNvSpPr/>
          <p:nvPr/>
        </p:nvSpPr>
        <p:spPr>
          <a:xfrm>
            <a:off x="914400" y="3703320"/>
            <a:ext cx="548640" cy="548640"/>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03320"/>
            <a:ext cx="548640" cy="548640"/>
          </a:xfrm>
          <a:prstGeom prst="rect">
            <a:avLst/>
          </a:prstGeom>
          <a:noFill/>
        </p:spPr>
        <p:txBody>
          <a:bodyPr wrap="square" lIns="0" rIns="0" tIns="0" bIns="0" anchor="ctr">
            <a:spAutoFit/>
          </a:bodyPr>
          <a:lstStyle/>
          <a:p>
            <a:pPr algn="ctr">
              <a:lnSpc>
                <a:spcPct val="108000"/>
              </a:lnSpc>
            </a:pPr>
            <a:r>
              <a:rPr sz="1800" b="1">
                <a:solidFill>
                  <a:srgbClr val="FFFFFF"/>
                </a:solidFill>
                <a:latin typeface="Arial"/>
              </a:rPr>
              <a:t>2</a:t>
            </a:r>
          </a:p>
        </p:txBody>
      </p:sp>
      <p:sp>
        <p:nvSpPr>
          <p:cNvPr id="12" name="TextBox 11"/>
          <p:cNvSpPr txBox="1"/>
          <p:nvPr/>
        </p:nvSpPr>
        <p:spPr>
          <a:xfrm>
            <a:off x="1645920" y="3666744"/>
            <a:ext cx="3108960" cy="365760"/>
          </a:xfrm>
          <a:prstGeom prst="rect">
            <a:avLst/>
          </a:prstGeom>
          <a:noFill/>
        </p:spPr>
        <p:txBody>
          <a:bodyPr wrap="square" lIns="0" rIns="0" tIns="0" bIns="0" anchor="t">
            <a:spAutoFit/>
          </a:bodyPr>
          <a:lstStyle/>
          <a:p>
            <a:pPr algn="l">
              <a:lnSpc>
                <a:spcPct val="108000"/>
              </a:lnSpc>
            </a:pPr>
            <a:r>
              <a:rPr sz="1500" b="1">
                <a:solidFill>
                  <a:srgbClr val="1E2A2E"/>
                </a:solidFill>
                <a:latin typeface="Arial"/>
              </a:rPr>
              <a:t>Qoidalar xavfni aniqlaydi</a:t>
            </a:r>
          </a:p>
        </p:txBody>
      </p:sp>
      <p:sp>
        <p:nvSpPr>
          <p:cNvPr id="13" name="TextBox 12"/>
          <p:cNvSpPr txBox="1"/>
          <p:nvPr/>
        </p:nvSpPr>
        <p:spPr>
          <a:xfrm>
            <a:off x="1645920" y="4032504"/>
            <a:ext cx="3017520" cy="548640"/>
          </a:xfrm>
          <a:prstGeom prst="rect">
            <a:avLst/>
          </a:prstGeom>
          <a:noFill/>
        </p:spPr>
        <p:txBody>
          <a:bodyPr wrap="square" lIns="0" rIns="0" tIns="0" bIns="0" anchor="t">
            <a:spAutoFit/>
          </a:bodyPr>
          <a:lstStyle/>
          <a:p>
            <a:pPr algn="l">
              <a:lnSpc>
                <a:spcPct val="108000"/>
              </a:lnSpc>
            </a:pPr>
            <a:r>
              <a:rPr sz="1300" b="0">
                <a:solidFill>
                  <a:srgbClr val="5B6B71"/>
                </a:solidFill>
                <a:latin typeface="Arial"/>
              </a:rPr>
              <a:t>23 ta qoida: yashil / sariq / qizil</a:t>
            </a:r>
          </a:p>
        </p:txBody>
      </p:sp>
      <p:sp>
        <p:nvSpPr>
          <p:cNvPr id="14" name="Oval 13"/>
          <p:cNvSpPr/>
          <p:nvPr/>
        </p:nvSpPr>
        <p:spPr>
          <a:xfrm>
            <a:off x="914400" y="4846320"/>
            <a:ext cx="548640" cy="548640"/>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846320"/>
            <a:ext cx="548640" cy="548640"/>
          </a:xfrm>
          <a:prstGeom prst="rect">
            <a:avLst/>
          </a:prstGeom>
          <a:noFill/>
        </p:spPr>
        <p:txBody>
          <a:bodyPr wrap="square" lIns="0" rIns="0" tIns="0" bIns="0" anchor="ctr">
            <a:spAutoFit/>
          </a:bodyPr>
          <a:lstStyle/>
          <a:p>
            <a:pPr algn="ctr">
              <a:lnSpc>
                <a:spcPct val="108000"/>
              </a:lnSpc>
            </a:pPr>
            <a:r>
              <a:rPr sz="1800" b="1">
                <a:solidFill>
                  <a:srgbClr val="FFFFFF"/>
                </a:solidFill>
                <a:latin typeface="Arial"/>
              </a:rPr>
              <a:t>3</a:t>
            </a:r>
          </a:p>
        </p:txBody>
      </p:sp>
      <p:sp>
        <p:nvSpPr>
          <p:cNvPr id="16" name="TextBox 15"/>
          <p:cNvSpPr txBox="1"/>
          <p:nvPr/>
        </p:nvSpPr>
        <p:spPr>
          <a:xfrm>
            <a:off x="1645920" y="4809744"/>
            <a:ext cx="3108960" cy="365760"/>
          </a:xfrm>
          <a:prstGeom prst="rect">
            <a:avLst/>
          </a:prstGeom>
          <a:noFill/>
        </p:spPr>
        <p:txBody>
          <a:bodyPr wrap="square" lIns="0" rIns="0" tIns="0" bIns="0" anchor="t">
            <a:spAutoFit/>
          </a:bodyPr>
          <a:lstStyle/>
          <a:p>
            <a:pPr algn="l">
              <a:lnSpc>
                <a:spcPct val="108000"/>
              </a:lnSpc>
            </a:pPr>
            <a:r>
              <a:rPr sz="1500" b="1">
                <a:solidFill>
                  <a:srgbClr val="1E2A2E"/>
                </a:solidFill>
                <a:latin typeface="Arial"/>
              </a:rPr>
              <a:t>Klinika 3 soniyada ko‘radi</a:t>
            </a:r>
          </a:p>
        </p:txBody>
      </p:sp>
      <p:sp>
        <p:nvSpPr>
          <p:cNvPr id="17" name="TextBox 16"/>
          <p:cNvSpPr txBox="1"/>
          <p:nvPr/>
        </p:nvSpPr>
        <p:spPr>
          <a:xfrm>
            <a:off x="1645920" y="5175504"/>
            <a:ext cx="3017520" cy="548640"/>
          </a:xfrm>
          <a:prstGeom prst="rect">
            <a:avLst/>
          </a:prstGeom>
          <a:noFill/>
        </p:spPr>
        <p:txBody>
          <a:bodyPr wrap="square" lIns="0" rIns="0" tIns="0" bIns="0" anchor="t">
            <a:spAutoFit/>
          </a:bodyPr>
          <a:lstStyle/>
          <a:p>
            <a:pPr algn="l">
              <a:lnSpc>
                <a:spcPct val="108000"/>
              </a:lnSpc>
            </a:pPr>
            <a:r>
              <a:rPr sz="1300" b="0">
                <a:solidFill>
                  <a:srgbClr val="5B6B71"/>
                </a:solidFill>
                <a:latin typeface="Arial"/>
              </a:rPr>
              <a:t>Ogohlantirish, grafiklar, AI xulosasi</a:t>
            </a:r>
          </a:p>
        </p:txBody>
      </p:sp>
      <p:sp>
        <p:nvSpPr>
          <p:cNvPr id="18" name="Oval 17"/>
          <p:cNvSpPr/>
          <p:nvPr/>
        </p:nvSpPr>
        <p:spPr>
          <a:xfrm>
            <a:off x="5257800" y="1883664"/>
            <a:ext cx="566928" cy="566928"/>
          </a:xfrm>
          <a:prstGeom prst="ellipse">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57800" y="1883664"/>
            <a:ext cx="566928" cy="566928"/>
          </a:xfrm>
          <a:prstGeom prst="rect">
            <a:avLst/>
          </a:prstGeom>
          <a:noFill/>
        </p:spPr>
        <p:txBody>
          <a:bodyPr wrap="square" lIns="0" rIns="0" tIns="0" bIns="0" anchor="ctr">
            <a:spAutoFit/>
          </a:bodyPr>
          <a:lstStyle/>
          <a:p>
            <a:pPr algn="ctr">
              <a:lnSpc>
                <a:spcPct val="108000"/>
              </a:lnSpc>
            </a:pPr>
            <a:r>
              <a:rPr sz="2000" b="1">
                <a:solidFill>
                  <a:srgbClr val="FFFFFF"/>
                </a:solidFill>
                <a:latin typeface="Arial"/>
              </a:rPr>
              <a:t>1</a:t>
            </a:r>
          </a:p>
        </p:txBody>
      </p:sp>
      <p:sp>
        <p:nvSpPr>
          <p:cNvPr id="20" name="TextBox 19"/>
          <p:cNvSpPr txBox="1"/>
          <p:nvPr/>
        </p:nvSpPr>
        <p:spPr>
          <a:xfrm>
            <a:off x="6035040" y="1828800"/>
            <a:ext cx="5577840" cy="365760"/>
          </a:xfrm>
          <a:prstGeom prst="rect">
            <a:avLst/>
          </a:prstGeom>
          <a:noFill/>
        </p:spPr>
        <p:txBody>
          <a:bodyPr wrap="square" lIns="0" rIns="0" tIns="0" bIns="0" anchor="t">
            <a:spAutoFit/>
          </a:bodyPr>
          <a:lstStyle/>
          <a:p>
            <a:pPr algn="l">
              <a:lnSpc>
                <a:spcPct val="108000"/>
              </a:lnSpc>
            </a:pPr>
            <a:r>
              <a:rPr sz="1800" b="1">
                <a:solidFill>
                  <a:srgbClr val="1E2A2E"/>
                </a:solidFill>
                <a:latin typeface="Arial"/>
              </a:rPr>
              <a:t>Muammoning dolzarbligi</a:t>
            </a:r>
          </a:p>
        </p:txBody>
      </p:sp>
      <p:sp>
        <p:nvSpPr>
          <p:cNvPr id="21" name="TextBox 20"/>
          <p:cNvSpPr txBox="1"/>
          <p:nvPr/>
        </p:nvSpPr>
        <p:spPr>
          <a:xfrm>
            <a:off x="6035040" y="2176272"/>
            <a:ext cx="5577840" cy="457200"/>
          </a:xfrm>
          <a:prstGeom prst="rect">
            <a:avLst/>
          </a:prstGeom>
          <a:noFill/>
        </p:spPr>
        <p:txBody>
          <a:bodyPr wrap="square" lIns="0" rIns="0" tIns="0" bIns="0" anchor="t">
            <a:spAutoFit/>
          </a:bodyPr>
          <a:lstStyle/>
          <a:p>
            <a:pPr algn="l">
              <a:lnSpc>
                <a:spcPct val="108000"/>
              </a:lnSpc>
            </a:pPr>
            <a:r>
              <a:rPr sz="1350" b="0">
                <a:solidFill>
                  <a:srgbClr val="5B6B71"/>
                </a:solidFill>
                <a:latin typeface="Arial"/>
              </a:rPr>
              <a:t>Xavfli holatlar kunlarda rivojlanadi, ko‘riklar orasi esa 2–4 hafta</a:t>
            </a:r>
          </a:p>
        </p:txBody>
      </p:sp>
      <p:sp>
        <p:nvSpPr>
          <p:cNvPr id="22" name="Oval 21"/>
          <p:cNvSpPr/>
          <p:nvPr/>
        </p:nvSpPr>
        <p:spPr>
          <a:xfrm>
            <a:off x="5257800" y="2743200"/>
            <a:ext cx="566928" cy="566928"/>
          </a:xfrm>
          <a:prstGeom prst="ellipse">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2743200"/>
            <a:ext cx="566928" cy="566928"/>
          </a:xfrm>
          <a:prstGeom prst="rect">
            <a:avLst/>
          </a:prstGeom>
          <a:noFill/>
        </p:spPr>
        <p:txBody>
          <a:bodyPr wrap="square" lIns="0" rIns="0" tIns="0" bIns="0" anchor="ctr">
            <a:spAutoFit/>
          </a:bodyPr>
          <a:lstStyle/>
          <a:p>
            <a:pPr algn="ctr">
              <a:lnSpc>
                <a:spcPct val="108000"/>
              </a:lnSpc>
            </a:pPr>
            <a:r>
              <a:rPr sz="2000" b="1">
                <a:solidFill>
                  <a:srgbClr val="FFFFFF"/>
                </a:solidFill>
                <a:latin typeface="Arial"/>
              </a:rPr>
              <a:t>2</a:t>
            </a:r>
          </a:p>
        </p:txBody>
      </p:sp>
      <p:sp>
        <p:nvSpPr>
          <p:cNvPr id="24" name="TextBox 23"/>
          <p:cNvSpPr txBox="1"/>
          <p:nvPr/>
        </p:nvSpPr>
        <p:spPr>
          <a:xfrm>
            <a:off x="6035040" y="2688336"/>
            <a:ext cx="5577840" cy="365760"/>
          </a:xfrm>
          <a:prstGeom prst="rect">
            <a:avLst/>
          </a:prstGeom>
          <a:noFill/>
        </p:spPr>
        <p:txBody>
          <a:bodyPr wrap="square" lIns="0" rIns="0" tIns="0" bIns="0" anchor="t">
            <a:spAutoFit/>
          </a:bodyPr>
          <a:lstStyle/>
          <a:p>
            <a:pPr algn="l">
              <a:lnSpc>
                <a:spcPct val="108000"/>
              </a:lnSpc>
            </a:pPr>
            <a:r>
              <a:rPr sz="1800" b="1">
                <a:solidFill>
                  <a:srgbClr val="1E2A2E"/>
                </a:solidFill>
                <a:latin typeface="Arial"/>
              </a:rPr>
              <a:t>Sohani chuqur tushunish</a:t>
            </a:r>
          </a:p>
        </p:txBody>
      </p:sp>
      <p:sp>
        <p:nvSpPr>
          <p:cNvPr id="25" name="TextBox 24"/>
          <p:cNvSpPr txBox="1"/>
          <p:nvPr/>
        </p:nvSpPr>
        <p:spPr>
          <a:xfrm>
            <a:off x="6035040" y="3035808"/>
            <a:ext cx="5577840" cy="457200"/>
          </a:xfrm>
          <a:prstGeom prst="rect">
            <a:avLst/>
          </a:prstGeom>
          <a:noFill/>
        </p:spPr>
        <p:txBody>
          <a:bodyPr wrap="square" lIns="0" rIns="0" tIns="0" bIns="0" anchor="t">
            <a:spAutoFit/>
          </a:bodyPr>
          <a:lstStyle/>
          <a:p>
            <a:pPr algn="l">
              <a:lnSpc>
                <a:spcPct val="108000"/>
              </a:lnSpc>
            </a:pPr>
            <a:r>
              <a:rPr sz="1350" b="0">
                <a:solidFill>
                  <a:srgbClr val="5B6B71"/>
                </a:solidFill>
                <a:latin typeface="Arial"/>
              </a:rPr>
              <a:t>23 ta qoida: har birining sharti va manbasi shifokor o‘qiy oladigan ko‘rinishda</a:t>
            </a:r>
          </a:p>
        </p:txBody>
      </p:sp>
      <p:sp>
        <p:nvSpPr>
          <p:cNvPr id="26" name="Oval 25"/>
          <p:cNvSpPr/>
          <p:nvPr/>
        </p:nvSpPr>
        <p:spPr>
          <a:xfrm>
            <a:off x="5257800" y="3602736"/>
            <a:ext cx="566928" cy="566928"/>
          </a:xfrm>
          <a:prstGeom prst="ellipse">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57800" y="3602736"/>
            <a:ext cx="566928" cy="566928"/>
          </a:xfrm>
          <a:prstGeom prst="rect">
            <a:avLst/>
          </a:prstGeom>
          <a:noFill/>
        </p:spPr>
        <p:txBody>
          <a:bodyPr wrap="square" lIns="0" rIns="0" tIns="0" bIns="0" anchor="ctr">
            <a:spAutoFit/>
          </a:bodyPr>
          <a:lstStyle/>
          <a:p>
            <a:pPr algn="ctr">
              <a:lnSpc>
                <a:spcPct val="108000"/>
              </a:lnSpc>
            </a:pPr>
            <a:r>
              <a:rPr sz="2000" b="1">
                <a:solidFill>
                  <a:srgbClr val="FFFFFF"/>
                </a:solidFill>
                <a:latin typeface="Arial"/>
              </a:rPr>
              <a:t>3</a:t>
            </a:r>
          </a:p>
        </p:txBody>
      </p:sp>
      <p:sp>
        <p:nvSpPr>
          <p:cNvPr id="28" name="TextBox 27"/>
          <p:cNvSpPr txBox="1"/>
          <p:nvPr/>
        </p:nvSpPr>
        <p:spPr>
          <a:xfrm>
            <a:off x="6035040" y="3547872"/>
            <a:ext cx="5577840" cy="365760"/>
          </a:xfrm>
          <a:prstGeom prst="rect">
            <a:avLst/>
          </a:prstGeom>
          <a:noFill/>
        </p:spPr>
        <p:txBody>
          <a:bodyPr wrap="square" lIns="0" rIns="0" tIns="0" bIns="0" anchor="t">
            <a:spAutoFit/>
          </a:bodyPr>
          <a:lstStyle/>
          <a:p>
            <a:pPr algn="l">
              <a:lnSpc>
                <a:spcPct val="108000"/>
              </a:lnSpc>
            </a:pPr>
            <a:r>
              <a:rPr sz="1800" b="1">
                <a:solidFill>
                  <a:srgbClr val="1E2A2E"/>
                </a:solidFill>
                <a:latin typeface="Arial"/>
              </a:rPr>
              <a:t>Amaliy qo‘llanish</a:t>
            </a:r>
          </a:p>
        </p:txBody>
      </p:sp>
      <p:sp>
        <p:nvSpPr>
          <p:cNvPr id="29" name="TextBox 28"/>
          <p:cNvSpPr txBox="1"/>
          <p:nvPr/>
        </p:nvSpPr>
        <p:spPr>
          <a:xfrm>
            <a:off x="6035040" y="3895344"/>
            <a:ext cx="5577840" cy="457200"/>
          </a:xfrm>
          <a:prstGeom prst="rect">
            <a:avLst/>
          </a:prstGeom>
          <a:noFill/>
        </p:spPr>
        <p:txBody>
          <a:bodyPr wrap="square" lIns="0" rIns="0" tIns="0" bIns="0" anchor="t">
            <a:spAutoFit/>
          </a:bodyPr>
          <a:lstStyle/>
          <a:p>
            <a:pPr algn="l">
              <a:lnSpc>
                <a:spcPct val="108000"/>
              </a:lnSpc>
            </a:pPr>
            <a:r>
              <a:rPr sz="1350" b="0">
                <a:solidFill>
                  <a:srgbClr val="5B6B71"/>
                </a:solidFill>
                <a:latin typeface="Arial"/>
              </a:rPr>
              <a:t>QR bilan ulash, 2 daqiqalik so‘rovnoma, shifokorga tayyor xulosa</a:t>
            </a:r>
          </a:p>
        </p:txBody>
      </p:sp>
      <p:sp>
        <p:nvSpPr>
          <p:cNvPr id="30" name="Oval 29"/>
          <p:cNvSpPr/>
          <p:nvPr/>
        </p:nvSpPr>
        <p:spPr>
          <a:xfrm>
            <a:off x="5257800" y="4462272"/>
            <a:ext cx="566928" cy="566928"/>
          </a:xfrm>
          <a:prstGeom prst="ellipse">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57800" y="4462272"/>
            <a:ext cx="566928" cy="566928"/>
          </a:xfrm>
          <a:prstGeom prst="rect">
            <a:avLst/>
          </a:prstGeom>
          <a:noFill/>
        </p:spPr>
        <p:txBody>
          <a:bodyPr wrap="square" lIns="0" rIns="0" tIns="0" bIns="0" anchor="ctr">
            <a:spAutoFit/>
          </a:bodyPr>
          <a:lstStyle/>
          <a:p>
            <a:pPr algn="ctr">
              <a:lnSpc>
                <a:spcPct val="108000"/>
              </a:lnSpc>
            </a:pPr>
            <a:r>
              <a:rPr sz="2000" b="1">
                <a:solidFill>
                  <a:srgbClr val="FFFFFF"/>
                </a:solidFill>
                <a:latin typeface="Arial"/>
              </a:rPr>
              <a:t>4</a:t>
            </a:r>
          </a:p>
        </p:txBody>
      </p:sp>
      <p:sp>
        <p:nvSpPr>
          <p:cNvPr id="32" name="TextBox 31"/>
          <p:cNvSpPr txBox="1"/>
          <p:nvPr/>
        </p:nvSpPr>
        <p:spPr>
          <a:xfrm>
            <a:off x="6035040" y="4407408"/>
            <a:ext cx="5577840" cy="365760"/>
          </a:xfrm>
          <a:prstGeom prst="rect">
            <a:avLst/>
          </a:prstGeom>
          <a:noFill/>
        </p:spPr>
        <p:txBody>
          <a:bodyPr wrap="square" lIns="0" rIns="0" tIns="0" bIns="0" anchor="t">
            <a:spAutoFit/>
          </a:bodyPr>
          <a:lstStyle/>
          <a:p>
            <a:pPr algn="l">
              <a:lnSpc>
                <a:spcPct val="108000"/>
              </a:lnSpc>
            </a:pPr>
            <a:r>
              <a:rPr sz="1800" b="1">
                <a:solidFill>
                  <a:srgbClr val="1E2A2E"/>
                </a:solidFill>
                <a:latin typeface="Arial"/>
              </a:rPr>
              <a:t>Qonunchilikka muvofiqlik</a:t>
            </a:r>
          </a:p>
        </p:txBody>
      </p:sp>
      <p:sp>
        <p:nvSpPr>
          <p:cNvPr id="33" name="TextBox 32"/>
          <p:cNvSpPr txBox="1"/>
          <p:nvPr/>
        </p:nvSpPr>
        <p:spPr>
          <a:xfrm>
            <a:off x="6035040" y="4754880"/>
            <a:ext cx="5577840" cy="457200"/>
          </a:xfrm>
          <a:prstGeom prst="rect">
            <a:avLst/>
          </a:prstGeom>
          <a:noFill/>
        </p:spPr>
        <p:txBody>
          <a:bodyPr wrap="square" lIns="0" rIns="0" tIns="0" bIns="0" anchor="t">
            <a:spAutoFit/>
          </a:bodyPr>
          <a:lstStyle/>
          <a:p>
            <a:pPr algn="l">
              <a:lnSpc>
                <a:spcPct val="108000"/>
              </a:lnSpc>
            </a:pPr>
            <a:r>
              <a:rPr sz="1350" b="0">
                <a:solidFill>
                  <a:srgbClr val="5B6B71"/>
                </a:solidFill>
                <a:latin typeface="Arial"/>
              </a:rPr>
              <a:t>Tashxis qo‘ymaydi; ma’lumot minimal; shaxsiy ma’lumotlar qonuni hisobga olingan</a:t>
            </a:r>
          </a:p>
        </p:txBody>
      </p:sp>
      <p:sp>
        <p:nvSpPr>
          <p:cNvPr id="34" name="Oval 33"/>
          <p:cNvSpPr/>
          <p:nvPr/>
        </p:nvSpPr>
        <p:spPr>
          <a:xfrm>
            <a:off x="5257800" y="5321807"/>
            <a:ext cx="566928" cy="566928"/>
          </a:xfrm>
          <a:prstGeom prst="ellipse">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57800" y="5321807"/>
            <a:ext cx="566928" cy="566928"/>
          </a:xfrm>
          <a:prstGeom prst="rect">
            <a:avLst/>
          </a:prstGeom>
          <a:noFill/>
        </p:spPr>
        <p:txBody>
          <a:bodyPr wrap="square" lIns="0" rIns="0" tIns="0" bIns="0" anchor="ctr">
            <a:spAutoFit/>
          </a:bodyPr>
          <a:lstStyle/>
          <a:p>
            <a:pPr algn="ctr">
              <a:lnSpc>
                <a:spcPct val="108000"/>
              </a:lnSpc>
            </a:pPr>
            <a:r>
              <a:rPr sz="2000" b="1">
                <a:solidFill>
                  <a:srgbClr val="FFFFFF"/>
                </a:solidFill>
                <a:latin typeface="Arial"/>
              </a:rPr>
              <a:t>5</a:t>
            </a:r>
          </a:p>
        </p:txBody>
      </p:sp>
      <p:sp>
        <p:nvSpPr>
          <p:cNvPr id="36" name="TextBox 35"/>
          <p:cNvSpPr txBox="1"/>
          <p:nvPr/>
        </p:nvSpPr>
        <p:spPr>
          <a:xfrm>
            <a:off x="6035040" y="5266944"/>
            <a:ext cx="5577840" cy="365760"/>
          </a:xfrm>
          <a:prstGeom prst="rect">
            <a:avLst/>
          </a:prstGeom>
          <a:noFill/>
        </p:spPr>
        <p:txBody>
          <a:bodyPr wrap="square" lIns="0" rIns="0" tIns="0" bIns="0" anchor="t">
            <a:spAutoFit/>
          </a:bodyPr>
          <a:lstStyle/>
          <a:p>
            <a:pPr algn="l">
              <a:lnSpc>
                <a:spcPct val="108000"/>
              </a:lnSpc>
            </a:pPr>
            <a:r>
              <a:rPr sz="1800" b="1">
                <a:solidFill>
                  <a:srgbClr val="1E2A2E"/>
                </a:solidFill>
                <a:latin typeface="Arial"/>
              </a:rPr>
              <a:t>Ta’sir ko‘lami</a:t>
            </a:r>
          </a:p>
        </p:txBody>
      </p:sp>
      <p:sp>
        <p:nvSpPr>
          <p:cNvPr id="37" name="TextBox 36"/>
          <p:cNvSpPr txBox="1"/>
          <p:nvPr/>
        </p:nvSpPr>
        <p:spPr>
          <a:xfrm>
            <a:off x="6035040" y="5614416"/>
            <a:ext cx="5577840" cy="457200"/>
          </a:xfrm>
          <a:prstGeom prst="rect">
            <a:avLst/>
          </a:prstGeom>
          <a:noFill/>
        </p:spPr>
        <p:txBody>
          <a:bodyPr wrap="square" lIns="0" rIns="0" tIns="0" bIns="0" anchor="t">
            <a:spAutoFit/>
          </a:bodyPr>
          <a:lstStyle/>
          <a:p>
            <a:pPr algn="l">
              <a:lnSpc>
                <a:spcPct val="108000"/>
              </a:lnSpc>
            </a:pPr>
            <a:r>
              <a:rPr sz="1350" b="0">
                <a:solidFill>
                  <a:srgbClr val="5B6B71"/>
                </a:solidFill>
                <a:latin typeface="Arial"/>
              </a:rPr>
              <a:t>Har bir xususiy klinika va uzoq tumandagi har bir homilador ayol</a:t>
            </a:r>
          </a:p>
        </p:txBody>
      </p:sp>
      <p:sp>
        <p:nvSpPr>
          <p:cNvPr id="38" name="TextBox 37"/>
          <p:cNvSpPr txBox="1"/>
          <p:nvPr/>
        </p:nvSpPr>
        <p:spPr>
          <a:xfrm>
            <a:off x="640080" y="6355080"/>
            <a:ext cx="10972800" cy="274320"/>
          </a:xfrm>
          <a:prstGeom prst="rect">
            <a:avLst/>
          </a:prstGeom>
          <a:noFill/>
        </p:spPr>
        <p:txBody>
          <a:bodyPr wrap="square" lIns="0" rIns="0" tIns="0" bIns="0" anchor="t">
            <a:spAutoFit/>
          </a:bodyPr>
          <a:lstStyle/>
          <a:p>
            <a:pPr algn="l">
              <a:lnSpc>
                <a:spcPct val="108000"/>
              </a:lnSpc>
            </a:pPr>
            <a:r>
              <a:rPr sz="1050" b="0">
                <a:solidFill>
                  <a:srgbClr val="5B6B71"/>
                </a:solidFill>
                <a:latin typeface="Arial"/>
              </a:rPr>
              <a:t>Nigoh AI  ·  Checkpoint 2  ·  Soha mentori  ·  19-sentabr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40080" y="502920"/>
            <a:ext cx="713232" cy="713232"/>
          </a:xfrm>
          <a:prstGeom prst="ellipse">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13232" cy="713232"/>
          </a:xfrm>
          <a:prstGeom prst="rect">
            <a:avLst/>
          </a:prstGeom>
          <a:noFill/>
        </p:spPr>
        <p:txBody>
          <a:bodyPr wrap="square" lIns="0" rIns="0" tIns="0" bIns="0" anchor="ctr">
            <a:spAutoFit/>
          </a:bodyPr>
          <a:lstStyle/>
          <a:p>
            <a:pPr algn="ctr">
              <a:lnSpc>
                <a:spcPct val="108000"/>
              </a:lnSpc>
            </a:pPr>
            <a:r>
              <a:rPr sz="2600" b="1">
                <a:solidFill>
                  <a:srgbClr val="FFFFFF"/>
                </a:solidFill>
                <a:latin typeface="Arial"/>
              </a:rPr>
              <a:t>1</a:t>
            </a:r>
          </a:p>
        </p:txBody>
      </p:sp>
      <p:sp>
        <p:nvSpPr>
          <p:cNvPr id="4" name="TextBox 3"/>
          <p:cNvSpPr txBox="1"/>
          <p:nvPr/>
        </p:nvSpPr>
        <p:spPr>
          <a:xfrm>
            <a:off x="1554480" y="457200"/>
            <a:ext cx="9144000" cy="365760"/>
          </a:xfrm>
          <a:prstGeom prst="rect">
            <a:avLst/>
          </a:prstGeom>
          <a:noFill/>
        </p:spPr>
        <p:txBody>
          <a:bodyPr wrap="square" lIns="0" rIns="0" tIns="0" bIns="0" anchor="t">
            <a:spAutoFit/>
          </a:bodyPr>
          <a:lstStyle/>
          <a:p>
            <a:pPr algn="l">
              <a:lnSpc>
                <a:spcPct val="108000"/>
              </a:lnSpc>
            </a:pPr>
            <a:r>
              <a:rPr sz="1300" b="1">
                <a:solidFill>
                  <a:srgbClr val="0E6B78"/>
                </a:solidFill>
                <a:latin typeface="Arial"/>
              </a:rPr>
              <a:t>MEZON 1 / 5  ·  MUAMMONING DOLZARBLIGI</a:t>
            </a:r>
          </a:p>
        </p:txBody>
      </p:sp>
      <p:sp>
        <p:nvSpPr>
          <p:cNvPr id="5" name="TextBox 4"/>
          <p:cNvSpPr txBox="1"/>
          <p:nvPr/>
        </p:nvSpPr>
        <p:spPr>
          <a:xfrm>
            <a:off x="1554480" y="777240"/>
            <a:ext cx="9966960" cy="960120"/>
          </a:xfrm>
          <a:prstGeom prst="rect">
            <a:avLst/>
          </a:prstGeom>
          <a:noFill/>
        </p:spPr>
        <p:txBody>
          <a:bodyPr wrap="square" lIns="0" rIns="0" tIns="0" bIns="0" anchor="t">
            <a:spAutoFit/>
          </a:bodyPr>
          <a:lstStyle/>
          <a:p>
            <a:pPr algn="l">
              <a:lnSpc>
                <a:spcPct val="100000"/>
              </a:lnSpc>
            </a:pPr>
            <a:r>
              <a:rPr sz="2900" b="1">
                <a:solidFill>
                  <a:srgbClr val="1E2A2E"/>
                </a:solidFill>
                <a:latin typeface="Arial"/>
              </a:rPr>
              <a:t>Xavfli belgilar kunlarda rivojlanadi, klinika esa haftalab ko‘rmaydi</a:t>
            </a:r>
          </a:p>
        </p:txBody>
      </p:sp>
      <p:sp>
        <p:nvSpPr>
          <p:cNvPr id="6" name="TextBox 5"/>
          <p:cNvSpPr txBox="1"/>
          <p:nvPr/>
        </p:nvSpPr>
        <p:spPr>
          <a:xfrm>
            <a:off x="640080" y="6355080"/>
            <a:ext cx="10972800" cy="274320"/>
          </a:xfrm>
          <a:prstGeom prst="rect">
            <a:avLst/>
          </a:prstGeom>
          <a:noFill/>
        </p:spPr>
        <p:txBody>
          <a:bodyPr wrap="square" lIns="0" rIns="0" tIns="0" bIns="0" anchor="t">
            <a:spAutoFit/>
          </a:bodyPr>
          <a:lstStyle/>
          <a:p>
            <a:pPr algn="l">
              <a:lnSpc>
                <a:spcPct val="108000"/>
              </a:lnSpc>
            </a:pPr>
            <a:r>
              <a:rPr sz="1050" b="0">
                <a:solidFill>
                  <a:srgbClr val="5B6B71"/>
                </a:solidFill>
                <a:latin typeface="Arial"/>
              </a:rPr>
              <a:t>Nigoh AI  ·  Checkpoint 2  ·  Soha mentori  ·  19-sentabr 2026</a:t>
            </a:r>
          </a:p>
        </p:txBody>
      </p:sp>
      <p:sp>
        <p:nvSpPr>
          <p:cNvPr id="7" name="Rounded Rectangle 6"/>
          <p:cNvSpPr/>
          <p:nvPr/>
        </p:nvSpPr>
        <p:spPr>
          <a:xfrm>
            <a:off x="640080" y="1874519"/>
            <a:ext cx="2560320" cy="2148840"/>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039112"/>
            <a:ext cx="2157984" cy="640080"/>
          </a:xfrm>
          <a:prstGeom prst="rect">
            <a:avLst/>
          </a:prstGeom>
          <a:noFill/>
        </p:spPr>
        <p:txBody>
          <a:bodyPr wrap="square" lIns="0" rIns="0" tIns="0" bIns="0" anchor="t">
            <a:spAutoFit/>
          </a:bodyPr>
          <a:lstStyle/>
          <a:p>
            <a:pPr algn="l">
              <a:lnSpc>
                <a:spcPct val="105000"/>
              </a:lnSpc>
            </a:pPr>
            <a:r>
              <a:rPr sz="1500" b="1">
                <a:solidFill>
                  <a:srgbClr val="0A4F59"/>
                </a:solidFill>
                <a:latin typeface="Arial"/>
              </a:rPr>
              <a:t>Preeklampsiya</a:t>
            </a:r>
          </a:p>
        </p:txBody>
      </p:sp>
      <p:sp>
        <p:nvSpPr>
          <p:cNvPr id="9" name="TextBox 8"/>
          <p:cNvSpPr txBox="1"/>
          <p:nvPr/>
        </p:nvSpPr>
        <p:spPr>
          <a:xfrm>
            <a:off x="841247" y="2450592"/>
            <a:ext cx="2157984" cy="1417320"/>
          </a:xfrm>
          <a:prstGeom prst="rect">
            <a:avLst/>
          </a:prstGeom>
          <a:noFill/>
        </p:spPr>
        <p:txBody>
          <a:bodyPr wrap="square" lIns="0" rIns="0" tIns="0" bIns="0" anchor="t">
            <a:spAutoFit/>
          </a:bodyPr>
          <a:lstStyle/>
          <a:p>
            <a:pPr algn="l">
              <a:lnSpc>
                <a:spcPct val="112000"/>
              </a:lnSpc>
            </a:pPr>
            <a:r>
              <a:rPr sz="1200" b="0">
                <a:solidFill>
                  <a:srgbClr val="1E2A2E"/>
                </a:solidFill>
                <a:latin typeface="Arial"/>
              </a:rPr>
              <a:t>Bosim, bosh og‘rig‘i, ko‘rish buzilishi, shish bir necha kunda kuchayadi. Uy sharoitidagi bosim ko‘rsatkichi va belgilar erta signal beradi.</a:t>
            </a:r>
          </a:p>
        </p:txBody>
      </p:sp>
      <p:sp>
        <p:nvSpPr>
          <p:cNvPr id="10" name="Rounded Rectangle 9"/>
          <p:cNvSpPr/>
          <p:nvPr/>
        </p:nvSpPr>
        <p:spPr>
          <a:xfrm>
            <a:off x="3429000" y="1874519"/>
            <a:ext cx="2560320" cy="2148840"/>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0168" y="2039112"/>
            <a:ext cx="2157984" cy="640080"/>
          </a:xfrm>
          <a:prstGeom prst="rect">
            <a:avLst/>
          </a:prstGeom>
          <a:noFill/>
        </p:spPr>
        <p:txBody>
          <a:bodyPr wrap="square" lIns="0" rIns="0" tIns="0" bIns="0" anchor="t">
            <a:spAutoFit/>
          </a:bodyPr>
          <a:lstStyle/>
          <a:p>
            <a:pPr algn="l">
              <a:lnSpc>
                <a:spcPct val="105000"/>
              </a:lnSpc>
            </a:pPr>
            <a:r>
              <a:rPr sz="1500" b="1">
                <a:solidFill>
                  <a:srgbClr val="0A4F59"/>
                </a:solidFill>
                <a:latin typeface="Arial"/>
              </a:rPr>
              <a:t>Homila harakati kamayishi</a:t>
            </a:r>
          </a:p>
        </p:txBody>
      </p:sp>
      <p:sp>
        <p:nvSpPr>
          <p:cNvPr id="12" name="TextBox 11"/>
          <p:cNvSpPr txBox="1"/>
          <p:nvPr/>
        </p:nvSpPr>
        <p:spPr>
          <a:xfrm>
            <a:off x="3630168" y="2450592"/>
            <a:ext cx="2157984" cy="1417320"/>
          </a:xfrm>
          <a:prstGeom prst="rect">
            <a:avLst/>
          </a:prstGeom>
          <a:noFill/>
        </p:spPr>
        <p:txBody>
          <a:bodyPr wrap="square" lIns="0" rIns="0" tIns="0" bIns="0" anchor="t">
            <a:spAutoFit/>
          </a:bodyPr>
          <a:lstStyle/>
          <a:p>
            <a:pPr algn="l">
              <a:lnSpc>
                <a:spcPct val="112000"/>
              </a:lnSpc>
            </a:pPr>
            <a:r>
              <a:rPr sz="1200" b="0">
                <a:solidFill>
                  <a:srgbClr val="1E2A2E"/>
                </a:solidFill>
                <a:latin typeface="Arial"/>
              </a:rPr>
              <a:t>Ona sezadi, lekin «keyingi ko‘rikkacha kutaman» deb o‘ylaydi. Ko‘rsatma esa kutmaslikni aytadi.</a:t>
            </a:r>
          </a:p>
        </p:txBody>
      </p:sp>
      <p:sp>
        <p:nvSpPr>
          <p:cNvPr id="13" name="Rounded Rectangle 12"/>
          <p:cNvSpPr/>
          <p:nvPr/>
        </p:nvSpPr>
        <p:spPr>
          <a:xfrm>
            <a:off x="6217920" y="1874519"/>
            <a:ext cx="2560320" cy="2148840"/>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039112"/>
            <a:ext cx="2157984" cy="640080"/>
          </a:xfrm>
          <a:prstGeom prst="rect">
            <a:avLst/>
          </a:prstGeom>
          <a:noFill/>
        </p:spPr>
        <p:txBody>
          <a:bodyPr wrap="square" lIns="0" rIns="0" tIns="0" bIns="0" anchor="t">
            <a:spAutoFit/>
          </a:bodyPr>
          <a:lstStyle/>
          <a:p>
            <a:pPr algn="l">
              <a:lnSpc>
                <a:spcPct val="105000"/>
              </a:lnSpc>
            </a:pPr>
            <a:r>
              <a:rPr sz="1500" b="1">
                <a:solidFill>
                  <a:srgbClr val="0A4F59"/>
                </a:solidFill>
                <a:latin typeface="Arial"/>
              </a:rPr>
              <a:t>Qon ketishi va suv ketishi</a:t>
            </a:r>
          </a:p>
        </p:txBody>
      </p:sp>
      <p:sp>
        <p:nvSpPr>
          <p:cNvPr id="15" name="TextBox 14"/>
          <p:cNvSpPr txBox="1"/>
          <p:nvPr/>
        </p:nvSpPr>
        <p:spPr>
          <a:xfrm>
            <a:off x="6419088" y="2450592"/>
            <a:ext cx="2157984" cy="1417320"/>
          </a:xfrm>
          <a:prstGeom prst="rect">
            <a:avLst/>
          </a:prstGeom>
          <a:noFill/>
        </p:spPr>
        <p:txBody>
          <a:bodyPr wrap="square" lIns="0" rIns="0" tIns="0" bIns="0" anchor="t">
            <a:spAutoFit/>
          </a:bodyPr>
          <a:lstStyle/>
          <a:p>
            <a:pPr algn="l">
              <a:lnSpc>
                <a:spcPct val="112000"/>
              </a:lnSpc>
            </a:pPr>
            <a:r>
              <a:rPr sz="1200" b="0">
                <a:solidFill>
                  <a:srgbClr val="1E2A2E"/>
                </a:solidFill>
                <a:latin typeface="Arial"/>
              </a:rPr>
              <a:t>Daqiqalar muhim. Ayolga aniq yo‘riq kerak: hoziroq qo‘ng‘iroq qiling, 103.</a:t>
            </a:r>
          </a:p>
        </p:txBody>
      </p:sp>
      <p:sp>
        <p:nvSpPr>
          <p:cNvPr id="16" name="Rounded Rectangle 15"/>
          <p:cNvSpPr/>
          <p:nvPr/>
        </p:nvSpPr>
        <p:spPr>
          <a:xfrm>
            <a:off x="9006839" y="1874519"/>
            <a:ext cx="2560320" cy="2148840"/>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08007" y="2039112"/>
            <a:ext cx="2157984" cy="640080"/>
          </a:xfrm>
          <a:prstGeom prst="rect">
            <a:avLst/>
          </a:prstGeom>
          <a:noFill/>
        </p:spPr>
        <p:txBody>
          <a:bodyPr wrap="square" lIns="0" rIns="0" tIns="0" bIns="0" anchor="t">
            <a:spAutoFit/>
          </a:bodyPr>
          <a:lstStyle/>
          <a:p>
            <a:pPr algn="l">
              <a:lnSpc>
                <a:spcPct val="105000"/>
              </a:lnSpc>
            </a:pPr>
            <a:r>
              <a:rPr sz="1500" b="1">
                <a:solidFill>
                  <a:srgbClr val="0A4F59"/>
                </a:solidFill>
                <a:latin typeface="Arial"/>
              </a:rPr>
              <a:t>Ruhiy holat va vitaminlar</a:t>
            </a:r>
          </a:p>
        </p:txBody>
      </p:sp>
      <p:sp>
        <p:nvSpPr>
          <p:cNvPr id="18" name="TextBox 17"/>
          <p:cNvSpPr txBox="1"/>
          <p:nvPr/>
        </p:nvSpPr>
        <p:spPr>
          <a:xfrm>
            <a:off x="9208007" y="2450592"/>
            <a:ext cx="2157984" cy="1417320"/>
          </a:xfrm>
          <a:prstGeom prst="rect">
            <a:avLst/>
          </a:prstGeom>
          <a:noFill/>
        </p:spPr>
        <p:txBody>
          <a:bodyPr wrap="square" lIns="0" rIns="0" tIns="0" bIns="0" anchor="t">
            <a:spAutoFit/>
          </a:bodyPr>
          <a:lstStyle/>
          <a:p>
            <a:pPr algn="l">
              <a:lnSpc>
                <a:spcPct val="112000"/>
              </a:lnSpc>
            </a:pPr>
            <a:r>
              <a:rPr sz="1200" b="0">
                <a:solidFill>
                  <a:srgbClr val="1E2A2E"/>
                </a:solidFill>
                <a:latin typeface="Arial"/>
              </a:rPr>
              <a:t>Past kayfiyat, xavotir, temir preparatini ichmaslik: bir kunlik emas, ketma-ket kunlarda ko‘rinadi.</a:t>
            </a:r>
          </a:p>
        </p:txBody>
      </p:sp>
      <p:sp>
        <p:nvSpPr>
          <p:cNvPr id="19" name="Rounded Rectangle 18"/>
          <p:cNvSpPr/>
          <p:nvPr/>
        </p:nvSpPr>
        <p:spPr>
          <a:xfrm>
            <a:off x="640080" y="4343400"/>
            <a:ext cx="10927080" cy="1691640"/>
          </a:xfrm>
          <a:prstGeom prst="roundRect">
            <a:avLst>
              <a:gd name="adj" fmla="val 8000"/>
            </a:avLst>
          </a:prstGeom>
          <a:solidFill>
            <a:srgbClr val="15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80560"/>
            <a:ext cx="10424160" cy="1463040"/>
          </a:xfrm>
          <a:prstGeom prst="rect">
            <a:avLst/>
          </a:prstGeom>
          <a:noFill/>
        </p:spPr>
        <p:txBody>
          <a:bodyPr wrap="square" lIns="0" rIns="0" tIns="0" bIns="0" anchor="t">
            <a:spAutoFit/>
          </a:bodyPr>
          <a:lstStyle/>
          <a:p>
            <a:pPr algn="l">
              <a:lnSpc>
                <a:spcPct val="108000"/>
              </a:lnSpc>
            </a:pPr>
            <a:r>
              <a:rPr sz="1550" b="1">
                <a:solidFill>
                  <a:srgbClr val="FFFFFF"/>
                </a:solidFill>
                <a:latin typeface="Arial"/>
              </a:rPr>
              <a:t>98,8% ayol ko‘rikdan o‘tadi, 53,5% 8 va undan ko‘p marta (MICS 2021–2022).</a:t>
            </a:r>
          </a:p>
          <a:p>
            <a:pPr algn="l">
              <a:lnSpc>
                <a:spcPct val="108000"/>
              </a:lnSpc>
              <a:spcBef>
                <a:spcPts val="620"/>
              </a:spcBef>
            </a:pPr>
            <a:r>
              <a:rPr sz="1550" b="0">
                <a:solidFill>
                  <a:srgbClr val="9DB7BB"/>
                </a:solidFill>
                <a:latin typeface="Arial"/>
              </a:rPr>
              <a:t>Demak muammo tizimga kirishda emas. Muammo: tashriflar orasida nima bo‘layotganini hech kim ko‘rmaydi.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40080" y="502920"/>
            <a:ext cx="713232" cy="713232"/>
          </a:xfrm>
          <a:prstGeom prst="ellipse">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13232" cy="713232"/>
          </a:xfrm>
          <a:prstGeom prst="rect">
            <a:avLst/>
          </a:prstGeom>
          <a:noFill/>
        </p:spPr>
        <p:txBody>
          <a:bodyPr wrap="square" lIns="0" rIns="0" tIns="0" bIns="0" anchor="ctr">
            <a:spAutoFit/>
          </a:bodyPr>
          <a:lstStyle/>
          <a:p>
            <a:pPr algn="ctr">
              <a:lnSpc>
                <a:spcPct val="108000"/>
              </a:lnSpc>
            </a:pPr>
            <a:r>
              <a:rPr sz="2600" b="1">
                <a:solidFill>
                  <a:srgbClr val="FFFFFF"/>
                </a:solidFill>
                <a:latin typeface="Arial"/>
              </a:rPr>
              <a:t>2</a:t>
            </a:r>
          </a:p>
        </p:txBody>
      </p:sp>
      <p:sp>
        <p:nvSpPr>
          <p:cNvPr id="4" name="TextBox 3"/>
          <p:cNvSpPr txBox="1"/>
          <p:nvPr/>
        </p:nvSpPr>
        <p:spPr>
          <a:xfrm>
            <a:off x="1554480" y="457200"/>
            <a:ext cx="9144000" cy="365760"/>
          </a:xfrm>
          <a:prstGeom prst="rect">
            <a:avLst/>
          </a:prstGeom>
          <a:noFill/>
        </p:spPr>
        <p:txBody>
          <a:bodyPr wrap="square" lIns="0" rIns="0" tIns="0" bIns="0" anchor="t">
            <a:spAutoFit/>
          </a:bodyPr>
          <a:lstStyle/>
          <a:p>
            <a:pPr algn="l">
              <a:lnSpc>
                <a:spcPct val="108000"/>
              </a:lnSpc>
            </a:pPr>
            <a:r>
              <a:rPr sz="1300" b="1">
                <a:solidFill>
                  <a:srgbClr val="0E6B78"/>
                </a:solidFill>
                <a:latin typeface="Arial"/>
              </a:rPr>
              <a:t>MEZON 2 / 5  ·  SOHANI CHUQUR TUSHUNISH</a:t>
            </a:r>
          </a:p>
        </p:txBody>
      </p:sp>
      <p:sp>
        <p:nvSpPr>
          <p:cNvPr id="5" name="TextBox 4"/>
          <p:cNvSpPr txBox="1"/>
          <p:nvPr/>
        </p:nvSpPr>
        <p:spPr>
          <a:xfrm>
            <a:off x="1554480" y="777240"/>
            <a:ext cx="9966960" cy="960120"/>
          </a:xfrm>
          <a:prstGeom prst="rect">
            <a:avLst/>
          </a:prstGeom>
          <a:noFill/>
        </p:spPr>
        <p:txBody>
          <a:bodyPr wrap="square" lIns="0" rIns="0" tIns="0" bIns="0" anchor="t">
            <a:spAutoFit/>
          </a:bodyPr>
          <a:lstStyle/>
          <a:p>
            <a:pPr algn="l">
              <a:lnSpc>
                <a:spcPct val="100000"/>
              </a:lnSpc>
            </a:pPr>
            <a:r>
              <a:rPr sz="2900" b="1">
                <a:solidFill>
                  <a:srgbClr val="1E2A2E"/>
                </a:solidFill>
                <a:latin typeface="Arial"/>
              </a:rPr>
              <a:t>Har bir qoida, uning sharti va manbasi ochiq ko‘rsatilgan</a:t>
            </a:r>
          </a:p>
        </p:txBody>
      </p:sp>
      <p:sp>
        <p:nvSpPr>
          <p:cNvPr id="6" name="TextBox 5"/>
          <p:cNvSpPr txBox="1"/>
          <p:nvPr/>
        </p:nvSpPr>
        <p:spPr>
          <a:xfrm>
            <a:off x="640080" y="6355080"/>
            <a:ext cx="10972800" cy="274320"/>
          </a:xfrm>
          <a:prstGeom prst="rect">
            <a:avLst/>
          </a:prstGeom>
          <a:noFill/>
        </p:spPr>
        <p:txBody>
          <a:bodyPr wrap="square" lIns="0" rIns="0" tIns="0" bIns="0" anchor="t">
            <a:spAutoFit/>
          </a:bodyPr>
          <a:lstStyle/>
          <a:p>
            <a:pPr algn="l">
              <a:lnSpc>
                <a:spcPct val="108000"/>
              </a:lnSpc>
            </a:pPr>
            <a:r>
              <a:rPr sz="1050" b="0">
                <a:solidFill>
                  <a:srgbClr val="5B6B71"/>
                </a:solidFill>
                <a:latin typeface="Arial"/>
              </a:rPr>
              <a:t>Nigoh AI  ·  Checkpoint 2  ·  Soha mentori  ·  19-sentabr 2026</a:t>
            </a:r>
          </a:p>
        </p:txBody>
      </p:sp>
      <p:sp>
        <p:nvSpPr>
          <p:cNvPr id="7" name="Rounded Rectangle 6"/>
          <p:cNvSpPr/>
          <p:nvPr/>
        </p:nvSpPr>
        <p:spPr>
          <a:xfrm>
            <a:off x="6099048" y="1847088"/>
            <a:ext cx="5495544" cy="3059505"/>
          </a:xfrm>
          <a:prstGeom prst="roundRect">
            <a:avLst>
              <a:gd name="adj" fmla="val 3000"/>
            </a:avLst>
          </a:prstGeom>
          <a:solidFill>
            <a:srgbClr val="E3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ules.jpg"/>
          <p:cNvPicPr>
            <a:picLocks noChangeAspect="1"/>
          </p:cNvPicPr>
          <p:nvPr/>
        </p:nvPicPr>
        <p:blipFill>
          <a:blip r:embed="rId3"/>
          <a:stretch>
            <a:fillRect/>
          </a:stretch>
        </p:blipFill>
        <p:spPr>
          <a:xfrm>
            <a:off x="6172200" y="1920240"/>
            <a:ext cx="5349240" cy="2913201"/>
          </a:xfrm>
          <a:prstGeom prst="rect">
            <a:avLst/>
          </a:prstGeom>
        </p:spPr>
      </p:pic>
      <p:sp>
        <p:nvSpPr>
          <p:cNvPr id="9" name="Oval 8"/>
          <p:cNvSpPr/>
          <p:nvPr/>
        </p:nvSpPr>
        <p:spPr>
          <a:xfrm>
            <a:off x="658368" y="2002536"/>
            <a:ext cx="118872" cy="118872"/>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20240"/>
            <a:ext cx="4937760" cy="658368"/>
          </a:xfrm>
          <a:prstGeom prst="rect">
            <a:avLst/>
          </a:prstGeom>
          <a:noFill/>
        </p:spPr>
        <p:txBody>
          <a:bodyPr wrap="square" lIns="0" rIns="0" tIns="0" bIns="0" anchor="t">
            <a:spAutoFit/>
          </a:bodyPr>
          <a:lstStyle/>
          <a:p>
            <a:pPr algn="l">
              <a:lnSpc>
                <a:spcPct val="108000"/>
              </a:lnSpc>
            </a:pPr>
            <a:r>
              <a:rPr sz="1300" b="0">
                <a:solidFill>
                  <a:srgbClr val="1E2A2E"/>
                </a:solidFill>
                <a:latin typeface="Arial"/>
              </a:rPr>
              <a:t>Qizil: qon ketishi, suv ketishi, bosim ≥160/110, harakat yo‘q, kuchli qorin og‘rig‘i, nafas qisishi</a:t>
            </a:r>
          </a:p>
        </p:txBody>
      </p:sp>
      <p:sp>
        <p:nvSpPr>
          <p:cNvPr id="11" name="Oval 10"/>
          <p:cNvSpPr/>
          <p:nvPr/>
        </p:nvSpPr>
        <p:spPr>
          <a:xfrm>
            <a:off x="658368" y="2660904"/>
            <a:ext cx="118872" cy="118872"/>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578608"/>
            <a:ext cx="4937760" cy="658368"/>
          </a:xfrm>
          <a:prstGeom prst="rect">
            <a:avLst/>
          </a:prstGeom>
          <a:noFill/>
        </p:spPr>
        <p:txBody>
          <a:bodyPr wrap="square" lIns="0" rIns="0" tIns="0" bIns="0" anchor="t">
            <a:spAutoFit/>
          </a:bodyPr>
          <a:lstStyle/>
          <a:p>
            <a:pPr algn="l">
              <a:lnSpc>
                <a:spcPct val="108000"/>
              </a:lnSpc>
            </a:pPr>
            <a:r>
              <a:rPr sz="1300" b="0">
                <a:solidFill>
                  <a:srgbClr val="1E2A2E"/>
                </a:solidFill>
                <a:latin typeface="Arial"/>
              </a:rPr>
              <a:t>Preeklampsiya: 20-haftadan bosim ≥140/90 + bitta belgi yoki ikkita belgi birga</a:t>
            </a:r>
          </a:p>
        </p:txBody>
      </p:sp>
      <p:sp>
        <p:nvSpPr>
          <p:cNvPr id="13" name="Oval 12"/>
          <p:cNvSpPr/>
          <p:nvPr/>
        </p:nvSpPr>
        <p:spPr>
          <a:xfrm>
            <a:off x="658368" y="3319272"/>
            <a:ext cx="118872" cy="118872"/>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236976"/>
            <a:ext cx="4937760" cy="658368"/>
          </a:xfrm>
          <a:prstGeom prst="rect">
            <a:avLst/>
          </a:prstGeom>
          <a:noFill/>
        </p:spPr>
        <p:txBody>
          <a:bodyPr wrap="square" lIns="0" rIns="0" tIns="0" bIns="0" anchor="t">
            <a:spAutoFit/>
          </a:bodyPr>
          <a:lstStyle/>
          <a:p>
            <a:pPr algn="l">
              <a:lnSpc>
                <a:spcPct val="108000"/>
              </a:lnSpc>
            </a:pPr>
            <a:r>
              <a:rPr sz="1300" b="0">
                <a:solidFill>
                  <a:srgbClr val="1E2A2E"/>
                </a:solidFill>
                <a:latin typeface="Arial"/>
              </a:rPr>
              <a:t>Haftaga bog‘liq mantiq: harakat 24-haftadan; to‘lg‘oq 37-haftagacha qizil, keyin sariq</a:t>
            </a:r>
          </a:p>
        </p:txBody>
      </p:sp>
      <p:sp>
        <p:nvSpPr>
          <p:cNvPr id="15" name="Oval 14"/>
          <p:cNvSpPr/>
          <p:nvPr/>
        </p:nvSpPr>
        <p:spPr>
          <a:xfrm>
            <a:off x="658368" y="3977639"/>
            <a:ext cx="118872" cy="118872"/>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895344"/>
            <a:ext cx="4937760" cy="658368"/>
          </a:xfrm>
          <a:prstGeom prst="rect">
            <a:avLst/>
          </a:prstGeom>
          <a:noFill/>
        </p:spPr>
        <p:txBody>
          <a:bodyPr wrap="square" lIns="0" rIns="0" tIns="0" bIns="0" anchor="t">
            <a:spAutoFit/>
          </a:bodyPr>
          <a:lstStyle/>
          <a:p>
            <a:pPr algn="l">
              <a:lnSpc>
                <a:spcPct val="108000"/>
              </a:lnSpc>
            </a:pPr>
            <a:r>
              <a:rPr sz="1300" b="0">
                <a:solidFill>
                  <a:srgbClr val="1E2A2E"/>
                </a:solidFill>
                <a:latin typeface="Arial"/>
              </a:rPr>
              <a:t>Uydagi o‘lchov xatolari: 60–260 / 30–160 dan tashqari bosim e’tiborga olinmaydi</a:t>
            </a:r>
          </a:p>
        </p:txBody>
      </p:sp>
      <p:sp>
        <p:nvSpPr>
          <p:cNvPr id="17" name="Oval 16"/>
          <p:cNvSpPr/>
          <p:nvPr/>
        </p:nvSpPr>
        <p:spPr>
          <a:xfrm>
            <a:off x="658368" y="4636008"/>
            <a:ext cx="118872" cy="118872"/>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4553712"/>
            <a:ext cx="4937760" cy="658368"/>
          </a:xfrm>
          <a:prstGeom prst="rect">
            <a:avLst/>
          </a:prstGeom>
          <a:noFill/>
        </p:spPr>
        <p:txBody>
          <a:bodyPr wrap="square" lIns="0" rIns="0" tIns="0" bIns="0" anchor="t">
            <a:spAutoFit/>
          </a:bodyPr>
          <a:lstStyle/>
          <a:p>
            <a:pPr algn="l">
              <a:lnSpc>
                <a:spcPct val="108000"/>
              </a:lnSpc>
            </a:pPr>
            <a:r>
              <a:rPr sz="1300" b="0">
                <a:solidFill>
                  <a:srgbClr val="1E2A2E"/>
                </a:solidFill>
                <a:latin typeface="Arial"/>
              </a:rPr>
              <a:t>Trendlar: 3 kun past kayfiyat, 3 kun vitamin ichilmagan, haftada 2 kg dan ortiq vazn</a:t>
            </a:r>
          </a:p>
        </p:txBody>
      </p:sp>
      <p:sp>
        <p:nvSpPr>
          <p:cNvPr id="19" name="Oval 18"/>
          <p:cNvSpPr/>
          <p:nvPr/>
        </p:nvSpPr>
        <p:spPr>
          <a:xfrm>
            <a:off x="658368" y="5294375"/>
            <a:ext cx="118872" cy="118872"/>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12079"/>
            <a:ext cx="4937760" cy="658368"/>
          </a:xfrm>
          <a:prstGeom prst="rect">
            <a:avLst/>
          </a:prstGeom>
          <a:noFill/>
        </p:spPr>
        <p:txBody>
          <a:bodyPr wrap="square" lIns="0" rIns="0" tIns="0" bIns="0" anchor="t">
            <a:spAutoFit/>
          </a:bodyPr>
          <a:lstStyle/>
          <a:p>
            <a:pPr algn="l">
              <a:lnSpc>
                <a:spcPct val="108000"/>
              </a:lnSpc>
            </a:pPr>
            <a:r>
              <a:rPr sz="1300" b="0">
                <a:solidFill>
                  <a:srgbClr val="1E2A2E"/>
                </a:solidFill>
                <a:latin typeface="Arial"/>
              </a:rPr>
              <a:t>Manbalar: JSST xavf belgilari, ISSHP/ACOG, RCOG; 4 ta qoida evristika deb belgilangan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40080" y="502920"/>
            <a:ext cx="713232" cy="713232"/>
          </a:xfrm>
          <a:prstGeom prst="ellipse">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13232" cy="713232"/>
          </a:xfrm>
          <a:prstGeom prst="rect">
            <a:avLst/>
          </a:prstGeom>
          <a:noFill/>
        </p:spPr>
        <p:txBody>
          <a:bodyPr wrap="square" lIns="0" rIns="0" tIns="0" bIns="0" anchor="ctr">
            <a:spAutoFit/>
          </a:bodyPr>
          <a:lstStyle/>
          <a:p>
            <a:pPr algn="ctr">
              <a:lnSpc>
                <a:spcPct val="108000"/>
              </a:lnSpc>
            </a:pPr>
            <a:r>
              <a:rPr sz="2600" b="1">
                <a:solidFill>
                  <a:srgbClr val="FFFFFF"/>
                </a:solidFill>
                <a:latin typeface="Arial"/>
              </a:rPr>
              <a:t>3</a:t>
            </a:r>
          </a:p>
        </p:txBody>
      </p:sp>
      <p:sp>
        <p:nvSpPr>
          <p:cNvPr id="4" name="TextBox 3"/>
          <p:cNvSpPr txBox="1"/>
          <p:nvPr/>
        </p:nvSpPr>
        <p:spPr>
          <a:xfrm>
            <a:off x="1554480" y="457200"/>
            <a:ext cx="9144000" cy="365760"/>
          </a:xfrm>
          <a:prstGeom prst="rect">
            <a:avLst/>
          </a:prstGeom>
          <a:noFill/>
        </p:spPr>
        <p:txBody>
          <a:bodyPr wrap="square" lIns="0" rIns="0" tIns="0" bIns="0" anchor="t">
            <a:spAutoFit/>
          </a:bodyPr>
          <a:lstStyle/>
          <a:p>
            <a:pPr algn="l">
              <a:lnSpc>
                <a:spcPct val="108000"/>
              </a:lnSpc>
            </a:pPr>
            <a:r>
              <a:rPr sz="1300" b="1">
                <a:solidFill>
                  <a:srgbClr val="0E6B78"/>
                </a:solidFill>
                <a:latin typeface="Arial"/>
              </a:rPr>
              <a:t>MEZON 3 / 5  ·  AMALIY QO‘LLANISH</a:t>
            </a:r>
          </a:p>
        </p:txBody>
      </p:sp>
      <p:sp>
        <p:nvSpPr>
          <p:cNvPr id="5" name="TextBox 4"/>
          <p:cNvSpPr txBox="1"/>
          <p:nvPr/>
        </p:nvSpPr>
        <p:spPr>
          <a:xfrm>
            <a:off x="1554480" y="777240"/>
            <a:ext cx="9966960" cy="960120"/>
          </a:xfrm>
          <a:prstGeom prst="rect">
            <a:avLst/>
          </a:prstGeom>
          <a:noFill/>
        </p:spPr>
        <p:txBody>
          <a:bodyPr wrap="square" lIns="0" rIns="0" tIns="0" bIns="0" anchor="t">
            <a:spAutoFit/>
          </a:bodyPr>
          <a:lstStyle/>
          <a:p>
            <a:pPr algn="l">
              <a:lnSpc>
                <a:spcPct val="100000"/>
              </a:lnSpc>
            </a:pPr>
            <a:r>
              <a:rPr sz="2900" b="1">
                <a:solidFill>
                  <a:srgbClr val="1E2A2E"/>
                </a:solidFill>
                <a:latin typeface="Arial"/>
              </a:rPr>
              <a:t>Klinikaning bugungi ish jarayoniga 5 daqiqada qo‘shiladi</a:t>
            </a:r>
          </a:p>
        </p:txBody>
      </p:sp>
      <p:sp>
        <p:nvSpPr>
          <p:cNvPr id="6" name="TextBox 5"/>
          <p:cNvSpPr txBox="1"/>
          <p:nvPr/>
        </p:nvSpPr>
        <p:spPr>
          <a:xfrm>
            <a:off x="640080" y="6355080"/>
            <a:ext cx="10972800" cy="274320"/>
          </a:xfrm>
          <a:prstGeom prst="rect">
            <a:avLst/>
          </a:prstGeom>
          <a:noFill/>
        </p:spPr>
        <p:txBody>
          <a:bodyPr wrap="square" lIns="0" rIns="0" tIns="0" bIns="0" anchor="t">
            <a:spAutoFit/>
          </a:bodyPr>
          <a:lstStyle/>
          <a:p>
            <a:pPr algn="l">
              <a:lnSpc>
                <a:spcPct val="108000"/>
              </a:lnSpc>
            </a:pPr>
            <a:r>
              <a:rPr sz="1050" b="0">
                <a:solidFill>
                  <a:srgbClr val="5B6B71"/>
                </a:solidFill>
                <a:latin typeface="Arial"/>
              </a:rPr>
              <a:t>Nigoh AI  ·  Checkpoint 2  ·  Soha mentori  ·  19-sentabr 2026</a:t>
            </a:r>
          </a:p>
        </p:txBody>
      </p:sp>
      <p:sp>
        <p:nvSpPr>
          <p:cNvPr id="7" name="Rounded Rectangle 6"/>
          <p:cNvSpPr/>
          <p:nvPr/>
        </p:nvSpPr>
        <p:spPr>
          <a:xfrm>
            <a:off x="6099048" y="1847088"/>
            <a:ext cx="5495544" cy="3059505"/>
          </a:xfrm>
          <a:prstGeom prst="roundRect">
            <a:avLst>
              <a:gd name="adj" fmla="val 3000"/>
            </a:avLst>
          </a:prstGeom>
          <a:solidFill>
            <a:srgbClr val="E3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tient.jpg"/>
          <p:cNvPicPr>
            <a:picLocks noChangeAspect="1"/>
          </p:cNvPicPr>
          <p:nvPr/>
        </p:nvPicPr>
        <p:blipFill>
          <a:blip r:embed="rId3"/>
          <a:stretch>
            <a:fillRect/>
          </a:stretch>
        </p:blipFill>
        <p:spPr>
          <a:xfrm>
            <a:off x="6172200" y="1920240"/>
            <a:ext cx="5349240" cy="2913201"/>
          </a:xfrm>
          <a:prstGeom prst="rect">
            <a:avLst/>
          </a:prstGeom>
        </p:spPr>
      </p:pic>
      <p:sp>
        <p:nvSpPr>
          <p:cNvPr id="9" name="Oval 8"/>
          <p:cNvSpPr/>
          <p:nvPr/>
        </p:nvSpPr>
        <p:spPr>
          <a:xfrm>
            <a:off x="640080" y="1874519"/>
            <a:ext cx="512064" cy="512064"/>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74519"/>
            <a:ext cx="512064" cy="512064"/>
          </a:xfrm>
          <a:prstGeom prst="rect">
            <a:avLst/>
          </a:prstGeom>
          <a:noFill/>
        </p:spPr>
        <p:txBody>
          <a:bodyPr wrap="square" lIns="0" rIns="0" tIns="0" bIns="0" anchor="ctr">
            <a:spAutoFit/>
          </a:bodyPr>
          <a:lstStyle/>
          <a:p>
            <a:pPr algn="ctr">
              <a:lnSpc>
                <a:spcPct val="108000"/>
              </a:lnSpc>
            </a:pPr>
            <a:r>
              <a:rPr sz="1600" b="1">
                <a:solidFill>
                  <a:srgbClr val="FFFFFF"/>
                </a:solidFill>
                <a:latin typeface="Arial"/>
              </a:rPr>
              <a:t>1</a:t>
            </a:r>
          </a:p>
        </p:txBody>
      </p:sp>
      <p:sp>
        <p:nvSpPr>
          <p:cNvPr id="11" name="TextBox 10"/>
          <p:cNvSpPr txBox="1"/>
          <p:nvPr/>
        </p:nvSpPr>
        <p:spPr>
          <a:xfrm>
            <a:off x="1325880" y="1828799"/>
            <a:ext cx="4572000" cy="320040"/>
          </a:xfrm>
          <a:prstGeom prst="rect">
            <a:avLst/>
          </a:prstGeom>
          <a:noFill/>
        </p:spPr>
        <p:txBody>
          <a:bodyPr wrap="square" lIns="0" rIns="0" tIns="0" bIns="0" anchor="t">
            <a:spAutoFit/>
          </a:bodyPr>
          <a:lstStyle/>
          <a:p>
            <a:pPr algn="l">
              <a:lnSpc>
                <a:spcPct val="108000"/>
              </a:lnSpc>
            </a:pPr>
            <a:r>
              <a:rPr sz="1500" b="1">
                <a:solidFill>
                  <a:srgbClr val="1E2A2E"/>
                </a:solidFill>
                <a:latin typeface="Arial"/>
              </a:rPr>
              <a:t>Ro‘yxatga olish + QR</a:t>
            </a:r>
          </a:p>
        </p:txBody>
      </p:sp>
      <p:sp>
        <p:nvSpPr>
          <p:cNvPr id="12" name="TextBox 11"/>
          <p:cNvSpPr txBox="1"/>
          <p:nvPr/>
        </p:nvSpPr>
        <p:spPr>
          <a:xfrm>
            <a:off x="1325880" y="2130552"/>
            <a:ext cx="4572000" cy="548640"/>
          </a:xfrm>
          <a:prstGeom prst="rect">
            <a:avLst/>
          </a:prstGeom>
          <a:noFill/>
        </p:spPr>
        <p:txBody>
          <a:bodyPr wrap="square" lIns="0" rIns="0" tIns="0" bIns="0" anchor="t">
            <a:spAutoFit/>
          </a:bodyPr>
          <a:lstStyle/>
          <a:p>
            <a:pPr algn="l">
              <a:lnSpc>
                <a:spcPct val="108000"/>
              </a:lnSpc>
            </a:pPr>
            <a:r>
              <a:rPr sz="1200" b="0">
                <a:solidFill>
                  <a:srgbClr val="5B6B71"/>
                </a:solidFill>
                <a:latin typeface="Arial"/>
              </a:rPr>
              <a:t>Ism, hafta, xavf omillari. Ona kamerasi bilan skanerlaydi.</a:t>
            </a:r>
          </a:p>
        </p:txBody>
      </p:sp>
      <p:sp>
        <p:nvSpPr>
          <p:cNvPr id="13" name="Oval 12"/>
          <p:cNvSpPr/>
          <p:nvPr/>
        </p:nvSpPr>
        <p:spPr>
          <a:xfrm>
            <a:off x="640080" y="2715768"/>
            <a:ext cx="512064" cy="512064"/>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715768"/>
            <a:ext cx="512064" cy="512064"/>
          </a:xfrm>
          <a:prstGeom prst="rect">
            <a:avLst/>
          </a:prstGeom>
          <a:noFill/>
        </p:spPr>
        <p:txBody>
          <a:bodyPr wrap="square" lIns="0" rIns="0" tIns="0" bIns="0" anchor="ctr">
            <a:spAutoFit/>
          </a:bodyPr>
          <a:lstStyle/>
          <a:p>
            <a:pPr algn="ctr">
              <a:lnSpc>
                <a:spcPct val="108000"/>
              </a:lnSpc>
            </a:pPr>
            <a:r>
              <a:rPr sz="1600" b="1">
                <a:solidFill>
                  <a:srgbClr val="FFFFFF"/>
                </a:solidFill>
                <a:latin typeface="Arial"/>
              </a:rPr>
              <a:t>2</a:t>
            </a:r>
          </a:p>
        </p:txBody>
      </p:sp>
      <p:sp>
        <p:nvSpPr>
          <p:cNvPr id="15" name="TextBox 14"/>
          <p:cNvSpPr txBox="1"/>
          <p:nvPr/>
        </p:nvSpPr>
        <p:spPr>
          <a:xfrm>
            <a:off x="1325880" y="2670048"/>
            <a:ext cx="4572000" cy="320040"/>
          </a:xfrm>
          <a:prstGeom prst="rect">
            <a:avLst/>
          </a:prstGeom>
          <a:noFill/>
        </p:spPr>
        <p:txBody>
          <a:bodyPr wrap="square" lIns="0" rIns="0" tIns="0" bIns="0" anchor="t">
            <a:spAutoFit/>
          </a:bodyPr>
          <a:lstStyle/>
          <a:p>
            <a:pPr algn="l">
              <a:lnSpc>
                <a:spcPct val="108000"/>
              </a:lnSpc>
            </a:pPr>
            <a:r>
              <a:rPr sz="1500" b="1">
                <a:solidFill>
                  <a:srgbClr val="1E2A2E"/>
                </a:solidFill>
                <a:latin typeface="Arial"/>
              </a:rPr>
              <a:t>Kunlik 2 daqiqa</a:t>
            </a:r>
          </a:p>
        </p:txBody>
      </p:sp>
      <p:sp>
        <p:nvSpPr>
          <p:cNvPr id="16" name="TextBox 15"/>
          <p:cNvSpPr txBox="1"/>
          <p:nvPr/>
        </p:nvSpPr>
        <p:spPr>
          <a:xfrm>
            <a:off x="1325880" y="2971800"/>
            <a:ext cx="4572000" cy="548640"/>
          </a:xfrm>
          <a:prstGeom prst="rect">
            <a:avLst/>
          </a:prstGeom>
          <a:noFill/>
        </p:spPr>
        <p:txBody>
          <a:bodyPr wrap="square" lIns="0" rIns="0" tIns="0" bIns="0" anchor="t">
            <a:spAutoFit/>
          </a:bodyPr>
          <a:lstStyle/>
          <a:p>
            <a:pPr algn="l">
              <a:lnSpc>
                <a:spcPct val="108000"/>
              </a:lnSpc>
            </a:pPr>
            <a:r>
              <a:rPr sz="1200" b="0">
                <a:solidFill>
                  <a:srgbClr val="5B6B71"/>
                </a:solidFill>
                <a:latin typeface="Arial"/>
              </a:rPr>
              <a:t>Katta tugmalar, belgilar rasm bilan, o‘zbek / rus tili. Savodi past ayol uchun ham qulay.</a:t>
            </a:r>
          </a:p>
        </p:txBody>
      </p:sp>
      <p:sp>
        <p:nvSpPr>
          <p:cNvPr id="17" name="Oval 16"/>
          <p:cNvSpPr/>
          <p:nvPr/>
        </p:nvSpPr>
        <p:spPr>
          <a:xfrm>
            <a:off x="640080" y="3557015"/>
            <a:ext cx="512064" cy="512064"/>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557015"/>
            <a:ext cx="512064" cy="512064"/>
          </a:xfrm>
          <a:prstGeom prst="rect">
            <a:avLst/>
          </a:prstGeom>
          <a:noFill/>
        </p:spPr>
        <p:txBody>
          <a:bodyPr wrap="square" lIns="0" rIns="0" tIns="0" bIns="0" anchor="ctr">
            <a:spAutoFit/>
          </a:bodyPr>
          <a:lstStyle/>
          <a:p>
            <a:pPr algn="ctr">
              <a:lnSpc>
                <a:spcPct val="108000"/>
              </a:lnSpc>
            </a:pPr>
            <a:r>
              <a:rPr sz="1600" b="1">
                <a:solidFill>
                  <a:srgbClr val="FFFFFF"/>
                </a:solidFill>
                <a:latin typeface="Arial"/>
              </a:rPr>
              <a:t>3</a:t>
            </a:r>
          </a:p>
        </p:txBody>
      </p:sp>
      <p:sp>
        <p:nvSpPr>
          <p:cNvPr id="19" name="TextBox 18"/>
          <p:cNvSpPr txBox="1"/>
          <p:nvPr/>
        </p:nvSpPr>
        <p:spPr>
          <a:xfrm>
            <a:off x="1325880" y="3511296"/>
            <a:ext cx="4572000" cy="320040"/>
          </a:xfrm>
          <a:prstGeom prst="rect">
            <a:avLst/>
          </a:prstGeom>
          <a:noFill/>
        </p:spPr>
        <p:txBody>
          <a:bodyPr wrap="square" lIns="0" rIns="0" tIns="0" bIns="0" anchor="t">
            <a:spAutoFit/>
          </a:bodyPr>
          <a:lstStyle/>
          <a:p>
            <a:pPr algn="l">
              <a:lnSpc>
                <a:spcPct val="108000"/>
              </a:lnSpc>
            </a:pPr>
            <a:r>
              <a:rPr sz="1500" b="1">
                <a:solidFill>
                  <a:srgbClr val="1E2A2E"/>
                </a:solidFill>
                <a:latin typeface="Arial"/>
              </a:rPr>
              <a:t>Ogohlantirish ≤ 3 soniya</a:t>
            </a:r>
          </a:p>
        </p:txBody>
      </p:sp>
      <p:sp>
        <p:nvSpPr>
          <p:cNvPr id="20" name="TextBox 19"/>
          <p:cNvSpPr txBox="1"/>
          <p:nvPr/>
        </p:nvSpPr>
        <p:spPr>
          <a:xfrm>
            <a:off x="1325880" y="3813048"/>
            <a:ext cx="4572000" cy="548640"/>
          </a:xfrm>
          <a:prstGeom prst="rect">
            <a:avLst/>
          </a:prstGeom>
          <a:noFill/>
        </p:spPr>
        <p:txBody>
          <a:bodyPr wrap="square" lIns="0" rIns="0" tIns="0" bIns="0" anchor="t">
            <a:spAutoFit/>
          </a:bodyPr>
          <a:lstStyle/>
          <a:p>
            <a:pPr algn="l">
              <a:lnSpc>
                <a:spcPct val="108000"/>
              </a:lnSpc>
            </a:pPr>
            <a:r>
              <a:rPr sz="1200" b="0">
                <a:solidFill>
                  <a:srgbClr val="5B6B71"/>
                </a:solidFill>
                <a:latin typeface="Arial"/>
              </a:rPr>
              <a:t>Qizil va sariq holatlar, ayolning izohi bilan. «Qabul qilindi» tugmasi.</a:t>
            </a:r>
          </a:p>
        </p:txBody>
      </p:sp>
      <p:sp>
        <p:nvSpPr>
          <p:cNvPr id="21" name="Oval 20"/>
          <p:cNvSpPr/>
          <p:nvPr/>
        </p:nvSpPr>
        <p:spPr>
          <a:xfrm>
            <a:off x="640080" y="4398264"/>
            <a:ext cx="512064" cy="512064"/>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398264"/>
            <a:ext cx="512064" cy="512064"/>
          </a:xfrm>
          <a:prstGeom prst="rect">
            <a:avLst/>
          </a:prstGeom>
          <a:noFill/>
        </p:spPr>
        <p:txBody>
          <a:bodyPr wrap="square" lIns="0" rIns="0" tIns="0" bIns="0" anchor="ctr">
            <a:spAutoFit/>
          </a:bodyPr>
          <a:lstStyle/>
          <a:p>
            <a:pPr algn="ctr">
              <a:lnSpc>
                <a:spcPct val="108000"/>
              </a:lnSpc>
            </a:pPr>
            <a:r>
              <a:rPr sz="1600" b="1">
                <a:solidFill>
                  <a:srgbClr val="FFFFFF"/>
                </a:solidFill>
                <a:latin typeface="Arial"/>
              </a:rPr>
              <a:t>4</a:t>
            </a:r>
          </a:p>
        </p:txBody>
      </p:sp>
      <p:sp>
        <p:nvSpPr>
          <p:cNvPr id="23" name="TextBox 22"/>
          <p:cNvSpPr txBox="1"/>
          <p:nvPr/>
        </p:nvSpPr>
        <p:spPr>
          <a:xfrm>
            <a:off x="1325880" y="4352544"/>
            <a:ext cx="4572000" cy="320040"/>
          </a:xfrm>
          <a:prstGeom prst="rect">
            <a:avLst/>
          </a:prstGeom>
          <a:noFill/>
        </p:spPr>
        <p:txBody>
          <a:bodyPr wrap="square" lIns="0" rIns="0" tIns="0" bIns="0" anchor="t">
            <a:spAutoFit/>
          </a:bodyPr>
          <a:lstStyle/>
          <a:p>
            <a:pPr algn="l">
              <a:lnSpc>
                <a:spcPct val="108000"/>
              </a:lnSpc>
            </a:pPr>
            <a:r>
              <a:rPr sz="1500" b="1">
                <a:solidFill>
                  <a:srgbClr val="1E2A2E"/>
                </a:solidFill>
                <a:latin typeface="Arial"/>
              </a:rPr>
              <a:t>Shifokor sahifasi</a:t>
            </a:r>
          </a:p>
        </p:txBody>
      </p:sp>
      <p:sp>
        <p:nvSpPr>
          <p:cNvPr id="24" name="TextBox 23"/>
          <p:cNvSpPr txBox="1"/>
          <p:nvPr/>
        </p:nvSpPr>
        <p:spPr>
          <a:xfrm>
            <a:off x="1325880" y="4654296"/>
            <a:ext cx="4572000" cy="548640"/>
          </a:xfrm>
          <a:prstGeom prst="rect">
            <a:avLst/>
          </a:prstGeom>
          <a:noFill/>
        </p:spPr>
        <p:txBody>
          <a:bodyPr wrap="square" lIns="0" rIns="0" tIns="0" bIns="0" anchor="t">
            <a:spAutoFit/>
          </a:bodyPr>
          <a:lstStyle/>
          <a:p>
            <a:pPr algn="l">
              <a:lnSpc>
                <a:spcPct val="108000"/>
              </a:lnSpc>
            </a:pPr>
            <a:r>
              <a:rPr sz="1200" b="0">
                <a:solidFill>
                  <a:srgbClr val="5B6B71"/>
                </a:solidFill>
                <a:latin typeface="Arial"/>
              </a:rPr>
              <a:t>Oxirgi bosim, vazn, 14 kunlik grafik, AI xulosa va tavsiya etilgan choralar.</a:t>
            </a:r>
          </a:p>
        </p:txBody>
      </p:sp>
      <p:sp>
        <p:nvSpPr>
          <p:cNvPr id="25" name="Oval 24"/>
          <p:cNvSpPr/>
          <p:nvPr/>
        </p:nvSpPr>
        <p:spPr>
          <a:xfrm>
            <a:off x="640080" y="5239512"/>
            <a:ext cx="512064" cy="512064"/>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239512"/>
            <a:ext cx="512064" cy="512064"/>
          </a:xfrm>
          <a:prstGeom prst="rect">
            <a:avLst/>
          </a:prstGeom>
          <a:noFill/>
        </p:spPr>
        <p:txBody>
          <a:bodyPr wrap="square" lIns="0" rIns="0" tIns="0" bIns="0" anchor="ctr">
            <a:spAutoFit/>
          </a:bodyPr>
          <a:lstStyle/>
          <a:p>
            <a:pPr algn="ctr">
              <a:lnSpc>
                <a:spcPct val="108000"/>
              </a:lnSpc>
            </a:pPr>
            <a:r>
              <a:rPr sz="1600" b="1">
                <a:solidFill>
                  <a:srgbClr val="FFFFFF"/>
                </a:solidFill>
                <a:latin typeface="Arial"/>
              </a:rPr>
              <a:t>5</a:t>
            </a:r>
          </a:p>
        </p:txBody>
      </p:sp>
      <p:sp>
        <p:nvSpPr>
          <p:cNvPr id="27" name="TextBox 26"/>
          <p:cNvSpPr txBox="1"/>
          <p:nvPr/>
        </p:nvSpPr>
        <p:spPr>
          <a:xfrm>
            <a:off x="1325880" y="5193792"/>
            <a:ext cx="4572000" cy="320040"/>
          </a:xfrm>
          <a:prstGeom prst="rect">
            <a:avLst/>
          </a:prstGeom>
          <a:noFill/>
        </p:spPr>
        <p:txBody>
          <a:bodyPr wrap="square" lIns="0" rIns="0" tIns="0" bIns="0" anchor="t">
            <a:spAutoFit/>
          </a:bodyPr>
          <a:lstStyle/>
          <a:p>
            <a:pPr algn="l">
              <a:lnSpc>
                <a:spcPct val="108000"/>
              </a:lnSpc>
            </a:pPr>
            <a:r>
              <a:rPr sz="1500" b="1">
                <a:solidFill>
                  <a:srgbClr val="1E2A2E"/>
                </a:solidFill>
                <a:latin typeface="Arial"/>
              </a:rPr>
              <a:t>Javobsiz bemor</a:t>
            </a:r>
          </a:p>
        </p:txBody>
      </p:sp>
      <p:sp>
        <p:nvSpPr>
          <p:cNvPr id="28" name="TextBox 27"/>
          <p:cNvSpPr txBox="1"/>
          <p:nvPr/>
        </p:nvSpPr>
        <p:spPr>
          <a:xfrm>
            <a:off x="1325880" y="5495544"/>
            <a:ext cx="4572000" cy="548640"/>
          </a:xfrm>
          <a:prstGeom prst="rect">
            <a:avLst/>
          </a:prstGeom>
          <a:noFill/>
        </p:spPr>
        <p:txBody>
          <a:bodyPr wrap="square" lIns="0" rIns="0" tIns="0" bIns="0" anchor="t">
            <a:spAutoFit/>
          </a:bodyPr>
          <a:lstStyle/>
          <a:p>
            <a:pPr algn="l">
              <a:lnSpc>
                <a:spcPct val="108000"/>
              </a:lnSpc>
            </a:pPr>
            <a:r>
              <a:rPr sz="1200" b="0">
                <a:solidFill>
                  <a:srgbClr val="5B6B71"/>
                </a:solidFill>
                <a:latin typeface="Arial"/>
              </a:rPr>
              <a:t>3 kun javob bermasa panelda alohida ko‘rinadi: qo‘ng‘iroq qilish uchun signal.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7F7"/>
        </a:solidFill>
        <a:effectLst/>
      </p:bgPr>
    </p:bg>
    <p:spTree>
      <p:nvGrpSpPr>
        <p:cNvPr id="1" name=""/>
        <p:cNvGrpSpPr/>
        <p:nvPr/>
      </p:nvGrpSpPr>
      <p:grpSpPr/>
      <p:sp>
        <p:nvSpPr>
          <p:cNvPr id="2" name="Oval 1"/>
          <p:cNvSpPr/>
          <p:nvPr/>
        </p:nvSpPr>
        <p:spPr>
          <a:xfrm>
            <a:off x="640080" y="502920"/>
            <a:ext cx="713232" cy="713232"/>
          </a:xfrm>
          <a:prstGeom prst="ellipse">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13232" cy="713232"/>
          </a:xfrm>
          <a:prstGeom prst="rect">
            <a:avLst/>
          </a:prstGeom>
          <a:noFill/>
        </p:spPr>
        <p:txBody>
          <a:bodyPr wrap="square" lIns="0" rIns="0" tIns="0" bIns="0" anchor="ctr">
            <a:spAutoFit/>
          </a:bodyPr>
          <a:lstStyle/>
          <a:p>
            <a:pPr algn="ctr">
              <a:lnSpc>
                <a:spcPct val="108000"/>
              </a:lnSpc>
            </a:pPr>
            <a:r>
              <a:rPr sz="2600" b="1">
                <a:solidFill>
                  <a:srgbClr val="FFFFFF"/>
                </a:solidFill>
                <a:latin typeface="Arial"/>
              </a:rPr>
              <a:t>4</a:t>
            </a:r>
          </a:p>
        </p:txBody>
      </p:sp>
      <p:sp>
        <p:nvSpPr>
          <p:cNvPr id="4" name="TextBox 3"/>
          <p:cNvSpPr txBox="1"/>
          <p:nvPr/>
        </p:nvSpPr>
        <p:spPr>
          <a:xfrm>
            <a:off x="1554480" y="457200"/>
            <a:ext cx="9144000" cy="365760"/>
          </a:xfrm>
          <a:prstGeom prst="rect">
            <a:avLst/>
          </a:prstGeom>
          <a:noFill/>
        </p:spPr>
        <p:txBody>
          <a:bodyPr wrap="square" lIns="0" rIns="0" tIns="0" bIns="0" anchor="t">
            <a:spAutoFit/>
          </a:bodyPr>
          <a:lstStyle/>
          <a:p>
            <a:pPr algn="l">
              <a:lnSpc>
                <a:spcPct val="108000"/>
              </a:lnSpc>
            </a:pPr>
            <a:r>
              <a:rPr sz="1300" b="1">
                <a:solidFill>
                  <a:srgbClr val="0E6B78"/>
                </a:solidFill>
                <a:latin typeface="Arial"/>
              </a:rPr>
              <a:t>MEZON 4 / 5  ·  QONUNCHILIKKA MUVOFIQLIK</a:t>
            </a:r>
          </a:p>
        </p:txBody>
      </p:sp>
      <p:sp>
        <p:nvSpPr>
          <p:cNvPr id="5" name="TextBox 4"/>
          <p:cNvSpPr txBox="1"/>
          <p:nvPr/>
        </p:nvSpPr>
        <p:spPr>
          <a:xfrm>
            <a:off x="1554480" y="777240"/>
            <a:ext cx="9966960" cy="960120"/>
          </a:xfrm>
          <a:prstGeom prst="rect">
            <a:avLst/>
          </a:prstGeom>
          <a:noFill/>
        </p:spPr>
        <p:txBody>
          <a:bodyPr wrap="square" lIns="0" rIns="0" tIns="0" bIns="0" anchor="t">
            <a:spAutoFit/>
          </a:bodyPr>
          <a:lstStyle/>
          <a:p>
            <a:pPr algn="l">
              <a:lnSpc>
                <a:spcPct val="100000"/>
              </a:lnSpc>
            </a:pPr>
            <a:r>
              <a:rPr sz="2900" b="1">
                <a:solidFill>
                  <a:srgbClr val="1E2A2E"/>
                </a:solidFill>
                <a:latin typeface="Arial"/>
              </a:rPr>
              <a:t>Tashxis qo‘ymaydi, ma’lumotni minimallashtiradi, qaror shifokorda</a:t>
            </a:r>
          </a:p>
        </p:txBody>
      </p:sp>
      <p:sp>
        <p:nvSpPr>
          <p:cNvPr id="6" name="TextBox 5"/>
          <p:cNvSpPr txBox="1"/>
          <p:nvPr/>
        </p:nvSpPr>
        <p:spPr>
          <a:xfrm>
            <a:off x="640080" y="6355080"/>
            <a:ext cx="10972800" cy="274320"/>
          </a:xfrm>
          <a:prstGeom prst="rect">
            <a:avLst/>
          </a:prstGeom>
          <a:noFill/>
        </p:spPr>
        <p:txBody>
          <a:bodyPr wrap="square" lIns="0" rIns="0" tIns="0" bIns="0" anchor="t">
            <a:spAutoFit/>
          </a:bodyPr>
          <a:lstStyle/>
          <a:p>
            <a:pPr algn="l">
              <a:lnSpc>
                <a:spcPct val="108000"/>
              </a:lnSpc>
            </a:pPr>
            <a:r>
              <a:rPr sz="1050" b="0">
                <a:solidFill>
                  <a:srgbClr val="5B6B71"/>
                </a:solidFill>
                <a:latin typeface="Arial"/>
              </a:rPr>
              <a:t>Nigoh AI  ·  Checkpoint 2  ·  Soha mentori  ·  19-sentabr 2026</a:t>
            </a:r>
          </a:p>
        </p:txBody>
      </p:sp>
      <p:sp>
        <p:nvSpPr>
          <p:cNvPr id="7" name="Rounded Rectangle 6"/>
          <p:cNvSpPr/>
          <p:nvPr/>
        </p:nvSpPr>
        <p:spPr>
          <a:xfrm>
            <a:off x="640080" y="1874519"/>
            <a:ext cx="3489960" cy="2011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039112"/>
            <a:ext cx="3087624" cy="640080"/>
          </a:xfrm>
          <a:prstGeom prst="rect">
            <a:avLst/>
          </a:prstGeom>
          <a:noFill/>
        </p:spPr>
        <p:txBody>
          <a:bodyPr wrap="square" lIns="0" rIns="0" tIns="0" bIns="0" anchor="t">
            <a:spAutoFit/>
          </a:bodyPr>
          <a:lstStyle/>
          <a:p>
            <a:pPr algn="l">
              <a:lnSpc>
                <a:spcPct val="105000"/>
              </a:lnSpc>
            </a:pPr>
            <a:r>
              <a:rPr sz="1400" b="1">
                <a:solidFill>
                  <a:srgbClr val="0A4F59"/>
                </a:solidFill>
                <a:latin typeface="Arial"/>
              </a:rPr>
              <a:t>Tibbiy qaror shifokorda</a:t>
            </a:r>
          </a:p>
        </p:txBody>
      </p:sp>
      <p:sp>
        <p:nvSpPr>
          <p:cNvPr id="9" name="TextBox 8"/>
          <p:cNvSpPr txBox="1"/>
          <p:nvPr/>
        </p:nvSpPr>
        <p:spPr>
          <a:xfrm>
            <a:off x="841247" y="2450592"/>
            <a:ext cx="3087624" cy="1280160"/>
          </a:xfrm>
          <a:prstGeom prst="rect">
            <a:avLst/>
          </a:prstGeom>
          <a:noFill/>
        </p:spPr>
        <p:txBody>
          <a:bodyPr wrap="square" lIns="0" rIns="0" tIns="0" bIns="0" anchor="t">
            <a:spAutoFit/>
          </a:bodyPr>
          <a:lstStyle/>
          <a:p>
            <a:pPr algn="l">
              <a:lnSpc>
                <a:spcPct val="112000"/>
              </a:lnSpc>
            </a:pPr>
            <a:r>
              <a:rPr sz="1150" b="0">
                <a:solidFill>
                  <a:srgbClr val="1E2A2E"/>
                </a:solidFill>
                <a:latin typeface="Arial"/>
              </a:rPr>
              <a:t>Ilova tashxis qo‘ymaydi, dori yoki doza tavsiya qilmaydi. Onaga faqat: «klinikaga qo‘ng‘iroq qiling / 103». Har bir AI xulosasida ogohlantirish bor.</a:t>
            </a:r>
          </a:p>
        </p:txBody>
      </p:sp>
      <p:sp>
        <p:nvSpPr>
          <p:cNvPr id="10" name="Rounded Rectangle 9"/>
          <p:cNvSpPr/>
          <p:nvPr/>
        </p:nvSpPr>
        <p:spPr>
          <a:xfrm>
            <a:off x="4358640" y="1874519"/>
            <a:ext cx="3489960" cy="2011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9808" y="2039112"/>
            <a:ext cx="3087624" cy="640080"/>
          </a:xfrm>
          <a:prstGeom prst="rect">
            <a:avLst/>
          </a:prstGeom>
          <a:noFill/>
        </p:spPr>
        <p:txBody>
          <a:bodyPr wrap="square" lIns="0" rIns="0" tIns="0" bIns="0" anchor="t">
            <a:spAutoFit/>
          </a:bodyPr>
          <a:lstStyle/>
          <a:p>
            <a:pPr algn="l">
              <a:lnSpc>
                <a:spcPct val="105000"/>
              </a:lnSpc>
            </a:pPr>
            <a:r>
              <a:rPr sz="1400" b="1">
                <a:solidFill>
                  <a:srgbClr val="0A4F59"/>
                </a:solidFill>
                <a:latin typeface="Arial"/>
              </a:rPr>
              <a:t>Shaxsga doir ma’lumotlar (O‘RQ-547)</a:t>
            </a:r>
          </a:p>
        </p:txBody>
      </p:sp>
      <p:sp>
        <p:nvSpPr>
          <p:cNvPr id="12" name="TextBox 11"/>
          <p:cNvSpPr txBox="1"/>
          <p:nvPr/>
        </p:nvSpPr>
        <p:spPr>
          <a:xfrm>
            <a:off x="4559808" y="2697480"/>
            <a:ext cx="3087624" cy="1280160"/>
          </a:xfrm>
          <a:prstGeom prst="rect">
            <a:avLst/>
          </a:prstGeom>
          <a:noFill/>
        </p:spPr>
        <p:txBody>
          <a:bodyPr wrap="square" lIns="0" rIns="0" tIns="0" bIns="0" anchor="t">
            <a:spAutoFit/>
          </a:bodyPr>
          <a:lstStyle/>
          <a:p>
            <a:pPr algn="l">
              <a:lnSpc>
                <a:spcPct val="112000"/>
              </a:lnSpc>
            </a:pPr>
            <a:r>
              <a:rPr sz="1150" b="0">
                <a:solidFill>
                  <a:srgbClr val="1E2A2E"/>
                </a:solidFill>
                <a:latin typeface="Arial"/>
              </a:rPr>
              <a:t>Baza lokal: klinika yoki O‘zbekiston hududidagi serverda joylashtiriladi. Kirish login bilan, parollar xeshlangan, ona havolasi maxfiy token.</a:t>
            </a:r>
          </a:p>
        </p:txBody>
      </p:sp>
      <p:sp>
        <p:nvSpPr>
          <p:cNvPr id="13" name="Rounded Rectangle 12"/>
          <p:cNvSpPr/>
          <p:nvPr/>
        </p:nvSpPr>
        <p:spPr>
          <a:xfrm>
            <a:off x="8077199" y="1874519"/>
            <a:ext cx="3489960" cy="2011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7" y="2039112"/>
            <a:ext cx="3087624" cy="640080"/>
          </a:xfrm>
          <a:prstGeom prst="rect">
            <a:avLst/>
          </a:prstGeom>
          <a:noFill/>
        </p:spPr>
        <p:txBody>
          <a:bodyPr wrap="square" lIns="0" rIns="0" tIns="0" bIns="0" anchor="t">
            <a:spAutoFit/>
          </a:bodyPr>
          <a:lstStyle/>
          <a:p>
            <a:pPr algn="l">
              <a:lnSpc>
                <a:spcPct val="105000"/>
              </a:lnSpc>
            </a:pPr>
            <a:r>
              <a:rPr sz="1400" b="1">
                <a:solidFill>
                  <a:srgbClr val="0A4F59"/>
                </a:solidFill>
                <a:latin typeface="Arial"/>
              </a:rPr>
              <a:t>AI’ga minimal ma’lumot</a:t>
            </a:r>
          </a:p>
        </p:txBody>
      </p:sp>
      <p:sp>
        <p:nvSpPr>
          <p:cNvPr id="15" name="TextBox 14"/>
          <p:cNvSpPr txBox="1"/>
          <p:nvPr/>
        </p:nvSpPr>
        <p:spPr>
          <a:xfrm>
            <a:off x="8278367" y="2450592"/>
            <a:ext cx="3087624" cy="1280160"/>
          </a:xfrm>
          <a:prstGeom prst="rect">
            <a:avLst/>
          </a:prstGeom>
          <a:noFill/>
        </p:spPr>
        <p:txBody>
          <a:bodyPr wrap="square" lIns="0" rIns="0" tIns="0" bIns="0" anchor="t">
            <a:spAutoFit/>
          </a:bodyPr>
          <a:lstStyle/>
          <a:p>
            <a:pPr algn="l">
              <a:lnSpc>
                <a:spcPct val="112000"/>
              </a:lnSpc>
            </a:pPr>
            <a:r>
              <a:rPr sz="1150" b="0">
                <a:solidFill>
                  <a:srgbClr val="1E2A2E"/>
                </a:solidFill>
                <a:latin typeface="Arial"/>
              </a:rPr>
              <a:t>Tashqi AI’ga familiya, telefon, manzil yuborilmaydi: faqat ism, yosh, hafta va javoblar. Keyingi qadam: ismsiz yuborish yoki lokal model.</a:t>
            </a:r>
          </a:p>
        </p:txBody>
      </p:sp>
      <p:sp>
        <p:nvSpPr>
          <p:cNvPr id="16" name="Rounded Rectangle 15"/>
          <p:cNvSpPr/>
          <p:nvPr/>
        </p:nvSpPr>
        <p:spPr>
          <a:xfrm>
            <a:off x="640080" y="4087368"/>
            <a:ext cx="3489960" cy="2011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4251960"/>
            <a:ext cx="3087624" cy="640080"/>
          </a:xfrm>
          <a:prstGeom prst="rect">
            <a:avLst/>
          </a:prstGeom>
          <a:noFill/>
        </p:spPr>
        <p:txBody>
          <a:bodyPr wrap="square" lIns="0" rIns="0" tIns="0" bIns="0" anchor="t">
            <a:spAutoFit/>
          </a:bodyPr>
          <a:lstStyle/>
          <a:p>
            <a:pPr algn="l">
              <a:lnSpc>
                <a:spcPct val="105000"/>
              </a:lnSpc>
            </a:pPr>
            <a:r>
              <a:rPr sz="1400" b="1">
                <a:solidFill>
                  <a:srgbClr val="0A4F59"/>
                </a:solidFill>
                <a:latin typeface="Arial"/>
              </a:rPr>
              <a:t>Rozilik</a:t>
            </a:r>
          </a:p>
        </p:txBody>
      </p:sp>
      <p:sp>
        <p:nvSpPr>
          <p:cNvPr id="18" name="TextBox 17"/>
          <p:cNvSpPr txBox="1"/>
          <p:nvPr/>
        </p:nvSpPr>
        <p:spPr>
          <a:xfrm>
            <a:off x="841247" y="4663440"/>
            <a:ext cx="3087624" cy="1280160"/>
          </a:xfrm>
          <a:prstGeom prst="rect">
            <a:avLst/>
          </a:prstGeom>
          <a:noFill/>
        </p:spPr>
        <p:txBody>
          <a:bodyPr wrap="square" lIns="0" rIns="0" tIns="0" bIns="0" anchor="t">
            <a:spAutoFit/>
          </a:bodyPr>
          <a:lstStyle/>
          <a:p>
            <a:pPr algn="l">
              <a:lnSpc>
                <a:spcPct val="112000"/>
              </a:lnSpc>
            </a:pPr>
            <a:r>
              <a:rPr sz="1150" b="0">
                <a:solidFill>
                  <a:srgbClr val="1E2A2E"/>
                </a:solidFill>
                <a:latin typeface="Arial"/>
              </a:rPr>
              <a:t>Keyingi qadam: ro‘yxatga olishda ayolning yozma roziligi va ma’lumotlardan foydalanish shartlari. Hozir demo ma’lumotlari sintetik.</a:t>
            </a:r>
          </a:p>
        </p:txBody>
      </p:sp>
      <p:sp>
        <p:nvSpPr>
          <p:cNvPr id="19" name="Rounded Rectangle 18"/>
          <p:cNvSpPr/>
          <p:nvPr/>
        </p:nvSpPr>
        <p:spPr>
          <a:xfrm>
            <a:off x="4358640" y="4087368"/>
            <a:ext cx="3489960" cy="2011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9808" y="4251960"/>
            <a:ext cx="3087624" cy="640080"/>
          </a:xfrm>
          <a:prstGeom prst="rect">
            <a:avLst/>
          </a:prstGeom>
          <a:noFill/>
        </p:spPr>
        <p:txBody>
          <a:bodyPr wrap="square" lIns="0" rIns="0" tIns="0" bIns="0" anchor="t">
            <a:spAutoFit/>
          </a:bodyPr>
          <a:lstStyle/>
          <a:p>
            <a:pPr algn="l">
              <a:lnSpc>
                <a:spcPct val="105000"/>
              </a:lnSpc>
            </a:pPr>
            <a:r>
              <a:rPr sz="1400" b="1">
                <a:solidFill>
                  <a:srgbClr val="0A4F59"/>
                </a:solidFill>
                <a:latin typeface="Arial"/>
              </a:rPr>
              <a:t>Tibbiy buyum maqomi</a:t>
            </a:r>
          </a:p>
        </p:txBody>
      </p:sp>
      <p:sp>
        <p:nvSpPr>
          <p:cNvPr id="21" name="TextBox 20"/>
          <p:cNvSpPr txBox="1"/>
          <p:nvPr/>
        </p:nvSpPr>
        <p:spPr>
          <a:xfrm>
            <a:off x="4559808" y="4663440"/>
            <a:ext cx="3087624" cy="1280160"/>
          </a:xfrm>
          <a:prstGeom prst="rect">
            <a:avLst/>
          </a:prstGeom>
          <a:noFill/>
        </p:spPr>
        <p:txBody>
          <a:bodyPr wrap="square" lIns="0" rIns="0" tIns="0" bIns="0" anchor="t">
            <a:spAutoFit/>
          </a:bodyPr>
          <a:lstStyle/>
          <a:p>
            <a:pPr algn="l">
              <a:lnSpc>
                <a:spcPct val="112000"/>
              </a:lnSpc>
            </a:pPr>
            <a:r>
              <a:rPr sz="1150" b="0">
                <a:solidFill>
                  <a:srgbClr val="1E2A2E"/>
                </a:solidFill>
                <a:latin typeface="Arial"/>
              </a:rPr>
              <a:t>Bugun: qaror qabul qilishni qo‘llab-quvvatlash vositasi, tibbiy qurilma emas. Maqomni yurist bilan aniqlashtiramiz.</a:t>
            </a:r>
          </a:p>
        </p:txBody>
      </p:sp>
      <p:sp>
        <p:nvSpPr>
          <p:cNvPr id="22" name="Rounded Rectangle 21"/>
          <p:cNvSpPr/>
          <p:nvPr/>
        </p:nvSpPr>
        <p:spPr>
          <a:xfrm>
            <a:off x="8077199" y="4087368"/>
            <a:ext cx="3489960" cy="2011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8367" y="4251960"/>
            <a:ext cx="3087624" cy="640080"/>
          </a:xfrm>
          <a:prstGeom prst="rect">
            <a:avLst/>
          </a:prstGeom>
          <a:noFill/>
        </p:spPr>
        <p:txBody>
          <a:bodyPr wrap="square" lIns="0" rIns="0" tIns="0" bIns="0" anchor="t">
            <a:spAutoFit/>
          </a:bodyPr>
          <a:lstStyle/>
          <a:p>
            <a:pPr algn="l">
              <a:lnSpc>
                <a:spcPct val="105000"/>
              </a:lnSpc>
            </a:pPr>
            <a:r>
              <a:rPr sz="1400" b="1">
                <a:solidFill>
                  <a:srgbClr val="0A4F59"/>
                </a:solidFill>
                <a:latin typeface="Arial"/>
              </a:rPr>
              <a:t>Klinik tasdiqlash</a:t>
            </a:r>
          </a:p>
        </p:txBody>
      </p:sp>
      <p:sp>
        <p:nvSpPr>
          <p:cNvPr id="24" name="TextBox 23"/>
          <p:cNvSpPr txBox="1"/>
          <p:nvPr/>
        </p:nvSpPr>
        <p:spPr>
          <a:xfrm>
            <a:off x="8278367" y="4663440"/>
            <a:ext cx="3087624" cy="1280160"/>
          </a:xfrm>
          <a:prstGeom prst="rect">
            <a:avLst/>
          </a:prstGeom>
          <a:noFill/>
        </p:spPr>
        <p:txBody>
          <a:bodyPr wrap="square" lIns="0" rIns="0" tIns="0" bIns="0" anchor="t">
            <a:spAutoFit/>
          </a:bodyPr>
          <a:lstStyle/>
          <a:p>
            <a:pPr algn="l">
              <a:lnSpc>
                <a:spcPct val="112000"/>
              </a:lnSpc>
            </a:pPr>
            <a:r>
              <a:rPr sz="1150" b="0">
                <a:solidFill>
                  <a:srgbClr val="1E2A2E"/>
                </a:solidFill>
                <a:latin typeface="Arial"/>
              </a:rPr>
              <a:t>Chegaralar xalqaro ko‘rsatmalardan. Pilotdan oldin milliy protokollar va mahalliy akusher-ginekologlar bilan tasdiqlanadi.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40080" y="502920"/>
            <a:ext cx="713232" cy="713232"/>
          </a:xfrm>
          <a:prstGeom prst="ellipse">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13232" cy="713232"/>
          </a:xfrm>
          <a:prstGeom prst="rect">
            <a:avLst/>
          </a:prstGeom>
          <a:noFill/>
        </p:spPr>
        <p:txBody>
          <a:bodyPr wrap="square" lIns="0" rIns="0" tIns="0" bIns="0" anchor="ctr">
            <a:spAutoFit/>
          </a:bodyPr>
          <a:lstStyle/>
          <a:p>
            <a:pPr algn="ctr">
              <a:lnSpc>
                <a:spcPct val="108000"/>
              </a:lnSpc>
            </a:pPr>
            <a:r>
              <a:rPr sz="2600" b="1">
                <a:solidFill>
                  <a:srgbClr val="FFFFFF"/>
                </a:solidFill>
                <a:latin typeface="Arial"/>
              </a:rPr>
              <a:t>5</a:t>
            </a:r>
          </a:p>
        </p:txBody>
      </p:sp>
      <p:sp>
        <p:nvSpPr>
          <p:cNvPr id="4" name="TextBox 3"/>
          <p:cNvSpPr txBox="1"/>
          <p:nvPr/>
        </p:nvSpPr>
        <p:spPr>
          <a:xfrm>
            <a:off x="1554480" y="457200"/>
            <a:ext cx="9144000" cy="365760"/>
          </a:xfrm>
          <a:prstGeom prst="rect">
            <a:avLst/>
          </a:prstGeom>
          <a:noFill/>
        </p:spPr>
        <p:txBody>
          <a:bodyPr wrap="square" lIns="0" rIns="0" tIns="0" bIns="0" anchor="t">
            <a:spAutoFit/>
          </a:bodyPr>
          <a:lstStyle/>
          <a:p>
            <a:pPr algn="l">
              <a:lnSpc>
                <a:spcPct val="108000"/>
              </a:lnSpc>
            </a:pPr>
            <a:r>
              <a:rPr sz="1300" b="1">
                <a:solidFill>
                  <a:srgbClr val="0E6B78"/>
                </a:solidFill>
                <a:latin typeface="Arial"/>
              </a:rPr>
              <a:t>MEZON 5 / 5  ·  TA’SIR KO‘LAMI</a:t>
            </a:r>
          </a:p>
        </p:txBody>
      </p:sp>
      <p:sp>
        <p:nvSpPr>
          <p:cNvPr id="5" name="TextBox 4"/>
          <p:cNvSpPr txBox="1"/>
          <p:nvPr/>
        </p:nvSpPr>
        <p:spPr>
          <a:xfrm>
            <a:off x="1554480" y="777240"/>
            <a:ext cx="9966960" cy="960120"/>
          </a:xfrm>
          <a:prstGeom prst="rect">
            <a:avLst/>
          </a:prstGeom>
          <a:noFill/>
        </p:spPr>
        <p:txBody>
          <a:bodyPr wrap="square" lIns="0" rIns="0" tIns="0" bIns="0" anchor="t">
            <a:spAutoFit/>
          </a:bodyPr>
          <a:lstStyle/>
          <a:p>
            <a:pPr algn="l">
              <a:lnSpc>
                <a:spcPct val="100000"/>
              </a:lnSpc>
            </a:pPr>
            <a:r>
              <a:rPr sz="2900" b="1">
                <a:solidFill>
                  <a:srgbClr val="1E2A2E"/>
                </a:solidFill>
                <a:latin typeface="Arial"/>
              </a:rPr>
              <a:t>Bitta klinikadan butun onalik parvarishi zanjirigacha</a:t>
            </a:r>
          </a:p>
        </p:txBody>
      </p:sp>
      <p:sp>
        <p:nvSpPr>
          <p:cNvPr id="6" name="TextBox 5"/>
          <p:cNvSpPr txBox="1"/>
          <p:nvPr/>
        </p:nvSpPr>
        <p:spPr>
          <a:xfrm>
            <a:off x="640080" y="6355080"/>
            <a:ext cx="10972800" cy="274320"/>
          </a:xfrm>
          <a:prstGeom prst="rect">
            <a:avLst/>
          </a:prstGeom>
          <a:noFill/>
        </p:spPr>
        <p:txBody>
          <a:bodyPr wrap="square" lIns="0" rIns="0" tIns="0" bIns="0" anchor="t">
            <a:spAutoFit/>
          </a:bodyPr>
          <a:lstStyle/>
          <a:p>
            <a:pPr algn="l">
              <a:lnSpc>
                <a:spcPct val="108000"/>
              </a:lnSpc>
            </a:pPr>
            <a:r>
              <a:rPr sz="1050" b="0">
                <a:solidFill>
                  <a:srgbClr val="5B6B71"/>
                </a:solidFill>
                <a:latin typeface="Arial"/>
              </a:rPr>
              <a:t>Nigoh AI  ·  Checkpoint 2  ·  Soha mentori  ·  19-sentabr 2026</a:t>
            </a:r>
          </a:p>
        </p:txBody>
      </p:sp>
      <p:sp>
        <p:nvSpPr>
          <p:cNvPr id="7" name="Rounded Rectangle 6"/>
          <p:cNvSpPr/>
          <p:nvPr/>
        </p:nvSpPr>
        <p:spPr>
          <a:xfrm>
            <a:off x="640080" y="1874519"/>
            <a:ext cx="3489960" cy="2011680"/>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039112"/>
            <a:ext cx="3087624" cy="640080"/>
          </a:xfrm>
          <a:prstGeom prst="rect">
            <a:avLst/>
          </a:prstGeom>
          <a:noFill/>
        </p:spPr>
        <p:txBody>
          <a:bodyPr wrap="square" lIns="0" rIns="0" tIns="0" bIns="0" anchor="t">
            <a:spAutoFit/>
          </a:bodyPr>
          <a:lstStyle/>
          <a:p>
            <a:pPr algn="l">
              <a:lnSpc>
                <a:spcPct val="105000"/>
              </a:lnSpc>
            </a:pPr>
            <a:r>
              <a:rPr sz="1500" b="1">
                <a:solidFill>
                  <a:srgbClr val="0A4F59"/>
                </a:solidFill>
                <a:latin typeface="Arial"/>
              </a:rPr>
              <a:t>Ona</a:t>
            </a:r>
          </a:p>
        </p:txBody>
      </p:sp>
      <p:sp>
        <p:nvSpPr>
          <p:cNvPr id="9" name="TextBox 8"/>
          <p:cNvSpPr txBox="1"/>
          <p:nvPr/>
        </p:nvSpPr>
        <p:spPr>
          <a:xfrm>
            <a:off x="841247" y="2450592"/>
            <a:ext cx="3087624" cy="1280160"/>
          </a:xfrm>
          <a:prstGeom prst="rect">
            <a:avLst/>
          </a:prstGeom>
          <a:noFill/>
        </p:spPr>
        <p:txBody>
          <a:bodyPr wrap="square" lIns="0" rIns="0" tIns="0" bIns="0" anchor="t">
            <a:spAutoFit/>
          </a:bodyPr>
          <a:lstStyle/>
          <a:p>
            <a:pPr algn="l">
              <a:lnSpc>
                <a:spcPct val="112000"/>
              </a:lnSpc>
            </a:pPr>
            <a:r>
              <a:rPr sz="1200" b="0">
                <a:solidFill>
                  <a:srgbClr val="1E2A2E"/>
                </a:solidFill>
                <a:latin typeface="Arial"/>
              </a:rPr>
              <a:t>Har kuni 2 daqiqa. Xavfli belgida aniq yo‘riq. Savoliga o‘z tilida javob. Uzoq tumanda ham klinika bilan aloqada.</a:t>
            </a:r>
          </a:p>
        </p:txBody>
      </p:sp>
      <p:sp>
        <p:nvSpPr>
          <p:cNvPr id="10" name="Rounded Rectangle 9"/>
          <p:cNvSpPr/>
          <p:nvPr/>
        </p:nvSpPr>
        <p:spPr>
          <a:xfrm>
            <a:off x="4358640" y="1874519"/>
            <a:ext cx="3489960" cy="2011680"/>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9808" y="2039112"/>
            <a:ext cx="3087624" cy="640080"/>
          </a:xfrm>
          <a:prstGeom prst="rect">
            <a:avLst/>
          </a:prstGeom>
          <a:noFill/>
        </p:spPr>
        <p:txBody>
          <a:bodyPr wrap="square" lIns="0" rIns="0" tIns="0" bIns="0" anchor="t">
            <a:spAutoFit/>
          </a:bodyPr>
          <a:lstStyle/>
          <a:p>
            <a:pPr algn="l">
              <a:lnSpc>
                <a:spcPct val="105000"/>
              </a:lnSpc>
            </a:pPr>
            <a:r>
              <a:rPr sz="1500" b="1">
                <a:solidFill>
                  <a:srgbClr val="0A4F59"/>
                </a:solidFill>
                <a:latin typeface="Arial"/>
              </a:rPr>
              <a:t>Shifokor va klinika</a:t>
            </a:r>
          </a:p>
        </p:txBody>
      </p:sp>
      <p:sp>
        <p:nvSpPr>
          <p:cNvPr id="12" name="TextBox 11"/>
          <p:cNvSpPr txBox="1"/>
          <p:nvPr/>
        </p:nvSpPr>
        <p:spPr>
          <a:xfrm>
            <a:off x="4559808" y="2450592"/>
            <a:ext cx="3087624" cy="1280160"/>
          </a:xfrm>
          <a:prstGeom prst="rect">
            <a:avLst/>
          </a:prstGeom>
          <a:noFill/>
        </p:spPr>
        <p:txBody>
          <a:bodyPr wrap="square" lIns="0" rIns="0" tIns="0" bIns="0" anchor="t">
            <a:spAutoFit/>
          </a:bodyPr>
          <a:lstStyle/>
          <a:p>
            <a:pPr algn="l">
              <a:lnSpc>
                <a:spcPct val="112000"/>
              </a:lnSpc>
            </a:pPr>
            <a:r>
              <a:rPr sz="1200" b="0">
                <a:solidFill>
                  <a:srgbClr val="1E2A2E"/>
                </a:solidFill>
                <a:latin typeface="Arial"/>
              </a:rPr>
              <a:t>Kimga bugun e’tibor kerakligi tayyor. 14 kunlik trend va AI xulosa: 20 soniyada qaror. Javobsiz bemorlar ko‘rinadi.</a:t>
            </a:r>
          </a:p>
        </p:txBody>
      </p:sp>
      <p:sp>
        <p:nvSpPr>
          <p:cNvPr id="13" name="Rounded Rectangle 12"/>
          <p:cNvSpPr/>
          <p:nvPr/>
        </p:nvSpPr>
        <p:spPr>
          <a:xfrm>
            <a:off x="8077199" y="1874519"/>
            <a:ext cx="3489960" cy="2011680"/>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7" y="2039112"/>
            <a:ext cx="3087624" cy="640080"/>
          </a:xfrm>
          <a:prstGeom prst="rect">
            <a:avLst/>
          </a:prstGeom>
          <a:noFill/>
        </p:spPr>
        <p:txBody>
          <a:bodyPr wrap="square" lIns="0" rIns="0" tIns="0" bIns="0" anchor="t">
            <a:spAutoFit/>
          </a:bodyPr>
          <a:lstStyle/>
          <a:p>
            <a:pPr algn="l">
              <a:lnSpc>
                <a:spcPct val="105000"/>
              </a:lnSpc>
            </a:pPr>
            <a:r>
              <a:rPr sz="1500" b="1">
                <a:solidFill>
                  <a:srgbClr val="0A4F59"/>
                </a:solidFill>
                <a:latin typeface="Arial"/>
              </a:rPr>
              <a:t>Sog‘liqni saqlash tizimi</a:t>
            </a:r>
          </a:p>
        </p:txBody>
      </p:sp>
      <p:sp>
        <p:nvSpPr>
          <p:cNvPr id="15" name="TextBox 14"/>
          <p:cNvSpPr txBox="1"/>
          <p:nvPr/>
        </p:nvSpPr>
        <p:spPr>
          <a:xfrm>
            <a:off x="8278367" y="2450592"/>
            <a:ext cx="3087624" cy="1280160"/>
          </a:xfrm>
          <a:prstGeom prst="rect">
            <a:avLst/>
          </a:prstGeom>
          <a:noFill/>
        </p:spPr>
        <p:txBody>
          <a:bodyPr wrap="square" lIns="0" rIns="0" tIns="0" bIns="0" anchor="t">
            <a:spAutoFit/>
          </a:bodyPr>
          <a:lstStyle/>
          <a:p>
            <a:pPr algn="l">
              <a:lnSpc>
                <a:spcPct val="112000"/>
              </a:lnSpc>
            </a:pPr>
            <a:r>
              <a:rPr sz="1200" b="0">
                <a:solidFill>
                  <a:srgbClr val="1E2A2E"/>
                </a:solidFill>
                <a:latin typeface="Arial"/>
              </a:rPr>
              <a:t>Erta aniqlash: kamroq og‘ir asorat va tez yordam chaqiruvi. Ma’lumot: tashriflar orasidagi uzluksiz kuzatuv.</a:t>
            </a:r>
          </a:p>
        </p:txBody>
      </p:sp>
      <p:sp>
        <p:nvSpPr>
          <p:cNvPr id="16" name="Rounded Rectangle 15"/>
          <p:cNvSpPr/>
          <p:nvPr/>
        </p:nvSpPr>
        <p:spPr>
          <a:xfrm>
            <a:off x="640080" y="4160520"/>
            <a:ext cx="2560320" cy="1874519"/>
          </a:xfrm>
          <a:prstGeom prst="roundRect">
            <a:avLst>
              <a:gd name="adj" fmla="val 8000"/>
            </a:avLst>
          </a:prstGeom>
          <a:solidFill>
            <a:srgbClr val="0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4270248"/>
            <a:ext cx="2194560" cy="731520"/>
          </a:xfrm>
          <a:prstGeom prst="rect">
            <a:avLst/>
          </a:prstGeom>
          <a:noFill/>
        </p:spPr>
        <p:txBody>
          <a:bodyPr wrap="square" lIns="0" rIns="0" tIns="0" bIns="0" anchor="ctr">
            <a:spAutoFit/>
          </a:bodyPr>
          <a:lstStyle/>
          <a:p>
            <a:pPr algn="l">
              <a:lnSpc>
                <a:spcPct val="108000"/>
              </a:lnSpc>
            </a:pPr>
            <a:r>
              <a:rPr sz="4400" b="1">
                <a:solidFill>
                  <a:srgbClr val="FFFFFF"/>
                </a:solidFill>
                <a:latin typeface="Arial"/>
              </a:rPr>
              <a:t>8 700</a:t>
            </a:r>
          </a:p>
        </p:txBody>
      </p:sp>
      <p:sp>
        <p:nvSpPr>
          <p:cNvPr id="18" name="TextBox 17"/>
          <p:cNvSpPr txBox="1"/>
          <p:nvPr/>
        </p:nvSpPr>
        <p:spPr>
          <a:xfrm>
            <a:off x="841247" y="5029200"/>
            <a:ext cx="2194560" cy="457200"/>
          </a:xfrm>
          <a:prstGeom prst="rect">
            <a:avLst/>
          </a:prstGeom>
          <a:noFill/>
        </p:spPr>
        <p:txBody>
          <a:bodyPr wrap="square" lIns="0" rIns="0" tIns="0" bIns="0" anchor="t">
            <a:spAutoFit/>
          </a:bodyPr>
          <a:lstStyle/>
          <a:p>
            <a:pPr algn="l">
              <a:lnSpc>
                <a:spcPct val="100000"/>
              </a:lnSpc>
            </a:pPr>
            <a:r>
              <a:rPr sz="1300" b="1">
                <a:solidFill>
                  <a:srgbClr val="FFFFFF"/>
                </a:solidFill>
                <a:latin typeface="Arial"/>
              </a:rPr>
              <a:t>xususiy klinika</a:t>
            </a:r>
          </a:p>
        </p:txBody>
      </p:sp>
      <p:sp>
        <p:nvSpPr>
          <p:cNvPr id="19" name="TextBox 18"/>
          <p:cNvSpPr txBox="1"/>
          <p:nvPr/>
        </p:nvSpPr>
        <p:spPr>
          <a:xfrm>
            <a:off x="841247" y="5504688"/>
            <a:ext cx="2194560" cy="502920"/>
          </a:xfrm>
          <a:prstGeom prst="rect">
            <a:avLst/>
          </a:prstGeom>
          <a:noFill/>
        </p:spPr>
        <p:txBody>
          <a:bodyPr wrap="square" lIns="0" rIns="0" tIns="0" bIns="0" anchor="t">
            <a:spAutoFit/>
          </a:bodyPr>
          <a:lstStyle/>
          <a:p>
            <a:pPr algn="l">
              <a:lnSpc>
                <a:spcPct val="100000"/>
              </a:lnSpc>
            </a:pPr>
            <a:r>
              <a:rPr sz="1050" b="0">
                <a:solidFill>
                  <a:srgbClr val="CFE3E6"/>
                </a:solidFill>
                <a:latin typeface="Arial"/>
              </a:rPr>
              <a:t>2026 oxiriga kutilmoqda (President.uz)</a:t>
            </a:r>
          </a:p>
        </p:txBody>
      </p:sp>
      <p:sp>
        <p:nvSpPr>
          <p:cNvPr id="20" name="Rounded Rectangle 19"/>
          <p:cNvSpPr/>
          <p:nvPr/>
        </p:nvSpPr>
        <p:spPr>
          <a:xfrm>
            <a:off x="3429000" y="4160520"/>
            <a:ext cx="2560320" cy="1874519"/>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30168" y="4270248"/>
            <a:ext cx="2194560" cy="731520"/>
          </a:xfrm>
          <a:prstGeom prst="rect">
            <a:avLst/>
          </a:prstGeom>
          <a:noFill/>
        </p:spPr>
        <p:txBody>
          <a:bodyPr wrap="square" lIns="0" rIns="0" tIns="0" bIns="0" anchor="ctr">
            <a:spAutoFit/>
          </a:bodyPr>
          <a:lstStyle/>
          <a:p>
            <a:pPr algn="l">
              <a:lnSpc>
                <a:spcPct val="108000"/>
              </a:lnSpc>
            </a:pPr>
            <a:r>
              <a:rPr sz="3800" b="1">
                <a:solidFill>
                  <a:srgbClr val="1E2A2E"/>
                </a:solidFill>
                <a:latin typeface="Arial"/>
              </a:rPr>
              <a:t>9 oy +</a:t>
            </a:r>
          </a:p>
        </p:txBody>
      </p:sp>
      <p:sp>
        <p:nvSpPr>
          <p:cNvPr id="22" name="TextBox 21"/>
          <p:cNvSpPr txBox="1"/>
          <p:nvPr/>
        </p:nvSpPr>
        <p:spPr>
          <a:xfrm>
            <a:off x="3630168" y="5029200"/>
            <a:ext cx="2194560" cy="457200"/>
          </a:xfrm>
          <a:prstGeom prst="rect">
            <a:avLst/>
          </a:prstGeom>
          <a:noFill/>
        </p:spPr>
        <p:txBody>
          <a:bodyPr wrap="square" lIns="0" rIns="0" tIns="0" bIns="0" anchor="t">
            <a:spAutoFit/>
          </a:bodyPr>
          <a:lstStyle/>
          <a:p>
            <a:pPr algn="l">
              <a:lnSpc>
                <a:spcPct val="100000"/>
              </a:lnSpc>
            </a:pPr>
            <a:r>
              <a:rPr sz="1300" b="1">
                <a:solidFill>
                  <a:srgbClr val="1E2A2E"/>
                </a:solidFill>
                <a:latin typeface="Arial"/>
              </a:rPr>
              <a:t>har bir ayol bilan aloqa</a:t>
            </a:r>
          </a:p>
        </p:txBody>
      </p:sp>
      <p:sp>
        <p:nvSpPr>
          <p:cNvPr id="23" name="TextBox 22"/>
          <p:cNvSpPr txBox="1"/>
          <p:nvPr/>
        </p:nvSpPr>
        <p:spPr>
          <a:xfrm>
            <a:off x="3630168" y="5504688"/>
            <a:ext cx="2194560" cy="502920"/>
          </a:xfrm>
          <a:prstGeom prst="rect">
            <a:avLst/>
          </a:prstGeom>
          <a:noFill/>
        </p:spPr>
        <p:txBody>
          <a:bodyPr wrap="square" lIns="0" rIns="0" tIns="0" bIns="0" anchor="t">
            <a:spAutoFit/>
          </a:bodyPr>
          <a:lstStyle/>
          <a:p>
            <a:pPr algn="l">
              <a:lnSpc>
                <a:spcPct val="100000"/>
              </a:lnSpc>
            </a:pPr>
            <a:r>
              <a:rPr sz="1050" b="0">
                <a:solidFill>
                  <a:srgbClr val="5B6B71"/>
                </a:solidFill>
                <a:latin typeface="Arial"/>
              </a:rPr>
              <a:t>homiladorlik, keyin tug‘ruqdan keyingi davr</a:t>
            </a:r>
          </a:p>
        </p:txBody>
      </p:sp>
      <p:sp>
        <p:nvSpPr>
          <p:cNvPr id="24" name="Rounded Rectangle 23"/>
          <p:cNvSpPr/>
          <p:nvPr/>
        </p:nvSpPr>
        <p:spPr>
          <a:xfrm>
            <a:off x="6217920" y="4160520"/>
            <a:ext cx="2560320" cy="1874519"/>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4270248"/>
            <a:ext cx="2194560" cy="731520"/>
          </a:xfrm>
          <a:prstGeom prst="rect">
            <a:avLst/>
          </a:prstGeom>
          <a:noFill/>
        </p:spPr>
        <p:txBody>
          <a:bodyPr wrap="square" lIns="0" rIns="0" tIns="0" bIns="0" anchor="ctr">
            <a:spAutoFit/>
          </a:bodyPr>
          <a:lstStyle/>
          <a:p>
            <a:pPr algn="l">
              <a:lnSpc>
                <a:spcPct val="108000"/>
              </a:lnSpc>
            </a:pPr>
            <a:r>
              <a:rPr sz="4400" b="1">
                <a:solidFill>
                  <a:srgbClr val="1E2A2E"/>
                </a:solidFill>
                <a:latin typeface="Arial"/>
              </a:rPr>
              <a:t>3 til</a:t>
            </a:r>
          </a:p>
        </p:txBody>
      </p:sp>
      <p:sp>
        <p:nvSpPr>
          <p:cNvPr id="26" name="TextBox 25"/>
          <p:cNvSpPr txBox="1"/>
          <p:nvPr/>
        </p:nvSpPr>
        <p:spPr>
          <a:xfrm>
            <a:off x="6419088" y="5029200"/>
            <a:ext cx="2194560" cy="457200"/>
          </a:xfrm>
          <a:prstGeom prst="rect">
            <a:avLst/>
          </a:prstGeom>
          <a:noFill/>
        </p:spPr>
        <p:txBody>
          <a:bodyPr wrap="square" lIns="0" rIns="0" tIns="0" bIns="0" anchor="t">
            <a:spAutoFit/>
          </a:bodyPr>
          <a:lstStyle/>
          <a:p>
            <a:pPr algn="l">
              <a:lnSpc>
                <a:spcPct val="100000"/>
              </a:lnSpc>
            </a:pPr>
            <a:r>
              <a:rPr sz="1300" b="1">
                <a:solidFill>
                  <a:srgbClr val="1E2A2E"/>
                </a:solidFill>
                <a:latin typeface="Arial"/>
              </a:rPr>
              <a:t>o‘zbek, rus, ingliz</a:t>
            </a:r>
          </a:p>
        </p:txBody>
      </p:sp>
      <p:sp>
        <p:nvSpPr>
          <p:cNvPr id="27" name="TextBox 26"/>
          <p:cNvSpPr txBox="1"/>
          <p:nvPr/>
        </p:nvSpPr>
        <p:spPr>
          <a:xfrm>
            <a:off x="6419088" y="5504688"/>
            <a:ext cx="2194560" cy="502920"/>
          </a:xfrm>
          <a:prstGeom prst="rect">
            <a:avLst/>
          </a:prstGeom>
          <a:noFill/>
        </p:spPr>
        <p:txBody>
          <a:bodyPr wrap="square" lIns="0" rIns="0" tIns="0" bIns="0" anchor="t">
            <a:spAutoFit/>
          </a:bodyPr>
          <a:lstStyle/>
          <a:p>
            <a:pPr algn="l">
              <a:lnSpc>
                <a:spcPct val="100000"/>
              </a:lnSpc>
            </a:pPr>
            <a:r>
              <a:rPr sz="1050" b="0">
                <a:solidFill>
                  <a:srgbClr val="5B6B71"/>
                </a:solidFill>
                <a:latin typeface="Arial"/>
              </a:rPr>
              <a:t>o‘rnatishsiz, har qanday telefonda</a:t>
            </a:r>
          </a:p>
        </p:txBody>
      </p:sp>
      <p:sp>
        <p:nvSpPr>
          <p:cNvPr id="28" name="Rounded Rectangle 27"/>
          <p:cNvSpPr/>
          <p:nvPr/>
        </p:nvSpPr>
        <p:spPr>
          <a:xfrm>
            <a:off x="9006839" y="4160520"/>
            <a:ext cx="2560320" cy="1874519"/>
          </a:xfrm>
          <a:prstGeom prst="roundRect">
            <a:avLst>
              <a:gd name="adj" fmla="val 8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08007" y="4270248"/>
            <a:ext cx="2194560" cy="731520"/>
          </a:xfrm>
          <a:prstGeom prst="rect">
            <a:avLst/>
          </a:prstGeom>
          <a:noFill/>
        </p:spPr>
        <p:txBody>
          <a:bodyPr wrap="square" lIns="0" rIns="0" tIns="0" bIns="0" anchor="ctr">
            <a:spAutoFit/>
          </a:bodyPr>
          <a:lstStyle/>
          <a:p>
            <a:pPr algn="l">
              <a:lnSpc>
                <a:spcPct val="108000"/>
              </a:lnSpc>
            </a:pPr>
            <a:r>
              <a:rPr sz="4400" b="1">
                <a:solidFill>
                  <a:srgbClr val="1E2A2E"/>
                </a:solidFill>
                <a:latin typeface="Arial"/>
              </a:rPr>
              <a:t>Pilot</a:t>
            </a:r>
          </a:p>
        </p:txBody>
      </p:sp>
      <p:sp>
        <p:nvSpPr>
          <p:cNvPr id="30" name="TextBox 29"/>
          <p:cNvSpPr txBox="1"/>
          <p:nvPr/>
        </p:nvSpPr>
        <p:spPr>
          <a:xfrm>
            <a:off x="9208007" y="5029200"/>
            <a:ext cx="2194560" cy="457200"/>
          </a:xfrm>
          <a:prstGeom prst="rect">
            <a:avLst/>
          </a:prstGeom>
          <a:noFill/>
        </p:spPr>
        <p:txBody>
          <a:bodyPr wrap="square" lIns="0" rIns="0" tIns="0" bIns="0" anchor="t">
            <a:spAutoFit/>
          </a:bodyPr>
          <a:lstStyle/>
          <a:p>
            <a:pPr algn="l">
              <a:lnSpc>
                <a:spcPct val="100000"/>
              </a:lnSpc>
            </a:pPr>
            <a:r>
              <a:rPr sz="1300" b="1">
                <a:solidFill>
                  <a:srgbClr val="1E2A2E"/>
                </a:solidFill>
                <a:latin typeface="Arial"/>
              </a:rPr>
              <a:t>1–2 klinika</a:t>
            </a:r>
          </a:p>
        </p:txBody>
      </p:sp>
      <p:sp>
        <p:nvSpPr>
          <p:cNvPr id="31" name="TextBox 30"/>
          <p:cNvSpPr txBox="1"/>
          <p:nvPr/>
        </p:nvSpPr>
        <p:spPr>
          <a:xfrm>
            <a:off x="9208007" y="5504688"/>
            <a:ext cx="2194560" cy="502920"/>
          </a:xfrm>
          <a:prstGeom prst="rect">
            <a:avLst/>
          </a:prstGeom>
          <a:noFill/>
        </p:spPr>
        <p:txBody>
          <a:bodyPr wrap="square" lIns="0" rIns="0" tIns="0" bIns="0" anchor="t">
            <a:spAutoFit/>
          </a:bodyPr>
          <a:lstStyle/>
          <a:p>
            <a:pPr algn="l">
              <a:lnSpc>
                <a:spcPct val="100000"/>
              </a:lnSpc>
            </a:pPr>
            <a:r>
              <a:rPr sz="1050" b="0">
                <a:solidFill>
                  <a:srgbClr val="5B6B71"/>
                </a:solidFill>
                <a:latin typeface="Arial"/>
              </a:rPr>
              <a:t>o‘lchov: javob vaqti, faollik, o‘tkazib yuborilgan holatlar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5262A"/>
        </a:solidFill>
        <a:effectLst/>
      </p:bgPr>
    </p:bg>
    <p:spTree>
      <p:nvGrpSpPr>
        <p:cNvPr id="1" name=""/>
        <p:cNvGrpSpPr/>
        <p:nvPr/>
      </p:nvGrpSpPr>
      <p:grpSpPr/>
      <p:sp>
        <p:nvSpPr>
          <p:cNvPr id="2" name="TextBox 1"/>
          <p:cNvSpPr txBox="1"/>
          <p:nvPr/>
        </p:nvSpPr>
        <p:spPr>
          <a:xfrm>
            <a:off x="640080" y="502920"/>
            <a:ext cx="7315200" cy="365760"/>
          </a:xfrm>
          <a:prstGeom prst="rect">
            <a:avLst/>
          </a:prstGeom>
          <a:noFill/>
        </p:spPr>
        <p:txBody>
          <a:bodyPr wrap="square" lIns="0" rIns="0" tIns="0" bIns="0" anchor="t">
            <a:spAutoFit/>
          </a:bodyPr>
          <a:lstStyle/>
          <a:p>
            <a:pPr algn="l">
              <a:lnSpc>
                <a:spcPct val="108000"/>
              </a:lnSpc>
            </a:pPr>
            <a:r>
              <a:rPr sz="1300" b="1">
                <a:solidFill>
                  <a:srgbClr val="E8846B"/>
                </a:solidFill>
                <a:latin typeface="Arial"/>
              </a:rPr>
              <a:t>JONLI DEMO  ·  2 DAQIQA</a:t>
            </a:r>
          </a:p>
        </p:txBody>
      </p:sp>
      <p:sp>
        <p:nvSpPr>
          <p:cNvPr id="3" name="TextBox 2"/>
          <p:cNvSpPr txBox="1"/>
          <p:nvPr/>
        </p:nvSpPr>
        <p:spPr>
          <a:xfrm>
            <a:off x="640080" y="822960"/>
            <a:ext cx="5486400" cy="1005840"/>
          </a:xfrm>
          <a:prstGeom prst="rect">
            <a:avLst/>
          </a:prstGeom>
          <a:noFill/>
        </p:spPr>
        <p:txBody>
          <a:bodyPr wrap="square" lIns="0" rIns="0" tIns="0" bIns="0" anchor="t">
            <a:spAutoFit/>
          </a:bodyPr>
          <a:lstStyle/>
          <a:p>
            <a:pPr algn="l">
              <a:lnSpc>
                <a:spcPct val="100000"/>
              </a:lnSpc>
            </a:pPr>
            <a:r>
              <a:rPr sz="3000" b="1">
                <a:solidFill>
                  <a:srgbClr val="FFFFFF"/>
                </a:solidFill>
                <a:latin typeface="Arial"/>
              </a:rPr>
              <a:t>Gapirib bermaymiz, ko‘rsatamiz</a:t>
            </a:r>
          </a:p>
        </p:txBody>
      </p:sp>
      <p:sp>
        <p:nvSpPr>
          <p:cNvPr id="4" name="Oval 3"/>
          <p:cNvSpPr/>
          <p:nvPr/>
        </p:nvSpPr>
        <p:spPr>
          <a:xfrm>
            <a:off x="640080" y="1920240"/>
            <a:ext cx="548640" cy="548640"/>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20240"/>
            <a:ext cx="548640" cy="548640"/>
          </a:xfrm>
          <a:prstGeom prst="rect">
            <a:avLst/>
          </a:prstGeom>
          <a:noFill/>
        </p:spPr>
        <p:txBody>
          <a:bodyPr wrap="square" lIns="0" rIns="0" tIns="0" bIns="0" anchor="ctr">
            <a:spAutoFit/>
          </a:bodyPr>
          <a:lstStyle/>
          <a:p>
            <a:pPr algn="ctr">
              <a:lnSpc>
                <a:spcPct val="108000"/>
              </a:lnSpc>
            </a:pPr>
            <a:r>
              <a:rPr sz="1800" b="1">
                <a:solidFill>
                  <a:srgbClr val="FFFFFF"/>
                </a:solidFill>
                <a:latin typeface="Arial"/>
              </a:rPr>
              <a:t>1</a:t>
            </a:r>
          </a:p>
        </p:txBody>
      </p:sp>
      <p:sp>
        <p:nvSpPr>
          <p:cNvPr id="6" name="TextBox 5"/>
          <p:cNvSpPr txBox="1"/>
          <p:nvPr/>
        </p:nvSpPr>
        <p:spPr>
          <a:xfrm>
            <a:off x="1417320" y="1874520"/>
            <a:ext cx="4480560" cy="365760"/>
          </a:xfrm>
          <a:prstGeom prst="rect">
            <a:avLst/>
          </a:prstGeom>
          <a:noFill/>
        </p:spPr>
        <p:txBody>
          <a:bodyPr wrap="square" lIns="0" rIns="0" tIns="0" bIns="0" anchor="t">
            <a:spAutoFit/>
          </a:bodyPr>
          <a:lstStyle/>
          <a:p>
            <a:pPr algn="l">
              <a:lnSpc>
                <a:spcPct val="108000"/>
              </a:lnSpc>
            </a:pPr>
            <a:r>
              <a:rPr sz="1700" b="1">
                <a:solidFill>
                  <a:srgbClr val="FFFFFF"/>
                </a:solidFill>
                <a:latin typeface="Arial"/>
              </a:rPr>
              <a:t>Klinika: yangi bemor</a:t>
            </a:r>
          </a:p>
        </p:txBody>
      </p:sp>
      <p:sp>
        <p:nvSpPr>
          <p:cNvPr id="7" name="TextBox 6"/>
          <p:cNvSpPr txBox="1"/>
          <p:nvPr/>
        </p:nvSpPr>
        <p:spPr>
          <a:xfrm>
            <a:off x="1417320" y="2221992"/>
            <a:ext cx="4480560" cy="548640"/>
          </a:xfrm>
          <a:prstGeom prst="rect">
            <a:avLst/>
          </a:prstGeom>
          <a:noFill/>
        </p:spPr>
        <p:txBody>
          <a:bodyPr wrap="square" lIns="0" rIns="0" tIns="0" bIns="0" anchor="t">
            <a:spAutoFit/>
          </a:bodyPr>
          <a:lstStyle/>
          <a:p>
            <a:pPr algn="l">
              <a:lnSpc>
                <a:spcPct val="108000"/>
              </a:lnSpc>
            </a:pPr>
            <a:r>
              <a:rPr sz="1250" b="0">
                <a:solidFill>
                  <a:srgbClr val="9DB7BB"/>
                </a:solidFill>
                <a:latin typeface="Arial"/>
              </a:rPr>
              <a:t>Ro‘yxatga olish, QR kod. Ona telefonida skanerlaydi, o‘rnatish shart emas</a:t>
            </a:r>
          </a:p>
        </p:txBody>
      </p:sp>
      <p:sp>
        <p:nvSpPr>
          <p:cNvPr id="8" name="Oval 7"/>
          <p:cNvSpPr/>
          <p:nvPr/>
        </p:nvSpPr>
        <p:spPr>
          <a:xfrm>
            <a:off x="640080" y="2852928"/>
            <a:ext cx="548640" cy="548640"/>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852928"/>
            <a:ext cx="548640" cy="548640"/>
          </a:xfrm>
          <a:prstGeom prst="rect">
            <a:avLst/>
          </a:prstGeom>
          <a:noFill/>
        </p:spPr>
        <p:txBody>
          <a:bodyPr wrap="square" lIns="0" rIns="0" tIns="0" bIns="0" anchor="ctr">
            <a:spAutoFit/>
          </a:bodyPr>
          <a:lstStyle/>
          <a:p>
            <a:pPr algn="ctr">
              <a:lnSpc>
                <a:spcPct val="108000"/>
              </a:lnSpc>
            </a:pPr>
            <a:r>
              <a:rPr sz="1800" b="1">
                <a:solidFill>
                  <a:srgbClr val="FFFFFF"/>
                </a:solidFill>
                <a:latin typeface="Arial"/>
              </a:rPr>
              <a:t>2</a:t>
            </a:r>
          </a:p>
        </p:txBody>
      </p:sp>
      <p:sp>
        <p:nvSpPr>
          <p:cNvPr id="10" name="TextBox 9"/>
          <p:cNvSpPr txBox="1"/>
          <p:nvPr/>
        </p:nvSpPr>
        <p:spPr>
          <a:xfrm>
            <a:off x="1417320" y="2807208"/>
            <a:ext cx="4480560" cy="365760"/>
          </a:xfrm>
          <a:prstGeom prst="rect">
            <a:avLst/>
          </a:prstGeom>
          <a:noFill/>
        </p:spPr>
        <p:txBody>
          <a:bodyPr wrap="square" lIns="0" rIns="0" tIns="0" bIns="0" anchor="t">
            <a:spAutoFit/>
          </a:bodyPr>
          <a:lstStyle/>
          <a:p>
            <a:pPr algn="l">
              <a:lnSpc>
                <a:spcPct val="108000"/>
              </a:lnSpc>
            </a:pPr>
            <a:r>
              <a:rPr sz="1700" b="1">
                <a:solidFill>
                  <a:srgbClr val="FFFFFF"/>
                </a:solidFill>
                <a:latin typeface="Arial"/>
              </a:rPr>
              <a:t>Telefon: so‘rovnoma</a:t>
            </a:r>
          </a:p>
        </p:txBody>
      </p:sp>
      <p:sp>
        <p:nvSpPr>
          <p:cNvPr id="11" name="TextBox 10"/>
          <p:cNvSpPr txBox="1"/>
          <p:nvPr/>
        </p:nvSpPr>
        <p:spPr>
          <a:xfrm>
            <a:off x="1417320" y="3154680"/>
            <a:ext cx="4480560" cy="548640"/>
          </a:xfrm>
          <a:prstGeom prst="rect">
            <a:avLst/>
          </a:prstGeom>
          <a:noFill/>
        </p:spPr>
        <p:txBody>
          <a:bodyPr wrap="square" lIns="0" rIns="0" tIns="0" bIns="0" anchor="t">
            <a:spAutoFit/>
          </a:bodyPr>
          <a:lstStyle/>
          <a:p>
            <a:pPr algn="l">
              <a:lnSpc>
                <a:spcPct val="108000"/>
              </a:lnSpc>
            </a:pPr>
            <a:r>
              <a:rPr sz="1250" b="0">
                <a:solidFill>
                  <a:srgbClr val="9DB7BB"/>
                </a:solidFill>
                <a:latin typeface="Arial"/>
              </a:rPr>
              <a:t>«Qon ketishi» belgilanadi, izoh yoziladi. Qizil natija va qo‘ng‘iroq tugmasi</a:t>
            </a:r>
          </a:p>
        </p:txBody>
      </p:sp>
      <p:sp>
        <p:nvSpPr>
          <p:cNvPr id="12" name="Oval 11"/>
          <p:cNvSpPr/>
          <p:nvPr/>
        </p:nvSpPr>
        <p:spPr>
          <a:xfrm>
            <a:off x="640080" y="3785616"/>
            <a:ext cx="548640" cy="548640"/>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85616"/>
            <a:ext cx="548640" cy="548640"/>
          </a:xfrm>
          <a:prstGeom prst="rect">
            <a:avLst/>
          </a:prstGeom>
          <a:noFill/>
        </p:spPr>
        <p:txBody>
          <a:bodyPr wrap="square" lIns="0" rIns="0" tIns="0" bIns="0" anchor="ctr">
            <a:spAutoFit/>
          </a:bodyPr>
          <a:lstStyle/>
          <a:p>
            <a:pPr algn="ctr">
              <a:lnSpc>
                <a:spcPct val="108000"/>
              </a:lnSpc>
            </a:pPr>
            <a:r>
              <a:rPr sz="1800" b="1">
                <a:solidFill>
                  <a:srgbClr val="FFFFFF"/>
                </a:solidFill>
                <a:latin typeface="Arial"/>
              </a:rPr>
              <a:t>3</a:t>
            </a:r>
          </a:p>
        </p:txBody>
      </p:sp>
      <p:sp>
        <p:nvSpPr>
          <p:cNvPr id="14" name="TextBox 13"/>
          <p:cNvSpPr txBox="1"/>
          <p:nvPr/>
        </p:nvSpPr>
        <p:spPr>
          <a:xfrm>
            <a:off x="1417320" y="3739896"/>
            <a:ext cx="4480560" cy="365760"/>
          </a:xfrm>
          <a:prstGeom prst="rect">
            <a:avLst/>
          </a:prstGeom>
          <a:noFill/>
        </p:spPr>
        <p:txBody>
          <a:bodyPr wrap="square" lIns="0" rIns="0" tIns="0" bIns="0" anchor="t">
            <a:spAutoFit/>
          </a:bodyPr>
          <a:lstStyle/>
          <a:p>
            <a:pPr algn="l">
              <a:lnSpc>
                <a:spcPct val="108000"/>
              </a:lnSpc>
            </a:pPr>
            <a:r>
              <a:rPr sz="1700" b="1">
                <a:solidFill>
                  <a:srgbClr val="FFFFFF"/>
                </a:solidFill>
                <a:latin typeface="Arial"/>
              </a:rPr>
              <a:t>Klinika: ≤ 3 soniya</a:t>
            </a:r>
          </a:p>
        </p:txBody>
      </p:sp>
      <p:sp>
        <p:nvSpPr>
          <p:cNvPr id="15" name="TextBox 14"/>
          <p:cNvSpPr txBox="1"/>
          <p:nvPr/>
        </p:nvSpPr>
        <p:spPr>
          <a:xfrm>
            <a:off x="1417320" y="4087368"/>
            <a:ext cx="4480560" cy="548640"/>
          </a:xfrm>
          <a:prstGeom prst="rect">
            <a:avLst/>
          </a:prstGeom>
          <a:noFill/>
        </p:spPr>
        <p:txBody>
          <a:bodyPr wrap="square" lIns="0" rIns="0" tIns="0" bIns="0" anchor="t">
            <a:spAutoFit/>
          </a:bodyPr>
          <a:lstStyle/>
          <a:p>
            <a:pPr algn="l">
              <a:lnSpc>
                <a:spcPct val="108000"/>
              </a:lnSpc>
            </a:pPr>
            <a:r>
              <a:rPr sz="1250" b="0">
                <a:solidFill>
                  <a:srgbClr val="9DB7BB"/>
                </a:solidFill>
                <a:latin typeface="Arial"/>
              </a:rPr>
              <a:t>Qizil ogohlantirish izoh bilan; qabul qilish va onaga javob yozish</a:t>
            </a:r>
          </a:p>
        </p:txBody>
      </p:sp>
      <p:sp>
        <p:nvSpPr>
          <p:cNvPr id="16" name="Oval 15"/>
          <p:cNvSpPr/>
          <p:nvPr/>
        </p:nvSpPr>
        <p:spPr>
          <a:xfrm>
            <a:off x="640080" y="4718304"/>
            <a:ext cx="548640" cy="548640"/>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718304"/>
            <a:ext cx="548640" cy="548640"/>
          </a:xfrm>
          <a:prstGeom prst="rect">
            <a:avLst/>
          </a:prstGeom>
          <a:noFill/>
        </p:spPr>
        <p:txBody>
          <a:bodyPr wrap="square" lIns="0" rIns="0" tIns="0" bIns="0" anchor="ctr">
            <a:spAutoFit/>
          </a:bodyPr>
          <a:lstStyle/>
          <a:p>
            <a:pPr algn="ctr">
              <a:lnSpc>
                <a:spcPct val="108000"/>
              </a:lnSpc>
            </a:pPr>
            <a:r>
              <a:rPr sz="1800" b="1">
                <a:solidFill>
                  <a:srgbClr val="FFFFFF"/>
                </a:solidFill>
                <a:latin typeface="Arial"/>
              </a:rPr>
              <a:t>4</a:t>
            </a:r>
          </a:p>
        </p:txBody>
      </p:sp>
      <p:sp>
        <p:nvSpPr>
          <p:cNvPr id="18" name="TextBox 17"/>
          <p:cNvSpPr txBox="1"/>
          <p:nvPr/>
        </p:nvSpPr>
        <p:spPr>
          <a:xfrm>
            <a:off x="1417320" y="4672584"/>
            <a:ext cx="4480560" cy="365760"/>
          </a:xfrm>
          <a:prstGeom prst="rect">
            <a:avLst/>
          </a:prstGeom>
          <a:noFill/>
        </p:spPr>
        <p:txBody>
          <a:bodyPr wrap="square" lIns="0" rIns="0" tIns="0" bIns="0" anchor="t">
            <a:spAutoFit/>
          </a:bodyPr>
          <a:lstStyle/>
          <a:p>
            <a:pPr algn="l">
              <a:lnSpc>
                <a:spcPct val="108000"/>
              </a:lnSpc>
            </a:pPr>
            <a:r>
              <a:rPr sz="1700" b="1">
                <a:solidFill>
                  <a:srgbClr val="FFFFFF"/>
                </a:solidFill>
                <a:latin typeface="Arial"/>
              </a:rPr>
              <a:t>AI xulosasi</a:t>
            </a:r>
          </a:p>
        </p:txBody>
      </p:sp>
      <p:sp>
        <p:nvSpPr>
          <p:cNvPr id="19" name="TextBox 18"/>
          <p:cNvSpPr txBox="1"/>
          <p:nvPr/>
        </p:nvSpPr>
        <p:spPr>
          <a:xfrm>
            <a:off x="1417320" y="5020056"/>
            <a:ext cx="4480560" cy="548640"/>
          </a:xfrm>
          <a:prstGeom prst="rect">
            <a:avLst/>
          </a:prstGeom>
          <a:noFill/>
        </p:spPr>
        <p:txBody>
          <a:bodyPr wrap="square" lIns="0" rIns="0" tIns="0" bIns="0" anchor="t">
            <a:spAutoFit/>
          </a:bodyPr>
          <a:lstStyle/>
          <a:p>
            <a:pPr algn="l">
              <a:lnSpc>
                <a:spcPct val="108000"/>
              </a:lnSpc>
            </a:pPr>
            <a:r>
              <a:rPr sz="1250" b="0">
                <a:solidFill>
                  <a:srgbClr val="9DB7BB"/>
                </a:solidFill>
                <a:latin typeface="Arial"/>
              </a:rPr>
              <a:t>Gulnora: bosim 125/79 → 152/98, preeklampsiya xavfi, tavsiya etilgan choralar</a:t>
            </a:r>
          </a:p>
        </p:txBody>
      </p:sp>
      <p:sp>
        <p:nvSpPr>
          <p:cNvPr id="20" name="Rounded Rectangle 19"/>
          <p:cNvSpPr/>
          <p:nvPr/>
        </p:nvSpPr>
        <p:spPr>
          <a:xfrm>
            <a:off x="6373368" y="658368"/>
            <a:ext cx="5221224" cy="2910110"/>
          </a:xfrm>
          <a:prstGeom prst="roundRect">
            <a:avLst>
              <a:gd name="adj" fmla="val 3000"/>
            </a:avLst>
          </a:prstGeom>
          <a:solidFill>
            <a:srgbClr val="E3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atient.jpg"/>
          <p:cNvPicPr>
            <a:picLocks noChangeAspect="1"/>
          </p:cNvPicPr>
          <p:nvPr/>
        </p:nvPicPr>
        <p:blipFill>
          <a:blip r:embed="rId3"/>
          <a:stretch>
            <a:fillRect/>
          </a:stretch>
        </p:blipFill>
        <p:spPr>
          <a:xfrm>
            <a:off x="6446520" y="731520"/>
            <a:ext cx="5074920" cy="2763806"/>
          </a:xfrm>
          <a:prstGeom prst="rect">
            <a:avLst/>
          </a:prstGeom>
        </p:spPr>
      </p:pic>
      <p:sp>
        <p:nvSpPr>
          <p:cNvPr id="22" name="TextBox 21"/>
          <p:cNvSpPr txBox="1"/>
          <p:nvPr/>
        </p:nvSpPr>
        <p:spPr>
          <a:xfrm>
            <a:off x="6355080" y="3794760"/>
            <a:ext cx="5257800" cy="365760"/>
          </a:xfrm>
          <a:prstGeom prst="rect">
            <a:avLst/>
          </a:prstGeom>
          <a:noFill/>
        </p:spPr>
        <p:txBody>
          <a:bodyPr wrap="square" lIns="0" rIns="0" tIns="0" bIns="0" anchor="t">
            <a:spAutoFit/>
          </a:bodyPr>
          <a:lstStyle/>
          <a:p>
            <a:pPr algn="l">
              <a:lnSpc>
                <a:spcPct val="108000"/>
              </a:lnSpc>
            </a:pPr>
            <a:r>
              <a:rPr sz="1300" b="1">
                <a:solidFill>
                  <a:srgbClr val="E8846B"/>
                </a:solidFill>
                <a:latin typeface="Arial"/>
              </a:rPr>
              <a:t>KEYINGI QADAMLAR</a:t>
            </a:r>
          </a:p>
        </p:txBody>
      </p:sp>
      <p:sp>
        <p:nvSpPr>
          <p:cNvPr id="23" name="Oval 22"/>
          <p:cNvSpPr/>
          <p:nvPr/>
        </p:nvSpPr>
        <p:spPr>
          <a:xfrm>
            <a:off x="6373368" y="4306824"/>
            <a:ext cx="118872" cy="118872"/>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47688" y="4224528"/>
            <a:ext cx="4937760" cy="411480"/>
          </a:xfrm>
          <a:prstGeom prst="rect">
            <a:avLst/>
          </a:prstGeom>
          <a:noFill/>
        </p:spPr>
        <p:txBody>
          <a:bodyPr wrap="square" lIns="0" rIns="0" tIns="0" bIns="0" anchor="t">
            <a:spAutoFit/>
          </a:bodyPr>
          <a:lstStyle/>
          <a:p>
            <a:pPr algn="l">
              <a:lnSpc>
                <a:spcPct val="108000"/>
              </a:lnSpc>
            </a:pPr>
            <a:r>
              <a:rPr sz="1350" b="0">
                <a:solidFill>
                  <a:srgbClr val="FFFFFF"/>
                </a:solidFill>
                <a:latin typeface="Arial"/>
              </a:rPr>
              <a:t>Chegaralarni milliy protokol va ginekologlar bilan tasdiqlash</a:t>
            </a:r>
          </a:p>
        </p:txBody>
      </p:sp>
      <p:sp>
        <p:nvSpPr>
          <p:cNvPr id="25" name="Oval 24"/>
          <p:cNvSpPr/>
          <p:nvPr/>
        </p:nvSpPr>
        <p:spPr>
          <a:xfrm>
            <a:off x="6373368" y="4718304"/>
            <a:ext cx="118872" cy="118872"/>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47688" y="4636008"/>
            <a:ext cx="4937760" cy="411480"/>
          </a:xfrm>
          <a:prstGeom prst="rect">
            <a:avLst/>
          </a:prstGeom>
          <a:noFill/>
        </p:spPr>
        <p:txBody>
          <a:bodyPr wrap="square" lIns="0" rIns="0" tIns="0" bIns="0" anchor="t">
            <a:spAutoFit/>
          </a:bodyPr>
          <a:lstStyle/>
          <a:p>
            <a:pPr algn="l">
              <a:lnSpc>
                <a:spcPct val="108000"/>
              </a:lnSpc>
            </a:pPr>
            <a:r>
              <a:rPr sz="1350" b="0">
                <a:solidFill>
                  <a:srgbClr val="FFFFFF"/>
                </a:solidFill>
                <a:latin typeface="Arial"/>
              </a:rPr>
              <a:t>Homila harakatini sanash (kick counter) va tashrif eslatmalari</a:t>
            </a:r>
          </a:p>
        </p:txBody>
      </p:sp>
      <p:sp>
        <p:nvSpPr>
          <p:cNvPr id="27" name="Oval 26"/>
          <p:cNvSpPr/>
          <p:nvPr/>
        </p:nvSpPr>
        <p:spPr>
          <a:xfrm>
            <a:off x="6373368" y="5129784"/>
            <a:ext cx="118872" cy="118872"/>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47688" y="5047488"/>
            <a:ext cx="4937760" cy="411480"/>
          </a:xfrm>
          <a:prstGeom prst="rect">
            <a:avLst/>
          </a:prstGeom>
          <a:noFill/>
        </p:spPr>
        <p:txBody>
          <a:bodyPr wrap="square" lIns="0" rIns="0" tIns="0" bIns="0" anchor="t">
            <a:spAutoFit/>
          </a:bodyPr>
          <a:lstStyle/>
          <a:p>
            <a:pPr algn="l">
              <a:lnSpc>
                <a:spcPct val="108000"/>
              </a:lnSpc>
            </a:pPr>
            <a:r>
              <a:rPr sz="1350" b="0">
                <a:solidFill>
                  <a:srgbClr val="FFFFFF"/>
                </a:solidFill>
                <a:latin typeface="Arial"/>
              </a:rPr>
              <a:t>Yozma rozilik va ma’lumotlardan foydalanish shartlari</a:t>
            </a:r>
          </a:p>
        </p:txBody>
      </p:sp>
      <p:sp>
        <p:nvSpPr>
          <p:cNvPr id="29" name="Oval 28"/>
          <p:cNvSpPr/>
          <p:nvPr/>
        </p:nvSpPr>
        <p:spPr>
          <a:xfrm>
            <a:off x="6373368" y="5541264"/>
            <a:ext cx="118872" cy="118872"/>
          </a:xfrm>
          <a:prstGeom prst="ellipse">
            <a:avLst/>
          </a:prstGeom>
          <a:solidFill>
            <a:srgbClr val="E8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47688" y="5458968"/>
            <a:ext cx="4937760" cy="411480"/>
          </a:xfrm>
          <a:prstGeom prst="rect">
            <a:avLst/>
          </a:prstGeom>
          <a:noFill/>
        </p:spPr>
        <p:txBody>
          <a:bodyPr wrap="square" lIns="0" rIns="0" tIns="0" bIns="0" anchor="t">
            <a:spAutoFit/>
          </a:bodyPr>
          <a:lstStyle/>
          <a:p>
            <a:pPr algn="l">
              <a:lnSpc>
                <a:spcPct val="108000"/>
              </a:lnSpc>
            </a:pPr>
            <a:r>
              <a:rPr sz="1350" b="0">
                <a:solidFill>
                  <a:srgbClr val="FFFFFF"/>
                </a:solidFill>
                <a:latin typeface="Arial"/>
              </a:rPr>
              <a:t>Tug‘ruqdan keyingi davr va chaqaloq uchun so‘rovnomalar</a:t>
            </a:r>
          </a:p>
        </p:txBody>
      </p:sp>
      <p:sp>
        <p:nvSpPr>
          <p:cNvPr id="31" name="TextBox 30"/>
          <p:cNvSpPr txBox="1"/>
          <p:nvPr/>
        </p:nvSpPr>
        <p:spPr>
          <a:xfrm>
            <a:off x="640080" y="6035040"/>
            <a:ext cx="10972800" cy="365760"/>
          </a:xfrm>
          <a:prstGeom prst="rect">
            <a:avLst/>
          </a:prstGeom>
          <a:noFill/>
        </p:spPr>
        <p:txBody>
          <a:bodyPr wrap="square" lIns="0" rIns="0" tIns="0" bIns="0" anchor="t">
            <a:spAutoFit/>
          </a:bodyPr>
          <a:lstStyle/>
          <a:p>
            <a:pPr algn="l">
              <a:lnSpc>
                <a:spcPct val="108000"/>
              </a:lnSpc>
            </a:pPr>
            <a:r>
              <a:rPr sz="1300" b="0">
                <a:solidFill>
                  <a:srgbClr val="9DB7BB"/>
                </a:solidFill>
                <a:latin typeface="Arial"/>
              </a:rPr>
              <a:t>Anicenna jamoasi  ·  github.com/doniyorbek-boltayev/Ona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