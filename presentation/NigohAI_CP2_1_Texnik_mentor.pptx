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Salom. Biz Nigoh AI: homilador ayol har kuni 2 daqiqalik so‘rovnoma to‘ldiradi, xususiy klinika esa xavfli belgini bir necha soniyada ko‘radi. Bugun sizning 5 ta mezoningiz bo‘yicha birma-bir javob beramiz.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Avval mahsulot uch qadamda, keyin har bir mezon uchun bitta slayd. Oxirida jonli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Ona ilovasi javoblarni API’ga yuboradi. Avval qoidalar xavf darajasini hisoblaydi, keyin AI shu darajani ona tilida tushuntiradi. Natija bazaga yoziladi, klinika paneli uni 3 soniya ichida ko‘rsatadi. AI yoki internet ishlamasa, shablon javoblar bilan davom etadi.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Kod GitHub’da, README bo‘yicha bitta buyruq bilan ishga tushadi. Xavf qoidalari 13 ta avtomatik test bilan qoplangan. Kalitlar .env faylida, repozitoriyga tushmaydi.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Tibbiyotda AI’ga qaror bermaymiz. Xavf darajasini test qilingan qoidalar belgilaydi, AI uni pasaytira olmaydi. Ona chatda xavfli belgini yozsa, klinika avtomatik ogohlantiriladi. Javob bermay qo‘ygan bemor ham panelda ko‘rinadi.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slayd siz berishingiz mumkin bo‘lgan savollarga javoblarimiz. Chegaralar qayerdan olingani, AI qanday nazorat qilinishi va bugungi cheklovlarni ochiq aytamiz.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 bir texnologiya aniq sabab bilan tanlangan: tez ishga tushishi, arzonligi va bitta AI provayderga bog‘lanib qolmaslik. AI qatlami OpenAI va Anthropic’ni bir xil interfeys orqali qo‘llaydi.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Endi 2 daqiqalik jonli demo: telefonda so‘rovnoma, qon ketishi belgisi, klinika panelida qizil ogohlantirish va AI xulosasi. Keyin savollaringizga javob beramiz.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CHECKPOINT 2  ·  TEXNIK MENTOR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>
                <a:solidFill>
                  <a:srgbClr val="FFFFFF"/>
                </a:solidFill>
                <a:latin typeface="Arial"/>
              </a:rPr>
              <a:t>Nigoh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CFE3E6"/>
                </a:solidFill>
                <a:latin typeface="Arial"/>
              </a:rPr>
              <a:t>Homilador ayol uchun kunlik AI hamroh. Klinika uchun jonli kuzatuv paneli.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3484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E8846B"/>
                </a:solidFill>
                <a:latin typeface="Arial"/>
              </a:rPr>
              <a:t>Qoida qaror qiladi. </a:t>
            </a:r>
            <a:r>
              <a:rPr sz="2000" b="1">
                <a:solidFill>
                  <a:srgbClr val="FFFFFF"/>
                </a:solidFill>
                <a:latin typeface="Arial"/>
              </a:rPr>
              <a:t>AI tushuntiradi.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9DB7BB"/>
                </a:solidFill>
                <a:latin typeface="Arial"/>
              </a:rPr>
              <a:t>Anicenna jamoasi  ·  Tibbiyot treki  ·  19-sentabr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16168" y="1298448"/>
            <a:ext cx="5724144" cy="3184000"/>
          </a:xfrm>
          <a:prstGeom prst="roundRect">
            <a:avLst>
              <a:gd name="adj" fmla="val 3000"/>
            </a:avLst>
          </a:prstGeom>
          <a:solidFill>
            <a:srgbClr val="E3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371600"/>
            <a:ext cx="5577840" cy="30376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46177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9DB7BB"/>
                </a:solidFill>
                <a:latin typeface="Arial"/>
              </a:rPr>
              <a:t>Ishlayotgan mahsulot: chapda ona telefoni, o‘ngda klinika paneli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10 DAQIQALIK REJA  ·  TEXNIK MENTOR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E2A2E"/>
                </a:solidFill>
                <a:latin typeface="Arial"/>
              </a:rPr>
              <a:t>5 mezon, 5 ta aniq javob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5B6B71"/>
                </a:solidFill>
                <a:latin typeface="Arial"/>
              </a:rPr>
              <a:t>MAHSULOT QANDAY ISHLAYDI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237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E2A2E"/>
                </a:solidFill>
                <a:latin typeface="Arial"/>
              </a:rPr>
              <a:t>Ona 2 daqiqada javob beradi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89503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B6B71"/>
                </a:solidFill>
                <a:latin typeface="Arial"/>
              </a:rPr>
              <a:t>8–10 ta savol, o‘zbek tilida, katta tugmalar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703320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667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E2A2E"/>
                </a:solidFill>
                <a:latin typeface="Arial"/>
              </a:rPr>
              <a:t>Qoidalar xavfni aniqlaydi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3250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B6B71"/>
                </a:solidFill>
                <a:latin typeface="Arial"/>
              </a:rPr>
              <a:t>23 ta qoida: yashil / sariq / qizil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846320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097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E2A2E"/>
                </a:solidFill>
                <a:latin typeface="Arial"/>
              </a:rPr>
              <a:t>Klinika 3 soniyada ko‘radi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17550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B6B71"/>
                </a:solidFill>
                <a:latin typeface="Arial"/>
              </a:rPr>
              <a:t>Ogohlantirish, grafiklar, AI xulosasi</a:t>
            </a:r>
          </a:p>
        </p:txBody>
      </p:sp>
      <p:sp>
        <p:nvSpPr>
          <p:cNvPr id="18" name="Oval 17"/>
          <p:cNvSpPr/>
          <p:nvPr/>
        </p:nvSpPr>
        <p:spPr>
          <a:xfrm>
            <a:off x="5257800" y="1883664"/>
            <a:ext cx="566928" cy="566928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88366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8288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E2A2E"/>
                </a:solidFill>
                <a:latin typeface="Arial"/>
              </a:rPr>
              <a:t>Texnik amalga oshirish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176272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B71"/>
                </a:solidFill>
                <a:latin typeface="Arial"/>
              </a:rPr>
              <a:t>Boshidan oxirigacha ishlaydi: ilova → qoidalar → AI → klinika paneli</a:t>
            </a:r>
          </a:p>
        </p:txBody>
      </p:sp>
      <p:sp>
        <p:nvSpPr>
          <p:cNvPr id="22" name="Oval 21"/>
          <p:cNvSpPr/>
          <p:nvPr/>
        </p:nvSpPr>
        <p:spPr>
          <a:xfrm>
            <a:off x="5257800" y="2743200"/>
            <a:ext cx="566928" cy="566928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743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68833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E2A2E"/>
                </a:solidFill>
                <a:latin typeface="Arial"/>
              </a:rPr>
              <a:t>Kod tayyorligi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03580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B71"/>
                </a:solidFill>
                <a:latin typeface="Arial"/>
              </a:rPr>
              <a:t>13 avtomatik test, 18 API endpoint, bitta buyruq bilan ishga tushadi, GitHub’da</a:t>
            </a:r>
          </a:p>
        </p:txBody>
      </p:sp>
      <p:sp>
        <p:nvSpPr>
          <p:cNvPr id="26" name="Oval 25"/>
          <p:cNvSpPr/>
          <p:nvPr/>
        </p:nvSpPr>
        <p:spPr>
          <a:xfrm>
            <a:off x="5257800" y="3602736"/>
            <a:ext cx="566928" cy="566928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360273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54787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E2A2E"/>
                </a:solidFill>
                <a:latin typeface="Arial"/>
              </a:rPr>
              <a:t>Yechimning innovatsionligi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895344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B71"/>
                </a:solidFill>
                <a:latin typeface="Arial"/>
              </a:rPr>
              <a:t>Xavfni AI emas, qoida belgilaydi; chatdagi xavfli belgi klinikaga yetadi</a:t>
            </a:r>
          </a:p>
        </p:txBody>
      </p:sp>
      <p:sp>
        <p:nvSpPr>
          <p:cNvPr id="30" name="Oval 29"/>
          <p:cNvSpPr/>
          <p:nvPr/>
        </p:nvSpPr>
        <p:spPr>
          <a:xfrm>
            <a:off x="5257800" y="4462272"/>
            <a:ext cx="566928" cy="566928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446227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40740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E2A2E"/>
                </a:solidFill>
                <a:latin typeface="Arial"/>
              </a:rPr>
              <a:t>Jamoaning bilim darajasi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75488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B71"/>
                </a:solidFill>
                <a:latin typeface="Arial"/>
              </a:rPr>
              <a:t>Har bir chegara, prompt va cheklovni tushuntirib bera olamiz</a:t>
            </a:r>
          </a:p>
        </p:txBody>
      </p:sp>
      <p:sp>
        <p:nvSpPr>
          <p:cNvPr id="34" name="Oval 33"/>
          <p:cNvSpPr/>
          <p:nvPr/>
        </p:nvSpPr>
        <p:spPr>
          <a:xfrm>
            <a:off x="5257800" y="5321807"/>
            <a:ext cx="566928" cy="566928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5321807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26694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E2A2E"/>
                </a:solidFill>
                <a:latin typeface="Arial"/>
              </a:rPr>
              <a:t>Texnologiyalar to‘plami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5614416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B71"/>
                </a:solidFill>
                <a:latin typeface="Arial"/>
              </a:rPr>
              <a:t>Python + SQLite + PWA + gpt-5-mini: yengil, arzon, provayderga bog‘lanmagan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Texnik mentor  ·  19-sentabr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MEZON 1 / 5  ·  TEXNIK AMALGA OSHIRISH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E2A2E"/>
                </a:solidFill>
                <a:latin typeface="Arial"/>
              </a:rPr>
              <a:t>Boshidan oxirigacha ishlaydigan tizim, maket 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Texnik mentor  ·  19-sentabr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920240" cy="1325880"/>
          </a:xfrm>
          <a:prstGeom prst="roundRect">
            <a:avLst>
              <a:gd name="adj" fmla="val 8000"/>
            </a:avLst>
          </a:prstGeom>
          <a:solidFill>
            <a:srgbClr val="D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48256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E2A2E"/>
                </a:solidFill>
                <a:latin typeface="Arial"/>
              </a:rPr>
              <a:t>Ona ilovasi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50592"/>
            <a:ext cx="17007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Mobil PWA</a:t>
            </a:r>
          </a:p>
          <a:p>
            <a:pPr algn="ctr">
              <a:lnSpc>
                <a:spcPct val="108000"/>
              </a:lnSpc>
              <a:spcBef>
                <a:spcPts val="480"/>
              </a:spcBef>
            </a:pPr>
            <a:r>
              <a:rPr sz="1200" b="0">
                <a:solidFill>
                  <a:srgbClr val="5B6B71"/>
                </a:solidFill>
                <a:latin typeface="Arial"/>
              </a:rPr>
              <a:t>uz / ru / 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96896" y="2487168"/>
            <a:ext cx="292608" cy="219456"/>
          </a:xfrm>
          <a:prstGeom prst="rightArrow">
            <a:avLst/>
          </a:prstGeom>
          <a:solidFill>
            <a:srgbClr val="5B6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920240"/>
            <a:ext cx="1920240" cy="1325880"/>
          </a:xfrm>
          <a:prstGeom prst="roundRect">
            <a:avLst>
              <a:gd name="adj" fmla="val 8000"/>
            </a:avLst>
          </a:prstGeom>
          <a:solidFill>
            <a:srgbClr val="D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048256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E2A2E"/>
                </a:solidFill>
                <a:latin typeface="Arial"/>
              </a:rPr>
              <a:t>API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450592"/>
            <a:ext cx="17007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18 ta endpoint</a:t>
            </a:r>
          </a:p>
          <a:p>
            <a:pPr algn="ctr">
              <a:lnSpc>
                <a:spcPct val="108000"/>
              </a:lnSpc>
              <a:spcBef>
                <a:spcPts val="480"/>
              </a:spcBef>
            </a:pPr>
            <a:r>
              <a:rPr sz="1200" b="0">
                <a:solidFill>
                  <a:srgbClr val="5B6B71"/>
                </a:solidFill>
                <a:latin typeface="Arial"/>
              </a:rPr>
              <a:t>JSON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82896" y="2487168"/>
            <a:ext cx="292608" cy="219456"/>
          </a:xfrm>
          <a:prstGeom prst="rightArrow">
            <a:avLst/>
          </a:prstGeom>
          <a:solidFill>
            <a:srgbClr val="5B6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920240"/>
            <a:ext cx="1920240" cy="1325880"/>
          </a:xfrm>
          <a:prstGeom prst="roundRect">
            <a:avLst>
              <a:gd name="adj" fmla="val 8000"/>
            </a:avLst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2048256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Xavf qoidalari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450592"/>
            <a:ext cx="17007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23 ta qoida</a:t>
            </a:r>
          </a:p>
          <a:p>
            <a:pPr algn="ctr">
              <a:lnSpc>
                <a:spcPct val="108000"/>
              </a:lnSpc>
              <a:spcBef>
                <a:spcPts val="48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13 ta test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68896" y="2487168"/>
            <a:ext cx="292608" cy="219456"/>
          </a:xfrm>
          <a:prstGeom prst="rightArrow">
            <a:avLst/>
          </a:prstGeom>
          <a:solidFill>
            <a:srgbClr val="5B6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79" y="1920240"/>
            <a:ext cx="1920240" cy="1325880"/>
          </a:xfrm>
          <a:prstGeom prst="roundRect">
            <a:avLst>
              <a:gd name="adj" fmla="val 8000"/>
            </a:avLst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7" y="2048256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AI qatlami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7" y="2450592"/>
            <a:ext cx="17007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gpt-5-mini</a:t>
            </a:r>
          </a:p>
          <a:p>
            <a:pPr algn="ctr">
              <a:lnSpc>
                <a:spcPct val="108000"/>
              </a:lnSpc>
              <a:spcBef>
                <a:spcPts val="48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structured outputs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54896" y="2487168"/>
            <a:ext cx="292608" cy="219456"/>
          </a:xfrm>
          <a:prstGeom prst="rightArrow">
            <a:avLst/>
          </a:prstGeom>
          <a:solidFill>
            <a:srgbClr val="5B6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0" y="1920240"/>
            <a:ext cx="1920240" cy="1325880"/>
          </a:xfrm>
          <a:prstGeom prst="roundRect">
            <a:avLst>
              <a:gd name="adj" fmla="val 8000"/>
            </a:avLst>
          </a:prstGeom>
          <a:solidFill>
            <a:srgbClr val="D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7" y="2048256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E2A2E"/>
                </a:solidFill>
                <a:latin typeface="Arial"/>
              </a:rPr>
              <a:t>Klinika paneli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7" y="2450592"/>
            <a:ext cx="17007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jonli ogohlantirish</a:t>
            </a:r>
          </a:p>
          <a:p>
            <a:pPr algn="ctr">
              <a:lnSpc>
                <a:spcPct val="108000"/>
              </a:lnSpc>
              <a:spcBef>
                <a:spcPts val="480"/>
              </a:spcBef>
            </a:pPr>
            <a:r>
              <a:rPr sz="1200" b="0">
                <a:solidFill>
                  <a:srgbClr val="5B6B71"/>
                </a:solidFill>
                <a:latin typeface="Arial"/>
              </a:rPr>
              <a:t>≤ 3 soniya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576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822191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A4F59"/>
                </a:solidFill>
                <a:latin typeface="Arial"/>
              </a:rPr>
              <a:t>3 ta AI funksiya jonli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233672"/>
            <a:ext cx="215798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2A2E"/>
                </a:solidFill>
                <a:latin typeface="Arial"/>
              </a:rPr>
              <a:t>Onaga shaxsiy xabar, shifokor uchun 14 kunlik xulosa, chat va klinikaga eskalatsiya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36576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0168" y="3822191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A4F59"/>
                </a:solidFill>
                <a:latin typeface="Arial"/>
              </a:rPr>
              <a:t>Xavfsizlik to‘ri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4233672"/>
            <a:ext cx="215798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2A2E"/>
                </a:solidFill>
                <a:latin typeface="Arial"/>
              </a:rPr>
              <a:t>Qon ketishi, bosim ≥160/110, harakat yo‘qligi qoida bilan ushlanadi, AI’ga bog‘liq emas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6576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822191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A4F59"/>
                </a:solidFill>
                <a:latin typeface="Arial"/>
              </a:rPr>
              <a:t>Oflayn ham ishlaydi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233672"/>
            <a:ext cx="215798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2A2E"/>
                </a:solidFill>
                <a:latin typeface="Arial"/>
              </a:rPr>
              <a:t>AI yoki internet uzilsa, har bir funksiya qoidaga asoslangan shablonga o‘tadi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39" y="36576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8007" y="3822191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A4F59"/>
                </a:solidFill>
                <a:latin typeface="Arial"/>
              </a:rPr>
              <a:t>To‘liq klinika oqimi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7" y="4233672"/>
            <a:ext cx="215798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2A2E"/>
                </a:solidFill>
                <a:latin typeface="Arial"/>
              </a:rPr>
              <a:t>Login, bemorni ro‘yxatga olish, QR taklif, qidiruv va filtrlar, xabarlashuv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MEZON 2 / 5  ·  KOD TAYYORLIGI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E2A2E"/>
                </a:solidFill>
                <a:latin typeface="Arial"/>
              </a:rPr>
              <a:t>Klon qiling, bitta buyruq bering: ishlaydi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Texnik mentor  ·  19-sentabr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avtomatik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FE3E6"/>
                </a:solidFill>
                <a:latin typeface="Arial"/>
              </a:rPr>
              <a:t>xavf qoidalari uchun, hammasi o‘tadi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1E2A2E"/>
                </a:solidFill>
                <a:latin typeface="Arial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API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har biri skript va brauzerda tekshirilgan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1E2A2E"/>
                </a:solidFill>
                <a:latin typeface="Arial"/>
              </a:rPr>
              <a:t>~3 100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qator kod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Python, JavaScript, CSS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7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1E2A2E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7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buyruq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7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python server.py: baza va demo ma’lumot o‘zi yaratiladi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A4F59"/>
                </a:solidFill>
                <a:latin typeface="Arial"/>
              </a:rPr>
              <a:t>Repozitoriyda nima bor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4361688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279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README: o‘rnatish va 3 daqiqalik demo ssenariysi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4727448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64515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requirements.txt va .env.example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" y="5093207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0109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seed.py --reset: toza demo ma’lumotlar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" y="5458968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3766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CLAUDE.md: spetsifikatsiya va 12 bosqichli reja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" y="5824727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742431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Modullar: triage / ai / db / server alohida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840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A4F59"/>
                </a:solidFill>
                <a:latin typeface="Arial"/>
              </a:rPr>
              <a:t>Xavfsizlik va ishonchlilik</a:t>
            </a:r>
          </a:p>
        </p:txBody>
      </p:sp>
      <p:sp>
        <p:nvSpPr>
          <p:cNvPr id="35" name="Oval 34"/>
          <p:cNvSpPr/>
          <p:nvPr/>
        </p:nvSpPr>
        <p:spPr>
          <a:xfrm>
            <a:off x="6236208" y="4361688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42793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Parollar: PBKDF2-SHA256, 200 000 iteratsiya</a:t>
            </a:r>
          </a:p>
        </p:txBody>
      </p:sp>
      <p:sp>
        <p:nvSpPr>
          <p:cNvPr id="37" name="Oval 36"/>
          <p:cNvSpPr/>
          <p:nvPr/>
        </p:nvSpPr>
        <p:spPr>
          <a:xfrm>
            <a:off x="6236208" y="4727448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6451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Sessiya: HttpOnly cookie; panel API’lari sessiyasiz 401</a:t>
            </a:r>
          </a:p>
        </p:txBody>
      </p:sp>
      <p:sp>
        <p:nvSpPr>
          <p:cNvPr id="39" name="Oval 38"/>
          <p:cNvSpPr/>
          <p:nvPr/>
        </p:nvSpPr>
        <p:spPr>
          <a:xfrm>
            <a:off x="6236208" y="5093207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50109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Ona havolasi: taxmin qilib bo‘lmaydigan maxfiy token</a:t>
            </a:r>
          </a:p>
        </p:txBody>
      </p:sp>
      <p:sp>
        <p:nvSpPr>
          <p:cNvPr id="41" name="Oval 40"/>
          <p:cNvSpPr/>
          <p:nvPr/>
        </p:nvSpPr>
        <p:spPr>
          <a:xfrm>
            <a:off x="6236208" y="5458968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53766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API kalit faqat .env da, .gitignore ichida</a:t>
            </a:r>
          </a:p>
        </p:txBody>
      </p:sp>
      <p:sp>
        <p:nvSpPr>
          <p:cNvPr id="43" name="Oval 42"/>
          <p:cNvSpPr/>
          <p:nvPr/>
        </p:nvSpPr>
        <p:spPr>
          <a:xfrm>
            <a:off x="6236208" y="5824727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574243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AI chaqiruvi: 45 s timeout, xatoda shablon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1000" y="502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502920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github.com/doniyorbek-boltayev/Ona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MEZON 3 / 5  ·  YECHIMNING INNOVATSIONLIGI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E2A2E"/>
                </a:solidFill>
                <a:latin typeface="Arial"/>
              </a:rPr>
              <a:t>Qoida qaror qiladi, AI tushuntiradi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Texnik mentor  ·  19-sentabr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27080" cy="457200"/>
          </a:xfrm>
          <a:prstGeom prst="roundRect">
            <a:avLst>
              <a:gd name="adj" fmla="val 15000"/>
            </a:avLst>
          </a:prstGeom>
          <a:solidFill>
            <a:srgbClr val="1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828800"/>
            <a:ext cx="35661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Oddiy AI sog‘liq chatboti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8288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Nigoh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95728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2834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Xavf darajasini kim belgilaydi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395728"/>
            <a:ext cx="35661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Til modeli: xato qilishi mumkin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395728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E2A2E"/>
                </a:solidFill>
                <a:latin typeface="Arial"/>
              </a:rPr>
              <a:t>JSST belgilari asosidagi 23 qoida, 13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99232"/>
            <a:ext cx="2834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Chatda xavfli belgi aytilsa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999232"/>
            <a:ext cx="35661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Javob beradi, xolos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999232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E2A2E"/>
                </a:solidFill>
                <a:latin typeface="Arial"/>
              </a:rPr>
              <a:t>Klinikaga avtomatik ogohlantirish ketadi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02736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02736"/>
            <a:ext cx="2834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Bemor javob bermay qo‘ysa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602736"/>
            <a:ext cx="35661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Hech kim bilmaydi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602736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E2A2E"/>
                </a:solidFill>
                <a:latin typeface="Arial"/>
              </a:rPr>
              <a:t>3 kundan keyin «javobsiz» belgisi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06240"/>
            <a:ext cx="2834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Internet yoki AI uzilsa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206240"/>
            <a:ext cx="35661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Xizmat to‘xtaydi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206240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E2A2E"/>
                </a:solidFill>
                <a:latin typeface="Arial"/>
              </a:rPr>
              <a:t>Shablon rejimida ishlashda davom etadi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09744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09744"/>
            <a:ext cx="2834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Vaqt bo‘yicha tahlil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4809744"/>
            <a:ext cx="35661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Bir martalik savol-javob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809744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E2A2E"/>
                </a:solidFill>
                <a:latin typeface="Arial"/>
              </a:rPr>
              <a:t>3 kunlik ketma-ketlik, haftalik vazn, 14 kunlik AI xulosa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13248"/>
            <a:ext cx="2834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Shaffoflik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5413248"/>
            <a:ext cx="35661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Qora quti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5413248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E2A2E"/>
                </a:solidFill>
                <a:latin typeface="Arial"/>
              </a:rPr>
              <a:t>«Klinik asos» sahifasi: har bir qoida, sharti va manbasi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MEZON 4 / 5  ·  JAMOANING BILIM DARAJASI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E2A2E"/>
                </a:solidFill>
                <a:latin typeface="Arial"/>
              </a:rPr>
              <a:t>Har bir qarorni tushuntirib bera olamiz, cheklovlarni ham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Texnik mentor  ·  19-sentabr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89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A4F59"/>
                </a:solidFill>
                <a:latin typeface="Arial"/>
              </a:rPr>
              <a:t>Nega xavfni AI emas, qoida belgilaydi?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97480"/>
            <a:ext cx="308762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E2A2E"/>
                </a:solidFill>
                <a:latin typeface="Arial"/>
              </a:rPr>
              <a:t>Tibbiyotda xato narxi yuqori. Qoidani test qilish va shifokor bilan tekshirish mumkin. AI faqat tushuntiradi.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1874519"/>
            <a:ext cx="3489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9808" y="2039112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A4F59"/>
                </a:solidFill>
                <a:latin typeface="Arial"/>
              </a:rPr>
              <a:t>Chegaralar qayerdan olingan?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808" y="2697480"/>
            <a:ext cx="308762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E2A2E"/>
                </a:solidFill>
                <a:latin typeface="Arial"/>
              </a:rPr>
              <a:t>JSST xavf belgilari; bosim ≥140/90 sariq, ≥160/110 qizil (ISSHP/ACOG); harakat 24-haftadan; to‘lg‘oq 37-haftagacha qizil.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199" y="1874519"/>
            <a:ext cx="3489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8367" y="2039112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A4F59"/>
                </a:solidFill>
                <a:latin typeface="Arial"/>
              </a:rPr>
              <a:t>AI javobi qanday nazorat qilinadi?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8367" y="2697480"/>
            <a:ext cx="308762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E2A2E"/>
                </a:solidFill>
                <a:latin typeface="Arial"/>
              </a:rPr>
              <a:t>Structured outputs (JSON schema). Prompt: tashxis yo‘q, dori yo‘q. Rad javobi va uzilish tekshiriladi, xatoda shablon.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87368"/>
            <a:ext cx="3489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251960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A4F59"/>
                </a:solidFill>
                <a:latin typeface="Arial"/>
              </a:rPr>
              <a:t>AI’ga qanday ma’lumot ketadi?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910328"/>
            <a:ext cx="308762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E2A2E"/>
                </a:solidFill>
                <a:latin typeface="Arial"/>
              </a:rPr>
              <a:t>Ism (familiyasiz), yosh, hafta, javoblar. Telefon, familiya, manzil yuborilmaydi. Keyingi qadam: ismni ham olib tashlash.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8640" y="4087368"/>
            <a:ext cx="3489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9808" y="4251960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A4F59"/>
                </a:solidFill>
                <a:latin typeface="Arial"/>
              </a:rPr>
              <a:t>Ma’lumotlar qanday himoyalangan?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9808" y="4910328"/>
            <a:ext cx="308762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E2A2E"/>
                </a:solidFill>
                <a:latin typeface="Arial"/>
              </a:rPr>
              <a:t>PBKDF2 parollar, HttpOnly sessiya, maxfiy taklif tokeni, kalitlar .env da. Demo ma’lumotlari sintetik.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199" y="4087368"/>
            <a:ext cx="3489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8367" y="4251960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A4F59"/>
                </a:solidFill>
                <a:latin typeface="Arial"/>
              </a:rPr>
              <a:t>Bugungi cheklovlar nimalar?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8367" y="4910328"/>
            <a:ext cx="308762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E2A2E"/>
                </a:solidFill>
                <a:latin typeface="Arial"/>
              </a:rPr>
              <a:t>Chegaralar mahalliy akusher-ginekolog bilan tasdiqlanmagan. gpt-5-mini o‘zbekchasi ba’zan noaniq. Tibbiy qurilma emas.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MEZON 5 / 5  ·  TEXNOLOGIYALAR TO‘PLAMI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E2A2E"/>
                </a:solidFill>
                <a:latin typeface="Arial"/>
              </a:rPr>
              <a:t>Yengil, arzon va provayderga bog‘lanmagan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Texnik mentor  ·  19-sentabr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27080" cy="457200"/>
          </a:xfrm>
          <a:prstGeom prst="roundRect">
            <a:avLst>
              <a:gd name="adj" fmla="val 15000"/>
            </a:avLst>
          </a:prstGeom>
          <a:solidFill>
            <a:srgbClr val="1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Qatlam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82880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Texnologiya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Nega aynan shu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95728"/>
            <a:ext cx="10927080" cy="512064"/>
          </a:xfrm>
          <a:prstGeom prst="roundRect">
            <a:avLst>
              <a:gd name="adj" fmla="val 12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Mobil ilova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395728"/>
            <a:ext cx="33832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HTML, CSS, JavaScript (PWA)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395728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Har qanday telefonda brauzerdan ochiladi, do‘kondan o‘rnatish shart emas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4436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944368"/>
            <a:ext cx="33832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Python 3.9, standart kutubxona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944368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Freymvorksiz: bitta buyruq, har qanday noutbukda ishlaydi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93008"/>
            <a:ext cx="10927080" cy="512064"/>
          </a:xfrm>
          <a:prstGeom prst="roundRect">
            <a:avLst>
              <a:gd name="adj" fmla="val 12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9300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Ma’lumotlar bazasi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493008"/>
            <a:ext cx="33832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493008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Sozlash kerak emas; sxema PostgreSQL ga oson ko‘chadi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4164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Sun’iy intellekt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041648"/>
            <a:ext cx="33832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OpenAI gpt-5-mini, rasmiy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041648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Tez (3–13 s) va arzon; Anthropic Claude zaxira provayder sifatida tayyor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90288"/>
            <a:ext cx="10927080" cy="512064"/>
          </a:xfrm>
          <a:prstGeom prst="roundRect">
            <a:avLst>
              <a:gd name="adj" fmla="val 12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59028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Xavf dvigateli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590288"/>
            <a:ext cx="33832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Sof Python qoidalari + unittest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590288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Shaffof, tekshiriladigan, AI’dan mustaqil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13892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Grafiklar va QR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5138928"/>
            <a:ext cx="33832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Inline SVG; segno (QR)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138928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Tashqi JS kutubxonasiz; 140/90 chegarasi chizig‘i bilan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687568"/>
            <a:ext cx="10927080" cy="512064"/>
          </a:xfrm>
          <a:prstGeom prst="roundRect">
            <a:avLst>
              <a:gd name="adj" fmla="val 12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8756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A4F59"/>
                </a:solidFill>
                <a:latin typeface="Arial"/>
              </a:rPr>
              <a:t>Xavfsizlik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5687568"/>
            <a:ext cx="33832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PBKDF2-SHA256, HttpOnly cookie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687568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B71"/>
                </a:solidFill>
                <a:latin typeface="Arial"/>
              </a:rPr>
              <a:t>Standart kutubxona vositalari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E8846B"/>
                </a:solidFill>
                <a:latin typeface="Arial"/>
              </a:rPr>
              <a:t>JONLI DEMO  ·  2 DAQIQA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Gapirib bermaymiz, ko‘rsatamiz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745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Klinika: yangi bemor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2199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DB7BB"/>
                </a:solidFill>
                <a:latin typeface="Arial"/>
              </a:rPr>
              <a:t>Ro‘yxatga olish, QR kod. Ona telefonida skanerlaydi, o‘rnatish shart emas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52928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529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80720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Telefon: so‘rovnoma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5468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DB7BB"/>
                </a:solidFill>
                <a:latin typeface="Arial"/>
              </a:rPr>
              <a:t>«Qon ketishi» belgilanadi, izoh yoziladi. Qizil natija va qo‘ng‘iroq tugmasi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785616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8561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3989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Klinika: ≤ 3 soniya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8736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DB7BB"/>
                </a:solidFill>
                <a:latin typeface="Arial"/>
              </a:rPr>
              <a:t>Qizil ogohlantirish izoh bilan; qabul qilish va onaga javob yozish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718304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1830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7258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AI xulosasi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020056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DB7BB"/>
                </a:solidFill>
                <a:latin typeface="Arial"/>
              </a:rPr>
              <a:t>Gulnora: bosim 125/79 → 152/98, preeklampsiya xavfi, tavsiya etilgan choralar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658368"/>
            <a:ext cx="5221224" cy="2910110"/>
          </a:xfrm>
          <a:prstGeom prst="roundRect">
            <a:avLst>
              <a:gd name="adj" fmla="val 3000"/>
            </a:avLst>
          </a:prstGeom>
          <a:solidFill>
            <a:srgbClr val="E3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ati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731520"/>
            <a:ext cx="5074920" cy="276380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5080" y="379476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E8846B"/>
                </a:solidFill>
                <a:latin typeface="Arial"/>
              </a:rPr>
              <a:t>KEYINGI QADAMLAR</a:t>
            </a:r>
          </a:p>
        </p:txBody>
      </p:sp>
      <p:sp>
        <p:nvSpPr>
          <p:cNvPr id="23" name="Oval 22"/>
          <p:cNvSpPr/>
          <p:nvPr/>
        </p:nvSpPr>
        <p:spPr>
          <a:xfrm>
            <a:off x="6373368" y="4306824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42245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Telegram orqali kunlik eslatmalar va shifokorga ogohlantirish</a:t>
            </a:r>
          </a:p>
        </p:txBody>
      </p:sp>
      <p:sp>
        <p:nvSpPr>
          <p:cNvPr id="25" name="Oval 24"/>
          <p:cNvSpPr/>
          <p:nvPr/>
        </p:nvSpPr>
        <p:spPr>
          <a:xfrm>
            <a:off x="6373368" y="4718304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63600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Ona uchun telefon raqami + SMS-kod bilan kirish</a:t>
            </a:r>
          </a:p>
        </p:txBody>
      </p:sp>
      <p:sp>
        <p:nvSpPr>
          <p:cNvPr id="27" name="Oval 26"/>
          <p:cNvSpPr/>
          <p:nvPr/>
        </p:nvSpPr>
        <p:spPr>
          <a:xfrm>
            <a:off x="6373368" y="5129784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04748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AI’ga ismsiz (psevdonim) ma’lumot; lokal ochiq model varianti</a:t>
            </a:r>
          </a:p>
        </p:txBody>
      </p:sp>
      <p:sp>
        <p:nvSpPr>
          <p:cNvPr id="29" name="Oval 28"/>
          <p:cNvSpPr/>
          <p:nvPr/>
        </p:nvSpPr>
        <p:spPr>
          <a:xfrm>
            <a:off x="6373368" y="5541264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7688" y="54589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API va autentifikatsiya uchun avtotestlar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9DB7BB"/>
                </a:solidFill>
                <a:latin typeface="Arial"/>
              </a:rPr>
              <a:t>Anicenna jamoasi  ·  github.com/doniyorbek-boltayev/Ona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